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Solved</c:v>
                </c:pt>
              </c:strCache>
            </c:strRef>
          </c:tx>
          <c:spPr>
            <a:solidFill>
              <a:schemeClr val="accent1"/>
            </a:solidFill>
            <a:ln w="9525" cap="flat">
              <a:solidFill>
                <a:srgbClr val="F9F9F9"/>
              </a:solidFill>
              <a:prstDash val="solid"/>
              <a:round/>
            </a:ln>
            <a:effectLst/>
          </c:spPr>
          <c:dPt>
            <c:idx val="0"/>
            <c:bubble3D val="0"/>
            <c:spPr>
              <a:solidFill>
                <a:srgbClr val="22C55E"/>
              </a:solidFill>
              <a:effectLst/>
            </c:spPr>
          </c:dPt>
          <c:dPt>
            <c:idx val="1"/>
            <c:bubble3D val="0"/>
            <c:spPr>
              <a:solidFill>
                <a:srgbClr val="F59E0B"/>
              </a:solidFill>
              <a:effectLst/>
            </c:spPr>
          </c:dPt>
          <c:dPt>
            <c:idx val="2"/>
            <c:bubble3D val="0"/>
            <c:spPr>
              <a:solidFill>
                <a:srgbClr val="EF4444"/>
              </a:solidFill>
              <a:effectLst/>
            </c:spPr>
          </c:dPt>
          <c:dLbls>
            <c:dLbl>
              <c:idx val="0"/>
              <c:numFmt formatCode="General" sourceLinked="0"/>
              <c:spPr/>
              <c:txPr>
                <a:bodyPr/>
                <a:lstStyle/>
                <a:p>
                  <a:pPr>
                    <a:defRPr sz="1000" b="0" i="0" u="none" strike="noStrike">
                      <a:solidFill>
                        <a:srgbClr val="1E1B3A"/>
                      </a:solidFill>
                      <a:latin typeface="Calibri"/>
                    </a:defRPr>
                  </a:pPr>
                </a:p>
              </c:txPr>
              <c:showLegendKey val="0"/>
              <c:showVal val="1"/>
              <c:showCatName val="0"/>
              <c:showSerName val="0"/>
              <c:showPercent val="0"/>
              <c:showBubbleSize val="0"/>
            </c:dLbl>
            <c:dLbl>
              <c:idx val="1"/>
              <c:numFmt formatCode="General" sourceLinked="0"/>
              <c:spPr/>
              <c:txPr>
                <a:bodyPr/>
                <a:lstStyle/>
                <a:p>
                  <a:pPr>
                    <a:defRPr sz="1000" b="0" i="0" u="none" strike="noStrike">
                      <a:solidFill>
                        <a:srgbClr val="1E1B3A"/>
                      </a:solidFill>
                      <a:latin typeface="Calibri"/>
                    </a:defRPr>
                  </a:pPr>
                </a:p>
              </c:txPr>
              <c:showLegendKey val="0"/>
              <c:showVal val="1"/>
              <c:showCatName val="0"/>
              <c:showSerName val="0"/>
              <c:showPercent val="0"/>
              <c:showBubbleSize val="0"/>
            </c:dLbl>
            <c:dLbl>
              <c:idx val="2"/>
              <c:numFmt formatCode="General" sourceLinked="0"/>
              <c:spPr/>
              <c:txPr>
                <a:bodyPr/>
                <a:lstStyle/>
                <a:p>
                  <a:pPr>
                    <a:defRPr sz="1000" b="0" i="0" u="none" strike="noStrike">
                      <a:solidFill>
                        <a:srgbClr val="1E1B3A"/>
                      </a:solidFill>
                      <a:latin typeface="Calibri"/>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Easy</c:v>
                </c:pt>
                <c:pt idx="1">
                  <c:v>Medium</c:v>
                </c:pt>
                <c:pt idx="2">
                  <c:v>Hard</c:v>
                </c:pt>
              </c:strCache>
            </c:strRef>
          </c:cat>
          <c:val>
            <c:numRef>
              <c:f>Sheet1!$B$2:$B$4</c:f>
              <c:numCache>
                <c:ptCount val="3"/>
                <c:pt idx="0">
                  <c:v>120</c:v>
                </c:pt>
                <c:pt idx="1">
                  <c:v>85</c:v>
                </c:pt>
                <c:pt idx="2">
                  <c:v>18</c:v>
                </c:pt>
              </c:numCache>
            </c:numRef>
          </c:val>
        </c:ser>
        <c:firstSliceAng val="0"/>
        <c:holeSize val="55"/>
      </c:doughnutChart>
      <c:spPr>
        <a:noFill/>
        <a:ln>
          <a:noFill/>
        </a:ln>
        <a:effectLst/>
      </c:spPr>
    </c:plotArea>
    <c:legend>
      <c:legendPos val="b"/>
      <c:overlay val="0"/>
      <c:txPr>
        <a:bodyPr/>
        <a:lstStyle/>
        <a:p>
          <a:pPr>
            <a:defRPr sz="1000">
              <a:solidFill>
                <a:srgbClr val="5B5A7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7C3AED"/>
            </a:solidFill>
            <a:effectLst/>
          </c:spPr>
          <c:invertIfNegative val="0"/>
          <c:dLbls>
            <c:numFmt formatCode="#,##0" sourceLinked="0"/>
            <c:txPr>
              <a:bodyPr/>
              <a:lstStyle/>
              <a:p>
                <a:pPr>
                  <a:defRPr b="0" i="0" strike="noStrike" sz="1000" u="none">
                    <a:solidFill>
                      <a:srgbClr val="1E1B3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Keyword match</c:v>
                  </c:pt>
                  <c:pt idx="1">
                    <c:v>Formatting</c:v>
                  </c:pt>
                  <c:pt idx="2">
                    <c:v>Achievements</c:v>
                  </c:pt>
                  <c:pt idx="3">
                    <c:v>Action verbs</c:v>
                  </c:pt>
                  <c:pt idx="4">
                    <c:v>Section completeness</c:v>
                  </c:pt>
                </c:lvl>
              </c:multiLvlStrCache>
            </c:multiLvlStrRef>
          </c:cat>
          <c:val>
            <c:numRef>
              <c:f>Sheet1!$B$2:$B$6</c:f>
              <c:numCache>
                <c:formatCode>General</c:formatCode>
                <c:ptCount val="5"/>
                <c:pt idx="0">
                  <c:v>82</c:v>
                </c:pt>
                <c:pt idx="1">
                  <c:v>70</c:v>
                </c:pt>
                <c:pt idx="2">
                  <c:v>65</c:v>
                </c:pt>
                <c:pt idx="3">
                  <c:v>74</c:v>
                </c:pt>
                <c:pt idx="4">
                  <c:v>90</c:v>
                </c:pt>
              </c:numCache>
            </c:numRef>
          </c:val>
        </c:ser>
        <c:dLbls>
          <c:numFmt formatCode="#,##0" sourceLinked="0"/>
          <c:txPr>
            <a:bodyPr/>
            <a:lstStyle/>
            <a:p>
              <a:pPr>
                <a:defRPr b="0" i="0" strike="noStrike" sz="1000" u="none">
                  <a:solidFill>
                    <a:srgbClr val="1E1B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E1B3A"/>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4E1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5A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Readiness</c:v>
                </c:pt>
              </c:strCache>
            </c:strRef>
          </c:tx>
          <c:spPr>
            <a:solidFill>
              <a:srgbClr val="0284C7"/>
            </a:solidFill>
            <a:ln w="31750" cap="flat">
              <a:solidFill>
                <a:srgbClr val="0284C7"/>
              </a:solidFill>
              <a:prstDash val="solid"/>
              <a:round/>
            </a:ln>
            <a:effectLst/>
          </c:spPr>
          <c:invertIfNegative val="0"/>
          <c:dLbls>
            <c:numFmt formatCode="#,##0" sourceLinked="0"/>
            <c:txPr>
              <a:bodyPr/>
              <a:lstStyle/>
              <a:p>
                <a:pPr>
                  <a:defRPr b="0" i="0" strike="noStrike" sz="900" u="none">
                    <a:solidFill>
                      <a:srgbClr val="1E1B3A"/>
                    </a:solidFill>
                    <a:latin typeface="Calibri"/>
                  </a:defRPr>
                </a:pPr>
              </a:p>
            </c:txPr>
            <c:dLblPos val="t"/>
            <c:showLegendKey val="0"/>
            <c:showVal val="1"/>
            <c:showCatName val="0"/>
            <c:showSerName val="0"/>
            <c:showPercent val="0"/>
            <c:showBubbleSize val="0"/>
            <c:showLeaderLines val="0"/>
          </c:dLbls>
          <c:marker>
            <c:symbol val="circle"/>
            <c:size val="7"/>
            <c:spPr>
              <a:solidFill>
                <a:srgbClr val="0284C7"/>
              </a:solidFill>
              <a:ln w="9525" cap="flat">
                <a:solidFill>
                  <a:srgbClr val="0284C7"/>
                </a:solidFill>
                <a:prstDash val="solid"/>
                <a:round/>
              </a:ln>
              <a:effectLst/>
            </c:spPr>
          </c:marker>
          <c:cat>
            <c:multiLvlStrRef>
              <c:f>Sheet1!$A$2:$A$7</c:f>
              <c:multiLvlStrCache>
                <c:ptCount val="6"/>
                <c:lvl>
                  <c:pt idx="0">
                    <c:v>R1</c:v>
                  </c:pt>
                  <c:pt idx="1">
                    <c:v>R2</c:v>
                  </c:pt>
                  <c:pt idx="2">
                    <c:v>R3</c:v>
                  </c:pt>
                  <c:pt idx="3">
                    <c:v>R4</c:v>
                  </c:pt>
                  <c:pt idx="4">
                    <c:v>R5</c:v>
                  </c:pt>
                  <c:pt idx="5">
                    <c:v>R6</c:v>
                  </c:pt>
                </c:lvl>
              </c:multiLvlStrCache>
            </c:multiLvlStrRef>
          </c:cat>
          <c:val>
            <c:numRef>
              <c:f>Sheet1!$B$2:$B$7</c:f>
              <c:numCache>
                <c:formatCode>General</c:formatCode>
                <c:ptCount val="6"/>
                <c:pt idx="0">
                  <c:v>52</c:v>
                </c:pt>
                <c:pt idx="1">
                  <c:v>58</c:v>
                </c:pt>
                <c:pt idx="2">
                  <c:v>63</c:v>
                </c:pt>
                <c:pt idx="3">
                  <c:v>61</c:v>
                </c:pt>
                <c:pt idx="4">
                  <c:v>72</c:v>
                </c:pt>
                <c:pt idx="5">
                  <c:v>78</c:v>
                </c:pt>
              </c:numCache>
            </c:numRef>
          </c:val>
          <c:smooth val="0"/>
        </c:ser>
        <c:dLbls>
          <c:numFmt formatCode="#,##0" sourceLinked="0"/>
          <c:txPr>
            <a:bodyPr/>
            <a:lstStyle/>
            <a:p>
              <a:pPr>
                <a:defRPr b="0" i="0" strike="noStrike" sz="900" u="none">
                  <a:solidFill>
                    <a:srgbClr val="1E1B3A"/>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5A72"/>
                </a:solidFill>
                <a:latin typeface="Arial"/>
              </a:defRPr>
            </a:pPr>
            <a:endParaRPr lang="en-US"/>
          </a:p>
        </c:txPr>
        <c:crossAx val="2094734552"/>
        <c:crosses val="autoZero"/>
        <c:auto val="1"/>
        <c:lblAlgn val="ctr"/>
        <c:noMultiLvlLbl val="1"/>
      </c:catAx>
      <c:valAx>
        <c:axId val="2094734552"/>
        <c:scaling>
          <c:orientation val="minMax"/>
          <c:max val="90"/>
          <c:min val="40"/>
        </c:scaling>
        <c:delete val="0"/>
        <c:axPos val="l"/>
        <c:majorGridlines>
          <c:spPr>
            <a:ln w="6350" cap="flat">
              <a:solidFill>
                <a:srgbClr val="E4E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5A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we present SkillMirror, an AI powered interview preparation platform that turns a resume and a job description into a complete, personalised preparation strategy, and then lets you practise it with voice, code and instant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candidates prepare blindly. They do not know how well their resume matches the job, which questions to expect, which skills they lack, or how they actually sound when they answer. Generic question banks are not personal, and human mock interviews are expensive and hard to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SkillMirror takes everything a candidate already has, their resume, the job description, an optional self description, the target company and their public coding profiles, and generates one personalised report. Then it turns that report into a practice space with voice, code and instant AI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engine. Inputs are parsed and truncated to safe limits, then a structured prompt asks Gemini for JSON that we validate with Zod. The prompt is company aware: if the target is Amazon, behavioural questions follow leadership principles. Reports can be generated in English, Hindi or Hinglish.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the questions personal is real data. We fetch public GitHub repositories, LeetCode solved counts and Codeforces ratings. The prompt instructs the AI to ask at least two questions about the candidate's actual repositories, to probe weak DSA topics and to verify depth on the strongest topic. Profile strength also nudges the readiness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interview even matters, the resume has to pass the applicant tracking system. SkillMirror offers a quick score with matched and missing keywords, and a detailed score that breaks the resume down into five dimensions with concrete suggestions. Users can store multiple resumes and track score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report is only useful if you can practise it. Inside every report there are four tools: a STAR checker for behavioural answers, a live code runner using Monaco and Judge0, a grammar checker via LanguageTool, and an adaptive next question generator that reacts to the previous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 mode turns the browser into a mock interviewer. The question is read aloud with speech synthesis, the candidate answers out loud, the Web Speech API transcribes it, and Gemini scores the transcript on clarity and structure, counts filler words and returns up to five tips. No app or hardware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analysis compares the resume to the job description skill by skill. Every skill is labelled Have, Add to resume, or Learn, with a suggestion. The five day plan then converts those gaps into daily focus areas and concrete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is better with a second opinion. Any report can be shared through a public token link. A mentor opens it without logging in and leaves comments directly on the report. Comments are saved with the report and shown to the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tracks readiness across every report as a trend line with an average. A daily cron job emails a reminder three days before the interview date. Reports and a professionally formatted resume can be exported as branded PDFs generated with Puppeteer. Light and dark themes are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SkillMirror is a classic three tier MERN application. A React 19 frontend built with Vite talks to an Express 5 API over JSON. Authentication uses JWTs in httpOnly cookies with a blacklist for logout. MongoDB stores users, resumes, ATS scores and reports. Around it sit the external services: Gemini with automatic model fallback, GitHub, LeetCode, Codeforces, Judge0, LanguageTool and SMTP.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are not deterministic, so reliability comes from the pipeline around them. Inputs are truncated, the prompt carries an explicit schema and rules, we request JSON mode, strip code fences, extract and repair the JSON, validate it with Zod, normalise field names, and retry once in strict mode if it still fails. Quota and unsupported model errors are caught and turned into friendly messages, and the client falls back across four Gemini models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summary of the stack. Everything is JavaScript end to end, which kept the team productive and the codebase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flow we will show in the live demo. Register, upload a resume and paste a job description, add coding handles and watch the live previews, generate the report, solve a coding question in the editor, run a voice mock interview, STAR check a behavioural answer, share with a mentor, and finally download the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roadmap. First, multimodal emotion analysis using the webcam to read expressions, eye contact and posture alongside voice tone. Second, Gemini Live audio so the AI interviewer can interrupt and follow up like a human. Third, peer-to-peer rooms over WebRTC where two candidates interview each other with an AI observer. Fourth, a collaborative whiteboard for system design rounds with AI review. Fifth, a LinkedIn and portfolio crawler so profiles fill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of the roadmap: an enterprise recruiter portal for companies to run standardised AI screening, a React Native mobile app with push reminders, an AI resume rewriter driven by the ATS breakdown, company specific question banks, more languages, gamification with streaks and badges, AI answer detection for timed sessions, a browser extension for job sites, mentor analytics dashboards, and scalability upgrades with Redis, a job queue and WebSockets.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SkillMirror makes interview preparation personalised, practical and measurable. Personalised because every question comes from your resume, your repositories and your target company. Practical because you can code, speak and structure answers inside the report. Measurable because scores, gaps and trends are tracked over time. Thank you, we are happy to take questions and to show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1</a:t>
            </a:r>
            <a:endParaRPr lang="en-US" sz="900" dirty="0"/>
          </a:p>
        </p:txBody>
      </p:sp>
      <p:sp>
        <p:nvSpPr>
          <p:cNvPr id="5" name="Shape 2"/>
          <p:cNvSpPr/>
          <p:nvPr/>
        </p:nvSpPr>
        <p:spPr>
          <a:xfrm>
            <a:off x="5852160" y="548640"/>
            <a:ext cx="3291840" cy="3291840"/>
          </a:xfrm>
          <a:prstGeom prst="ellipse">
            <a:avLst/>
          </a:prstGeom>
          <a:solidFill>
            <a:srgbClr val="5B21B6"/>
          </a:solidFill>
          <a:ln w="12700">
            <a:solidFill>
              <a:srgbClr val="5B21B6"/>
            </a:solidFill>
            <a:prstDash val="solid"/>
          </a:ln>
        </p:spPr>
      </p:sp>
      <p:sp>
        <p:nvSpPr>
          <p:cNvPr id="6" name="Shape 3"/>
          <p:cNvSpPr/>
          <p:nvPr/>
        </p:nvSpPr>
        <p:spPr>
          <a:xfrm>
            <a:off x="6400800" y="1097280"/>
            <a:ext cx="2194560" cy="2194560"/>
          </a:xfrm>
          <a:prstGeom prst="ellipse">
            <a:avLst/>
          </a:prstGeom>
          <a:solidFill>
            <a:srgbClr val="7C3AED"/>
          </a:solidFill>
          <a:ln w="12700">
            <a:solidFill>
              <a:srgbClr val="7C3AED"/>
            </a:solidFill>
            <a:prstDash val="solid"/>
          </a:ln>
        </p:spPr>
      </p:sp>
      <p:pic>
        <p:nvPicPr>
          <p:cNvPr id="7" name="Image 0" descr="preencoded.png">    </p:cNvPr>
          <p:cNvPicPr>
            <a:picLocks noChangeAspect="1"/>
          </p:cNvPicPr>
          <p:nvPr/>
        </p:nvPicPr>
        <p:blipFill>
          <a:blip r:embed="rId1"/>
          <a:stretch>
            <a:fillRect/>
          </a:stretch>
        </p:blipFill>
        <p:spPr>
          <a:xfrm>
            <a:off x="6903720" y="1600200"/>
            <a:ext cx="1188720" cy="1188720"/>
          </a:xfrm>
          <a:prstGeom prst="rect">
            <a:avLst/>
          </a:prstGeom>
        </p:spPr>
      </p:pic>
      <p:sp>
        <p:nvSpPr>
          <p:cNvPr id="8" name="Text 4"/>
          <p:cNvSpPr txBox="1"/>
          <p:nvPr/>
        </p:nvSpPr>
        <p:spPr>
          <a:xfrm>
            <a:off x="548640" y="1188720"/>
            <a:ext cx="5303520" cy="914400"/>
          </a:xfrm>
          <a:prstGeom prst="rect">
            <a:avLst/>
          </a:prstGeom>
          <a:noFill/>
          <a:ln/>
        </p:spPr>
        <p:txBody>
          <a:bodyPr wrap="square" lIns="0" tIns="0" rIns="0" bIns="0" rtlCol="0" anchor="ctr"/>
          <a:lstStyle/>
          <a:p>
            <a:pPr indent="0" marL="0">
              <a:buNone/>
            </a:pPr>
            <a:r>
              <a:rPr lang="en-US" sz="5400" b="1" dirty="0">
                <a:solidFill>
                  <a:srgbClr val="1E1B3A"/>
                </a:solidFill>
                <a:latin typeface="Calibri" pitchFamily="34" charset="0"/>
                <a:ea typeface="Calibri" pitchFamily="34" charset="-122"/>
                <a:cs typeface="Calibri" pitchFamily="34" charset="-120"/>
              </a:rPr>
              <a:t>SkillMirror</a:t>
            </a:r>
            <a:endParaRPr lang="en-US" sz="5400" dirty="0"/>
          </a:p>
        </p:txBody>
      </p:sp>
      <p:sp>
        <p:nvSpPr>
          <p:cNvPr id="9" name="Text 5"/>
          <p:cNvSpPr txBox="1"/>
          <p:nvPr/>
        </p:nvSpPr>
        <p:spPr>
          <a:xfrm>
            <a:off x="548640" y="2103120"/>
            <a:ext cx="5303520" cy="457200"/>
          </a:xfrm>
          <a:prstGeom prst="rect">
            <a:avLst/>
          </a:prstGeom>
          <a:noFill/>
          <a:ln/>
        </p:spPr>
        <p:txBody>
          <a:bodyPr wrap="square" lIns="0" tIns="0" rIns="0" bIns="0" rtlCol="0" anchor="ctr"/>
          <a:lstStyle/>
          <a:p>
            <a:pPr indent="0" marL="0">
              <a:buNone/>
            </a:pPr>
            <a:r>
              <a:rPr lang="en-US" sz="2400" dirty="0">
                <a:solidFill>
                  <a:srgbClr val="0284C7"/>
                </a:solidFill>
                <a:latin typeface="Calibri" pitchFamily="34" charset="0"/>
                <a:ea typeface="Calibri" pitchFamily="34" charset="-122"/>
                <a:cs typeface="Calibri" pitchFamily="34" charset="-120"/>
              </a:rPr>
              <a:t>Your AI Interview Coach</a:t>
            </a:r>
            <a:endParaRPr lang="en-US" sz="2400" dirty="0"/>
          </a:p>
        </p:txBody>
      </p:sp>
      <p:sp>
        <p:nvSpPr>
          <p:cNvPr id="10" name="Text 6"/>
          <p:cNvSpPr txBox="1"/>
          <p:nvPr/>
        </p:nvSpPr>
        <p:spPr>
          <a:xfrm>
            <a:off x="548640" y="2651760"/>
            <a:ext cx="4937760" cy="640080"/>
          </a:xfrm>
          <a:prstGeom prst="rect">
            <a:avLst/>
          </a:prstGeom>
          <a:noFill/>
          <a:ln/>
        </p:spPr>
        <p:txBody>
          <a:bodyPr wrap="square" lIns="0" tIns="0" rIns="0" bIns="0" rtlCol="0" anchor="ctr"/>
          <a:lstStyle/>
          <a:p>
            <a:pPr indent="0" marL="0">
              <a:buNone/>
            </a:pPr>
            <a:r>
              <a:rPr lang="en-US" sz="1400" i="1" dirty="0">
                <a:solidFill>
                  <a:srgbClr val="5B5A72"/>
                </a:solidFill>
                <a:latin typeface="Calibri" pitchFamily="34" charset="0"/>
                <a:ea typeface="Calibri" pitchFamily="34" charset="-122"/>
                <a:cs typeface="Calibri" pitchFamily="34" charset="-120"/>
              </a:rPr>
              <a:t>Build interview strategies with a resume analyzer and personalized question planner.</a:t>
            </a:r>
            <a:endParaRPr lang="en-US" sz="1400" dirty="0"/>
          </a:p>
        </p:txBody>
      </p:sp>
      <p:sp>
        <p:nvSpPr>
          <p:cNvPr id="11" name="Text 7"/>
          <p:cNvSpPr txBox="1"/>
          <p:nvPr/>
        </p:nvSpPr>
        <p:spPr>
          <a:xfrm>
            <a:off x="548640" y="3931920"/>
            <a:ext cx="5303520" cy="365760"/>
          </a:xfrm>
          <a:prstGeom prst="rect">
            <a:avLst/>
          </a:prstGeom>
          <a:noFill/>
          <a:ln/>
        </p:spPr>
        <p:txBody>
          <a:bodyPr wrap="square" lIns="0" tIns="0" rIns="0" bIns="0" rtlCol="0" anchor="ctr"/>
          <a:lstStyle/>
          <a:p>
            <a:pPr indent="0" marL="0">
              <a:buNone/>
            </a:pPr>
            <a:r>
              <a:rPr lang="en-US" sz="1200" dirty="0">
                <a:solidFill>
                  <a:srgbClr val="5B5A72"/>
                </a:solidFill>
                <a:latin typeface="Calibri" pitchFamily="34" charset="0"/>
                <a:ea typeface="Calibri" pitchFamily="34" charset="-122"/>
                <a:cs typeface="Calibri" pitchFamily="34" charset="-120"/>
              </a:rPr>
              <a:t>Team Name  |  Institution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2</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The Problem</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Candidates prepare for interviews blindly</a:t>
            </a:r>
            <a:endParaRPr lang="en-US" sz="1300" dirty="0"/>
          </a:p>
        </p:txBody>
      </p:sp>
      <p:sp>
        <p:nvSpPr>
          <p:cNvPr id="7" name="Shape 4"/>
          <p:cNvSpPr/>
          <p:nvPr/>
        </p:nvSpPr>
        <p:spPr>
          <a:xfrm>
            <a:off x="457200" y="1463040"/>
            <a:ext cx="1920240" cy="2926080"/>
          </a:xfrm>
          <a:prstGeom prst="roundRect">
            <a:avLst>
              <a:gd name="adj" fmla="val 5714"/>
            </a:avLst>
          </a:prstGeom>
          <a:solidFill>
            <a:srgbClr val="F3F1FA"/>
          </a:solidFill>
          <a:ln w="12700">
            <a:solidFill>
              <a:srgbClr val="F3F1FA"/>
            </a:solidFill>
            <a:prstDash val="solid"/>
          </a:ln>
        </p:spPr>
      </p:sp>
      <p:sp>
        <p:nvSpPr>
          <p:cNvPr id="8" name="Shape 5"/>
          <p:cNvSpPr/>
          <p:nvPr/>
        </p:nvSpPr>
        <p:spPr>
          <a:xfrm>
            <a:off x="685800" y="1691640"/>
            <a:ext cx="502920" cy="502920"/>
          </a:xfrm>
          <a:prstGeom prst="roundRect">
            <a:avLst>
              <a:gd name="adj" fmla="val 18182"/>
            </a:avLst>
          </a:prstGeom>
          <a:solidFill>
            <a:srgbClr val="7C3AED"/>
          </a:solidFill>
          <a:ln w="12700">
            <a:solidFill>
              <a:srgbClr val="7C3AED"/>
            </a:solidFill>
            <a:prstDash val="solid"/>
          </a:ln>
        </p:spPr>
      </p:sp>
      <p:pic>
        <p:nvPicPr>
          <p:cNvPr id="9" name="Image 0" descr="preencoded.png">    </p:cNvPr>
          <p:cNvPicPr>
            <a:picLocks noChangeAspect="1"/>
          </p:cNvPicPr>
          <p:nvPr/>
        </p:nvPicPr>
        <p:blipFill>
          <a:blip r:embed="rId1"/>
          <a:stretch>
            <a:fillRect/>
          </a:stretch>
        </p:blipFill>
        <p:spPr>
          <a:xfrm>
            <a:off x="796442" y="1802282"/>
            <a:ext cx="281635" cy="281635"/>
          </a:xfrm>
          <a:prstGeom prst="rect">
            <a:avLst/>
          </a:prstGeom>
        </p:spPr>
      </p:pic>
      <p:sp>
        <p:nvSpPr>
          <p:cNvPr id="10" name="Text 6"/>
          <p:cNvSpPr txBox="1"/>
          <p:nvPr/>
        </p:nvSpPr>
        <p:spPr>
          <a:xfrm>
            <a:off x="685800" y="2377440"/>
            <a:ext cx="1554480" cy="457200"/>
          </a:xfrm>
          <a:prstGeom prst="rect">
            <a:avLst/>
          </a:prstGeom>
          <a:noFill/>
          <a:ln/>
        </p:spPr>
        <p:txBody>
          <a:bodyPr wrap="square" lIns="0" tIns="0" rIns="0" bIns="0" rtlCol="0" anchor="t"/>
          <a:lstStyle/>
          <a:p>
            <a:pPr algn="l" indent="0" marL="0">
              <a:buNone/>
            </a:pPr>
            <a:r>
              <a:rPr lang="en-US" sz="1500" b="1" dirty="0">
                <a:solidFill>
                  <a:srgbClr val="1E1B3A"/>
                </a:solidFill>
                <a:latin typeface="Calibri" pitchFamily="34" charset="0"/>
                <a:ea typeface="Calibri" pitchFamily="34" charset="-122"/>
                <a:cs typeface="Calibri" pitchFamily="34" charset="-120"/>
              </a:rPr>
              <a:t>No resume feedback</a:t>
            </a:r>
            <a:endParaRPr lang="en-US" sz="1500" dirty="0"/>
          </a:p>
        </p:txBody>
      </p:sp>
      <p:sp>
        <p:nvSpPr>
          <p:cNvPr id="11" name="Text 7"/>
          <p:cNvSpPr txBox="1"/>
          <p:nvPr/>
        </p:nvSpPr>
        <p:spPr>
          <a:xfrm>
            <a:off x="685800" y="2880360"/>
            <a:ext cx="1508760" cy="1371600"/>
          </a:xfrm>
          <a:prstGeom prst="rect">
            <a:avLst/>
          </a:prstGeom>
          <a:noFill/>
          <a:ln/>
        </p:spPr>
        <p:txBody>
          <a:bodyPr wrap="square" lIns="0" tIns="0" rIns="0" bIns="0" rtlCol="0" anchor="t"/>
          <a:lstStyle/>
          <a:p>
            <a:pPr algn="l" indent="0" marL="0">
              <a:buNone/>
            </a:pPr>
            <a:r>
              <a:rPr lang="en-US" sz="1150" dirty="0">
                <a:solidFill>
                  <a:srgbClr val="5B5A72"/>
                </a:solidFill>
                <a:latin typeface="Calibri" pitchFamily="34" charset="0"/>
                <a:ea typeface="Calibri" pitchFamily="34" charset="-122"/>
                <a:cs typeface="Calibri" pitchFamily="34" charset="-120"/>
              </a:rPr>
              <a:t>Candidates cannot tell how well their resume matches a specific job description.</a:t>
            </a:r>
            <a:endParaRPr lang="en-US" sz="1150" dirty="0"/>
          </a:p>
        </p:txBody>
      </p:sp>
      <p:sp>
        <p:nvSpPr>
          <p:cNvPr id="12" name="Shape 8"/>
          <p:cNvSpPr/>
          <p:nvPr/>
        </p:nvSpPr>
        <p:spPr>
          <a:xfrm>
            <a:off x="2560320" y="1463040"/>
            <a:ext cx="1920240" cy="2926080"/>
          </a:xfrm>
          <a:prstGeom prst="roundRect">
            <a:avLst>
              <a:gd name="adj" fmla="val 5714"/>
            </a:avLst>
          </a:prstGeom>
          <a:solidFill>
            <a:srgbClr val="F3F1FA"/>
          </a:solidFill>
          <a:ln w="12700">
            <a:solidFill>
              <a:srgbClr val="F3F1FA"/>
            </a:solidFill>
            <a:prstDash val="solid"/>
          </a:ln>
        </p:spPr>
      </p:sp>
      <p:sp>
        <p:nvSpPr>
          <p:cNvPr id="13" name="Shape 9"/>
          <p:cNvSpPr/>
          <p:nvPr/>
        </p:nvSpPr>
        <p:spPr>
          <a:xfrm>
            <a:off x="2788920" y="1691640"/>
            <a:ext cx="502920" cy="502920"/>
          </a:xfrm>
          <a:prstGeom prst="roundRect">
            <a:avLst>
              <a:gd name="adj" fmla="val 18182"/>
            </a:avLst>
          </a:prstGeom>
          <a:solidFill>
            <a:srgbClr val="7C3AED"/>
          </a:solidFill>
          <a:ln w="12700">
            <a:solidFill>
              <a:srgbClr val="7C3AED"/>
            </a:solidFill>
            <a:prstDash val="solid"/>
          </a:ln>
        </p:spPr>
      </p:sp>
      <p:pic>
        <p:nvPicPr>
          <p:cNvPr id="14" name="Image 1" descr="preencoded.png">    </p:cNvPr>
          <p:cNvPicPr>
            <a:picLocks noChangeAspect="1"/>
          </p:cNvPicPr>
          <p:nvPr/>
        </p:nvPicPr>
        <p:blipFill>
          <a:blip r:embed="rId2"/>
          <a:stretch>
            <a:fillRect/>
          </a:stretch>
        </p:blipFill>
        <p:spPr>
          <a:xfrm>
            <a:off x="2899562" y="1802282"/>
            <a:ext cx="281635" cy="281635"/>
          </a:xfrm>
          <a:prstGeom prst="rect">
            <a:avLst/>
          </a:prstGeom>
        </p:spPr>
      </p:pic>
      <p:sp>
        <p:nvSpPr>
          <p:cNvPr id="15" name="Text 10"/>
          <p:cNvSpPr txBox="1"/>
          <p:nvPr/>
        </p:nvSpPr>
        <p:spPr>
          <a:xfrm>
            <a:off x="2788920" y="2377440"/>
            <a:ext cx="1554480" cy="457200"/>
          </a:xfrm>
          <a:prstGeom prst="rect">
            <a:avLst/>
          </a:prstGeom>
          <a:noFill/>
          <a:ln/>
        </p:spPr>
        <p:txBody>
          <a:bodyPr wrap="square" lIns="0" tIns="0" rIns="0" bIns="0" rtlCol="0" anchor="t"/>
          <a:lstStyle/>
          <a:p>
            <a:pPr algn="l" indent="0" marL="0">
              <a:buNone/>
            </a:pPr>
            <a:r>
              <a:rPr lang="en-US" sz="1500" b="1" dirty="0">
                <a:solidFill>
                  <a:srgbClr val="1E1B3A"/>
                </a:solidFill>
                <a:latin typeface="Calibri" pitchFamily="34" charset="0"/>
                <a:ea typeface="Calibri" pitchFamily="34" charset="-122"/>
                <a:cs typeface="Calibri" pitchFamily="34" charset="-120"/>
              </a:rPr>
              <a:t>Unknown questions</a:t>
            </a:r>
            <a:endParaRPr lang="en-US" sz="1500" dirty="0"/>
          </a:p>
        </p:txBody>
      </p:sp>
      <p:sp>
        <p:nvSpPr>
          <p:cNvPr id="16" name="Text 11"/>
          <p:cNvSpPr txBox="1"/>
          <p:nvPr/>
        </p:nvSpPr>
        <p:spPr>
          <a:xfrm>
            <a:off x="2788920" y="2880360"/>
            <a:ext cx="1508760" cy="1371600"/>
          </a:xfrm>
          <a:prstGeom prst="rect">
            <a:avLst/>
          </a:prstGeom>
          <a:noFill/>
          <a:ln/>
        </p:spPr>
        <p:txBody>
          <a:bodyPr wrap="square" lIns="0" tIns="0" rIns="0" bIns="0" rtlCol="0" anchor="t"/>
          <a:lstStyle/>
          <a:p>
            <a:pPr algn="l" indent="0" marL="0">
              <a:buNone/>
            </a:pPr>
            <a:r>
              <a:rPr lang="en-US" sz="1150" dirty="0">
                <a:solidFill>
                  <a:srgbClr val="5B5A72"/>
                </a:solidFill>
                <a:latin typeface="Calibri" pitchFamily="34" charset="0"/>
                <a:ea typeface="Calibri" pitchFamily="34" charset="-122"/>
                <a:cs typeface="Calibri" pitchFamily="34" charset="-120"/>
              </a:rPr>
              <a:t>Question banks are generic and never tied to the candidate's real projects.</a:t>
            </a:r>
            <a:endParaRPr lang="en-US" sz="1150" dirty="0"/>
          </a:p>
        </p:txBody>
      </p:sp>
      <p:sp>
        <p:nvSpPr>
          <p:cNvPr id="17" name="Shape 12"/>
          <p:cNvSpPr/>
          <p:nvPr/>
        </p:nvSpPr>
        <p:spPr>
          <a:xfrm>
            <a:off x="4663440" y="1463040"/>
            <a:ext cx="1920240" cy="2926080"/>
          </a:xfrm>
          <a:prstGeom prst="roundRect">
            <a:avLst>
              <a:gd name="adj" fmla="val 5714"/>
            </a:avLst>
          </a:prstGeom>
          <a:solidFill>
            <a:srgbClr val="F3F1FA"/>
          </a:solidFill>
          <a:ln w="12700">
            <a:solidFill>
              <a:srgbClr val="F3F1FA"/>
            </a:solidFill>
            <a:prstDash val="solid"/>
          </a:ln>
        </p:spPr>
      </p:sp>
      <p:sp>
        <p:nvSpPr>
          <p:cNvPr id="18" name="Shape 13"/>
          <p:cNvSpPr/>
          <p:nvPr/>
        </p:nvSpPr>
        <p:spPr>
          <a:xfrm>
            <a:off x="4892040" y="1691640"/>
            <a:ext cx="502920" cy="502920"/>
          </a:xfrm>
          <a:prstGeom prst="roundRect">
            <a:avLst>
              <a:gd name="adj" fmla="val 18182"/>
            </a:avLst>
          </a:prstGeom>
          <a:solidFill>
            <a:srgbClr val="7C3AED"/>
          </a:solidFill>
          <a:ln w="12700">
            <a:solidFill>
              <a:srgbClr val="7C3AED"/>
            </a:solidFill>
            <a:prstDash val="solid"/>
          </a:ln>
        </p:spPr>
      </p:sp>
      <p:pic>
        <p:nvPicPr>
          <p:cNvPr id="19" name="Image 2" descr="preencoded.png">    </p:cNvPr>
          <p:cNvPicPr>
            <a:picLocks noChangeAspect="1"/>
          </p:cNvPicPr>
          <p:nvPr/>
        </p:nvPicPr>
        <p:blipFill>
          <a:blip r:embed="rId3"/>
          <a:stretch>
            <a:fillRect/>
          </a:stretch>
        </p:blipFill>
        <p:spPr>
          <a:xfrm>
            <a:off x="5002682" y="1802282"/>
            <a:ext cx="281635" cy="281635"/>
          </a:xfrm>
          <a:prstGeom prst="rect">
            <a:avLst/>
          </a:prstGeom>
        </p:spPr>
      </p:pic>
      <p:sp>
        <p:nvSpPr>
          <p:cNvPr id="20" name="Text 14"/>
          <p:cNvSpPr txBox="1"/>
          <p:nvPr/>
        </p:nvSpPr>
        <p:spPr>
          <a:xfrm>
            <a:off x="4892040" y="2377440"/>
            <a:ext cx="1554480" cy="457200"/>
          </a:xfrm>
          <a:prstGeom prst="rect">
            <a:avLst/>
          </a:prstGeom>
          <a:noFill/>
          <a:ln/>
        </p:spPr>
        <p:txBody>
          <a:bodyPr wrap="square" lIns="0" tIns="0" rIns="0" bIns="0" rtlCol="0" anchor="t"/>
          <a:lstStyle/>
          <a:p>
            <a:pPr algn="l" indent="0" marL="0">
              <a:buNone/>
            </a:pPr>
            <a:r>
              <a:rPr lang="en-US" sz="1500" b="1" dirty="0">
                <a:solidFill>
                  <a:srgbClr val="1E1B3A"/>
                </a:solidFill>
                <a:latin typeface="Calibri" pitchFamily="34" charset="0"/>
                <a:ea typeface="Calibri" pitchFamily="34" charset="-122"/>
                <a:cs typeface="Calibri" pitchFamily="34" charset="-120"/>
              </a:rPr>
              <a:t>Hidden skill gaps</a:t>
            </a:r>
            <a:endParaRPr lang="en-US" sz="1500" dirty="0"/>
          </a:p>
        </p:txBody>
      </p:sp>
      <p:sp>
        <p:nvSpPr>
          <p:cNvPr id="21" name="Text 15"/>
          <p:cNvSpPr txBox="1"/>
          <p:nvPr/>
        </p:nvSpPr>
        <p:spPr>
          <a:xfrm>
            <a:off x="4892040" y="2880360"/>
            <a:ext cx="1508760" cy="1371600"/>
          </a:xfrm>
          <a:prstGeom prst="rect">
            <a:avLst/>
          </a:prstGeom>
          <a:noFill/>
          <a:ln/>
        </p:spPr>
        <p:txBody>
          <a:bodyPr wrap="square" lIns="0" tIns="0" rIns="0" bIns="0" rtlCol="0" anchor="t"/>
          <a:lstStyle/>
          <a:p>
            <a:pPr algn="l" indent="0" marL="0">
              <a:buNone/>
            </a:pPr>
            <a:r>
              <a:rPr lang="en-US" sz="1150" dirty="0">
                <a:solidFill>
                  <a:srgbClr val="5B5A72"/>
                </a:solidFill>
                <a:latin typeface="Calibri" pitchFamily="34" charset="0"/>
                <a:ea typeface="Calibri" pitchFamily="34" charset="-122"/>
                <a:cs typeface="Calibri" pitchFamily="34" charset="-120"/>
              </a:rPr>
              <a:t>Missing skills are discovered in the interview room, when it is too late.</a:t>
            </a:r>
            <a:endParaRPr lang="en-US" sz="1150" dirty="0"/>
          </a:p>
        </p:txBody>
      </p:sp>
      <p:sp>
        <p:nvSpPr>
          <p:cNvPr id="22" name="Shape 16"/>
          <p:cNvSpPr/>
          <p:nvPr/>
        </p:nvSpPr>
        <p:spPr>
          <a:xfrm>
            <a:off x="6766560" y="1463040"/>
            <a:ext cx="1920240" cy="2926080"/>
          </a:xfrm>
          <a:prstGeom prst="roundRect">
            <a:avLst>
              <a:gd name="adj" fmla="val 5714"/>
            </a:avLst>
          </a:prstGeom>
          <a:solidFill>
            <a:srgbClr val="F3F1FA"/>
          </a:solidFill>
          <a:ln w="12700">
            <a:solidFill>
              <a:srgbClr val="F3F1FA"/>
            </a:solidFill>
            <a:prstDash val="solid"/>
          </a:ln>
        </p:spPr>
      </p:sp>
      <p:sp>
        <p:nvSpPr>
          <p:cNvPr id="23" name="Shape 17"/>
          <p:cNvSpPr/>
          <p:nvPr/>
        </p:nvSpPr>
        <p:spPr>
          <a:xfrm>
            <a:off x="6995160" y="1691640"/>
            <a:ext cx="502920" cy="502920"/>
          </a:xfrm>
          <a:prstGeom prst="roundRect">
            <a:avLst>
              <a:gd name="adj" fmla="val 18182"/>
            </a:avLst>
          </a:prstGeom>
          <a:solidFill>
            <a:srgbClr val="7C3AED"/>
          </a:solidFill>
          <a:ln w="12700">
            <a:solidFill>
              <a:srgbClr val="7C3AED"/>
            </a:solidFill>
            <a:prstDash val="solid"/>
          </a:ln>
        </p:spPr>
      </p:sp>
      <p:pic>
        <p:nvPicPr>
          <p:cNvPr id="24" name="Image 3" descr="preencoded.png">    </p:cNvPr>
          <p:cNvPicPr>
            <a:picLocks noChangeAspect="1"/>
          </p:cNvPicPr>
          <p:nvPr/>
        </p:nvPicPr>
        <p:blipFill>
          <a:blip r:embed="rId4"/>
          <a:stretch>
            <a:fillRect/>
          </a:stretch>
        </p:blipFill>
        <p:spPr>
          <a:xfrm>
            <a:off x="7105802" y="1802282"/>
            <a:ext cx="281635" cy="281635"/>
          </a:xfrm>
          <a:prstGeom prst="rect">
            <a:avLst/>
          </a:prstGeom>
        </p:spPr>
      </p:pic>
      <p:sp>
        <p:nvSpPr>
          <p:cNvPr id="25" name="Text 18"/>
          <p:cNvSpPr txBox="1"/>
          <p:nvPr/>
        </p:nvSpPr>
        <p:spPr>
          <a:xfrm>
            <a:off x="6995160" y="2377440"/>
            <a:ext cx="1554480" cy="457200"/>
          </a:xfrm>
          <a:prstGeom prst="rect">
            <a:avLst/>
          </a:prstGeom>
          <a:noFill/>
          <a:ln/>
        </p:spPr>
        <p:txBody>
          <a:bodyPr wrap="square" lIns="0" tIns="0" rIns="0" bIns="0" rtlCol="0" anchor="t"/>
          <a:lstStyle/>
          <a:p>
            <a:pPr algn="l" indent="0" marL="0">
              <a:buNone/>
            </a:pPr>
            <a:r>
              <a:rPr lang="en-US" sz="1500" b="1" dirty="0">
                <a:solidFill>
                  <a:srgbClr val="1E1B3A"/>
                </a:solidFill>
                <a:latin typeface="Calibri" pitchFamily="34" charset="0"/>
                <a:ea typeface="Calibri" pitchFamily="34" charset="-122"/>
                <a:cs typeface="Calibri" pitchFamily="34" charset="-120"/>
              </a:rPr>
              <a:t>Costly mock interviews</a:t>
            </a:r>
            <a:endParaRPr lang="en-US" sz="1500" dirty="0"/>
          </a:p>
        </p:txBody>
      </p:sp>
      <p:sp>
        <p:nvSpPr>
          <p:cNvPr id="26" name="Text 19"/>
          <p:cNvSpPr txBox="1"/>
          <p:nvPr/>
        </p:nvSpPr>
        <p:spPr>
          <a:xfrm>
            <a:off x="6995160" y="2880360"/>
            <a:ext cx="1508760" cy="1371600"/>
          </a:xfrm>
          <a:prstGeom prst="rect">
            <a:avLst/>
          </a:prstGeom>
          <a:noFill/>
          <a:ln/>
        </p:spPr>
        <p:txBody>
          <a:bodyPr wrap="square" lIns="0" tIns="0" rIns="0" bIns="0" rtlCol="0" anchor="t"/>
          <a:lstStyle/>
          <a:p>
            <a:pPr algn="l" indent="0" marL="0">
              <a:buNone/>
            </a:pPr>
            <a:r>
              <a:rPr lang="en-US" sz="1150" dirty="0">
                <a:solidFill>
                  <a:srgbClr val="5B5A72"/>
                </a:solidFill>
                <a:latin typeface="Calibri" pitchFamily="34" charset="0"/>
                <a:ea typeface="Calibri" pitchFamily="34" charset="-122"/>
                <a:cs typeface="Calibri" pitchFamily="34" charset="-120"/>
              </a:rPr>
              <a:t>Human mock interviews are expensive, slow to book, and rarely repeatable.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3</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The Solution</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One personalised report, then a place to practise it</a:t>
            </a:r>
            <a:endParaRPr lang="en-US" sz="1300" dirty="0"/>
          </a:p>
        </p:txBody>
      </p:sp>
      <p:sp>
        <p:nvSpPr>
          <p:cNvPr id="7" name="Shape 4"/>
          <p:cNvSpPr/>
          <p:nvPr/>
        </p:nvSpPr>
        <p:spPr>
          <a:xfrm>
            <a:off x="457200" y="1463040"/>
            <a:ext cx="2651760" cy="3017520"/>
          </a:xfrm>
          <a:prstGeom prst="roundRect">
            <a:avLst>
              <a:gd name="adj" fmla="val 4138"/>
            </a:avLst>
          </a:prstGeom>
          <a:solidFill>
            <a:srgbClr val="F3F1FA"/>
          </a:solidFill>
          <a:ln w="12700">
            <a:solidFill>
              <a:srgbClr val="F3F1FA"/>
            </a:solidFill>
            <a:prstDash val="solid"/>
          </a:ln>
        </p:spPr>
      </p:sp>
      <p:sp>
        <p:nvSpPr>
          <p:cNvPr id="8" name="Text 5"/>
          <p:cNvSpPr txBox="1"/>
          <p:nvPr/>
        </p:nvSpPr>
        <p:spPr>
          <a:xfrm>
            <a:off x="685800" y="1645920"/>
            <a:ext cx="2286000" cy="365760"/>
          </a:xfrm>
          <a:prstGeom prst="rect">
            <a:avLst/>
          </a:prstGeom>
          <a:noFill/>
          <a:ln/>
        </p:spPr>
        <p:txBody>
          <a:bodyPr wrap="square" lIns="0" tIns="0" rIns="0" bIns="0" rtlCol="0" anchor="t"/>
          <a:lstStyle/>
          <a:p>
            <a:pPr algn="l" indent="0" marL="0">
              <a:buNone/>
            </a:pPr>
            <a:r>
              <a:rPr lang="en-US" sz="1600" b="1" dirty="0">
                <a:solidFill>
                  <a:srgbClr val="0284C7"/>
                </a:solidFill>
                <a:latin typeface="Calibri" pitchFamily="34" charset="0"/>
                <a:ea typeface="Calibri" pitchFamily="34" charset="-122"/>
                <a:cs typeface="Calibri" pitchFamily="34" charset="-120"/>
              </a:rPr>
              <a:t>You give</a:t>
            </a:r>
            <a:endParaRPr lang="en-US" sz="1600" dirty="0"/>
          </a:p>
        </p:txBody>
      </p:sp>
      <p:sp>
        <p:nvSpPr>
          <p:cNvPr id="9" name="Text 6"/>
          <p:cNvSpPr txBox="1"/>
          <p:nvPr/>
        </p:nvSpPr>
        <p:spPr>
          <a:xfrm>
            <a:off x="685800" y="2103120"/>
            <a:ext cx="228600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1B3A"/>
                </a:solidFill>
                <a:latin typeface="Calibri" pitchFamily="34" charset="0"/>
                <a:ea typeface="Calibri" pitchFamily="34" charset="-122"/>
                <a:cs typeface="Calibri" pitchFamily="34" charset="-120"/>
              </a:rPr>
              <a:t>Resume (PDF)</a:t>
            </a:r>
            <a:endParaRPr lang="en-US" sz="1250" dirty="0"/>
          </a:p>
          <a:p>
            <a:pPr marL="342900" indent="-342900">
              <a:spcAft>
                <a:spcPts val="600"/>
              </a:spcAft>
              <a:buSzPct val="100000"/>
              <a:buChar char="•"/>
            </a:pPr>
            <a:r>
              <a:rPr lang="en-US" sz="1250" dirty="0">
                <a:solidFill>
                  <a:srgbClr val="1E1B3A"/>
                </a:solidFill>
                <a:latin typeface="Calibri" pitchFamily="34" charset="0"/>
                <a:ea typeface="Calibri" pitchFamily="34" charset="-122"/>
                <a:cs typeface="Calibri" pitchFamily="34" charset="-120"/>
              </a:rPr>
              <a:t>Job description</a:t>
            </a:r>
            <a:endParaRPr lang="en-US" sz="1250" dirty="0"/>
          </a:p>
          <a:p>
            <a:pPr marL="342900" indent="-342900">
              <a:spcAft>
                <a:spcPts val="600"/>
              </a:spcAft>
              <a:buSzPct val="100000"/>
              <a:buChar char="•"/>
            </a:pPr>
            <a:r>
              <a:rPr lang="en-US" sz="1250" dirty="0">
                <a:solidFill>
                  <a:srgbClr val="1E1B3A"/>
                </a:solidFill>
                <a:latin typeface="Calibri" pitchFamily="34" charset="0"/>
                <a:ea typeface="Calibri" pitchFamily="34" charset="-122"/>
                <a:cs typeface="Calibri" pitchFamily="34" charset="-120"/>
              </a:rPr>
              <a:t>Self description</a:t>
            </a:r>
            <a:endParaRPr lang="en-US" sz="1250" dirty="0"/>
          </a:p>
          <a:p>
            <a:pPr marL="342900" indent="-342900">
              <a:spcAft>
                <a:spcPts val="600"/>
              </a:spcAft>
              <a:buSzPct val="100000"/>
              <a:buChar char="•"/>
            </a:pPr>
            <a:r>
              <a:rPr lang="en-US" sz="1250" dirty="0">
                <a:solidFill>
                  <a:srgbClr val="1E1B3A"/>
                </a:solidFill>
                <a:latin typeface="Calibri" pitchFamily="34" charset="0"/>
                <a:ea typeface="Calibri" pitchFamily="34" charset="-122"/>
                <a:cs typeface="Calibri" pitchFamily="34" charset="-120"/>
              </a:rPr>
              <a:t>Target company and date</a:t>
            </a:r>
            <a:endParaRPr lang="en-US" sz="1250" dirty="0"/>
          </a:p>
          <a:p>
            <a:pPr marL="342900" indent="-342900">
              <a:spcAft>
                <a:spcPts val="600"/>
              </a:spcAft>
              <a:buSzPct val="100000"/>
              <a:buChar char="•"/>
            </a:pPr>
            <a:r>
              <a:rPr lang="en-US" sz="1250" dirty="0">
                <a:solidFill>
                  <a:srgbClr val="1E1B3A"/>
                </a:solidFill>
                <a:latin typeface="Calibri" pitchFamily="34" charset="0"/>
                <a:ea typeface="Calibri" pitchFamily="34" charset="-122"/>
                <a:cs typeface="Calibri" pitchFamily="34" charset="-120"/>
              </a:rPr>
              <a:t>GitHub, LeetCode, Codeforces handles</a:t>
            </a:r>
            <a:endParaRPr lang="en-US" sz="1250" dirty="0"/>
          </a:p>
        </p:txBody>
      </p:sp>
      <p:sp>
        <p:nvSpPr>
          <p:cNvPr id="10" name="Shape 7"/>
          <p:cNvSpPr/>
          <p:nvPr/>
        </p:nvSpPr>
        <p:spPr>
          <a:xfrm>
            <a:off x="3246120" y="2834640"/>
            <a:ext cx="411480" cy="274320"/>
          </a:xfrm>
          <a:prstGeom prst="rightArrow">
            <a:avLst/>
          </a:prstGeom>
          <a:solidFill>
            <a:srgbClr val="7C3AED"/>
          </a:solidFill>
          <a:ln w="12700">
            <a:solidFill>
              <a:srgbClr val="7C3AED"/>
            </a:solidFill>
            <a:prstDash val="solid"/>
          </a:ln>
        </p:spPr>
      </p:sp>
      <p:sp>
        <p:nvSpPr>
          <p:cNvPr id="11" name="Shape 8"/>
          <p:cNvSpPr/>
          <p:nvPr/>
        </p:nvSpPr>
        <p:spPr>
          <a:xfrm>
            <a:off x="3794760" y="2240280"/>
            <a:ext cx="1463040" cy="1463040"/>
          </a:xfrm>
          <a:prstGeom prst="ellipse">
            <a:avLst/>
          </a:prstGeom>
          <a:solidFill>
            <a:srgbClr val="7C3AED"/>
          </a:solidFill>
          <a:ln w="12700">
            <a:solidFill>
              <a:srgbClr val="7C3AED"/>
            </a:solidFill>
            <a:prstDash val="solid"/>
          </a:ln>
        </p:spPr>
      </p:sp>
      <p:pic>
        <p:nvPicPr>
          <p:cNvPr id="12" name="Image 0" descr="preencoded.png">    </p:cNvPr>
          <p:cNvPicPr>
            <a:picLocks noChangeAspect="1"/>
          </p:cNvPicPr>
          <p:nvPr/>
        </p:nvPicPr>
        <p:blipFill>
          <a:blip r:embed="rId1"/>
          <a:stretch>
            <a:fillRect/>
          </a:stretch>
        </p:blipFill>
        <p:spPr>
          <a:xfrm>
            <a:off x="4160520" y="2606040"/>
            <a:ext cx="731520" cy="731520"/>
          </a:xfrm>
          <a:prstGeom prst="rect">
            <a:avLst/>
          </a:prstGeom>
        </p:spPr>
      </p:pic>
      <p:sp>
        <p:nvSpPr>
          <p:cNvPr id="13" name="Text 9"/>
          <p:cNvSpPr txBox="1"/>
          <p:nvPr/>
        </p:nvSpPr>
        <p:spPr>
          <a:xfrm>
            <a:off x="3657600" y="3794760"/>
            <a:ext cx="1737360" cy="320040"/>
          </a:xfrm>
          <a:prstGeom prst="rect">
            <a:avLst/>
          </a:prstGeom>
          <a:noFill/>
          <a:ln/>
        </p:spPr>
        <p:txBody>
          <a:bodyPr wrap="square" lIns="0" tIns="0" rIns="0" bIns="0" rtlCol="0" anchor="t"/>
          <a:lstStyle/>
          <a:p>
            <a:pPr algn="ctr" indent="0" marL="0">
              <a:buNone/>
            </a:pPr>
            <a:r>
              <a:rPr lang="en-US" sz="1200" b="1" dirty="0">
                <a:solidFill>
                  <a:srgbClr val="1E1B3A"/>
                </a:solidFill>
                <a:latin typeface="Calibri" pitchFamily="34" charset="0"/>
                <a:ea typeface="Calibri" pitchFamily="34" charset="-122"/>
                <a:cs typeface="Calibri" pitchFamily="34" charset="-120"/>
              </a:rPr>
              <a:t>Gemini AI</a:t>
            </a:r>
            <a:endParaRPr lang="en-US" sz="1200" dirty="0"/>
          </a:p>
        </p:txBody>
      </p:sp>
      <p:sp>
        <p:nvSpPr>
          <p:cNvPr id="14" name="Shape 10"/>
          <p:cNvSpPr/>
          <p:nvPr/>
        </p:nvSpPr>
        <p:spPr>
          <a:xfrm>
            <a:off x="5394960" y="2834640"/>
            <a:ext cx="411480" cy="274320"/>
          </a:xfrm>
          <a:prstGeom prst="rightArrow">
            <a:avLst/>
          </a:prstGeom>
          <a:solidFill>
            <a:srgbClr val="7C3AED"/>
          </a:solidFill>
          <a:ln w="12700">
            <a:solidFill>
              <a:srgbClr val="7C3AED"/>
            </a:solidFill>
            <a:prstDash val="solid"/>
          </a:ln>
        </p:spPr>
      </p:sp>
      <p:sp>
        <p:nvSpPr>
          <p:cNvPr id="15" name="Shape 11"/>
          <p:cNvSpPr/>
          <p:nvPr/>
        </p:nvSpPr>
        <p:spPr>
          <a:xfrm>
            <a:off x="5943600" y="1463040"/>
            <a:ext cx="2743200" cy="3017520"/>
          </a:xfrm>
          <a:prstGeom prst="roundRect">
            <a:avLst>
              <a:gd name="adj" fmla="val 4000"/>
            </a:avLst>
          </a:prstGeom>
          <a:solidFill>
            <a:srgbClr val="F3F1FA"/>
          </a:solidFill>
          <a:ln w="12700">
            <a:solidFill>
              <a:srgbClr val="F3F1FA"/>
            </a:solidFill>
            <a:prstDash val="solid"/>
          </a:ln>
        </p:spPr>
      </p:sp>
      <p:sp>
        <p:nvSpPr>
          <p:cNvPr id="16" name="Text 12"/>
          <p:cNvSpPr txBox="1"/>
          <p:nvPr/>
        </p:nvSpPr>
        <p:spPr>
          <a:xfrm>
            <a:off x="6172200" y="1645920"/>
            <a:ext cx="2286000" cy="365760"/>
          </a:xfrm>
          <a:prstGeom prst="rect">
            <a:avLst/>
          </a:prstGeom>
          <a:noFill/>
          <a:ln/>
        </p:spPr>
        <p:txBody>
          <a:bodyPr wrap="square" lIns="0" tIns="0" rIns="0" bIns="0" rtlCol="0" anchor="t"/>
          <a:lstStyle/>
          <a:p>
            <a:pPr algn="l" indent="0" marL="0">
              <a:buNone/>
            </a:pPr>
            <a:r>
              <a:rPr lang="en-US" sz="1600" b="1" dirty="0">
                <a:solidFill>
                  <a:srgbClr val="0284C7"/>
                </a:solidFill>
                <a:latin typeface="Calibri" pitchFamily="34" charset="0"/>
                <a:ea typeface="Calibri" pitchFamily="34" charset="-122"/>
                <a:cs typeface="Calibri" pitchFamily="34" charset="-120"/>
              </a:rPr>
              <a:t>You get</a:t>
            </a:r>
            <a:endParaRPr lang="en-US" sz="1600" dirty="0"/>
          </a:p>
        </p:txBody>
      </p:sp>
      <p:sp>
        <p:nvSpPr>
          <p:cNvPr id="17" name="Text 13"/>
          <p:cNvSpPr txBox="1"/>
          <p:nvPr/>
        </p:nvSpPr>
        <p:spPr>
          <a:xfrm>
            <a:off x="6172200" y="2103120"/>
            <a:ext cx="237744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1B3A"/>
                </a:solidFill>
                <a:latin typeface="Calibri" pitchFamily="34" charset="0"/>
                <a:ea typeface="Calibri" pitchFamily="34" charset="-122"/>
                <a:cs typeface="Calibri" pitchFamily="34" charset="-120"/>
              </a:rPr>
              <a:t>Match and readiness scores</a:t>
            </a:r>
            <a:endParaRPr lang="en-US" sz="1250" dirty="0"/>
          </a:p>
          <a:p>
            <a:pPr marL="342900" indent="-342900">
              <a:spcAft>
                <a:spcPts val="600"/>
              </a:spcAft>
              <a:buSzPct val="100000"/>
              <a:buChar char="•"/>
            </a:pPr>
            <a:r>
              <a:rPr lang="en-US" sz="1250" dirty="0">
                <a:solidFill>
                  <a:srgbClr val="1E1B3A"/>
                </a:solidFill>
                <a:latin typeface="Calibri" pitchFamily="34" charset="0"/>
                <a:ea typeface="Calibri" pitchFamily="34" charset="-122"/>
                <a:cs typeface="Calibri" pitchFamily="34" charset="-120"/>
              </a:rPr>
              <a:t>10 tailored questions with model answers</a:t>
            </a:r>
            <a:endParaRPr lang="en-US" sz="1250" dirty="0"/>
          </a:p>
          <a:p>
            <a:pPr marL="342900" indent="-342900">
              <a:spcAft>
                <a:spcPts val="600"/>
              </a:spcAft>
              <a:buSzPct val="100000"/>
              <a:buChar char="•"/>
            </a:pPr>
            <a:r>
              <a:rPr lang="en-US" sz="1250" dirty="0">
                <a:solidFill>
                  <a:srgbClr val="1E1B3A"/>
                </a:solidFill>
                <a:latin typeface="Calibri" pitchFamily="34" charset="0"/>
                <a:ea typeface="Calibri" pitchFamily="34" charset="-122"/>
                <a:cs typeface="Calibri" pitchFamily="34" charset="-120"/>
              </a:rPr>
              <a:t>Skill gaps with severity</a:t>
            </a:r>
            <a:endParaRPr lang="en-US" sz="1250" dirty="0"/>
          </a:p>
          <a:p>
            <a:pPr marL="342900" indent="-342900">
              <a:spcAft>
                <a:spcPts val="600"/>
              </a:spcAft>
              <a:buSzPct val="100000"/>
              <a:buChar char="•"/>
            </a:pPr>
            <a:r>
              <a:rPr lang="en-US" sz="1250" dirty="0">
                <a:solidFill>
                  <a:srgbClr val="1E1B3A"/>
                </a:solidFill>
                <a:latin typeface="Calibri" pitchFamily="34" charset="0"/>
                <a:ea typeface="Calibri" pitchFamily="34" charset="-122"/>
                <a:cs typeface="Calibri" pitchFamily="34" charset="-120"/>
              </a:rPr>
              <a:t>5 day preparation plan</a:t>
            </a:r>
            <a:endParaRPr lang="en-US" sz="1250" dirty="0"/>
          </a:p>
          <a:p>
            <a:pPr marL="342900" indent="-342900">
              <a:spcAft>
                <a:spcPts val="600"/>
              </a:spcAft>
              <a:buSzPct val="100000"/>
              <a:buChar char="•"/>
            </a:pPr>
            <a:r>
              <a:rPr lang="en-US" sz="1250" dirty="0">
                <a:solidFill>
                  <a:srgbClr val="1E1B3A"/>
                </a:solidFill>
                <a:latin typeface="Calibri" pitchFamily="34" charset="0"/>
                <a:ea typeface="Calibri" pitchFamily="34" charset="-122"/>
                <a:cs typeface="Calibri" pitchFamily="34" charset="-120"/>
              </a:rPr>
              <a:t>Voice, code and STAR practice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4</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Core Feature: AI Interview Report</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From raw inputs to a validated, structured report</a:t>
            </a:r>
            <a:endParaRPr lang="en-US" sz="1300" dirty="0"/>
          </a:p>
        </p:txBody>
      </p:sp>
      <p:sp>
        <p:nvSpPr>
          <p:cNvPr id="7" name="Shape 4"/>
          <p:cNvSpPr/>
          <p:nvPr/>
        </p:nvSpPr>
        <p:spPr>
          <a:xfrm>
            <a:off x="457200" y="1417320"/>
            <a:ext cx="3017520" cy="3108960"/>
          </a:xfrm>
          <a:prstGeom prst="roundRect">
            <a:avLst>
              <a:gd name="adj" fmla="val 3636"/>
            </a:avLst>
          </a:prstGeom>
          <a:solidFill>
            <a:srgbClr val="F3F1FA"/>
          </a:solidFill>
          <a:ln w="12700">
            <a:solidFill>
              <a:srgbClr val="F3F1FA"/>
            </a:solidFill>
            <a:prstDash val="solid"/>
          </a:ln>
        </p:spPr>
      </p:sp>
      <p:sp>
        <p:nvSpPr>
          <p:cNvPr id="8" name="Shape 5"/>
          <p:cNvSpPr/>
          <p:nvPr/>
        </p:nvSpPr>
        <p:spPr>
          <a:xfrm>
            <a:off x="685800" y="1600200"/>
            <a:ext cx="411480" cy="411480"/>
          </a:xfrm>
          <a:prstGeom prst="roundRect">
            <a:avLst>
              <a:gd name="adj" fmla="val 22222"/>
            </a:avLst>
          </a:prstGeom>
          <a:solidFill>
            <a:srgbClr val="7C3AED"/>
          </a:solidFill>
          <a:ln w="12700">
            <a:solidFill>
              <a:srgbClr val="7C3AED"/>
            </a:solidFill>
            <a:prstDash val="solid"/>
          </a:ln>
        </p:spPr>
      </p:sp>
      <p:pic>
        <p:nvPicPr>
          <p:cNvPr id="9" name="Image 0" descr="preencoded.png">    </p:cNvPr>
          <p:cNvPicPr>
            <a:picLocks noChangeAspect="1"/>
          </p:cNvPicPr>
          <p:nvPr/>
        </p:nvPicPr>
        <p:blipFill>
          <a:blip r:embed="rId1"/>
          <a:stretch>
            <a:fillRect/>
          </a:stretch>
        </p:blipFill>
        <p:spPr>
          <a:xfrm>
            <a:off x="776326" y="1690726"/>
            <a:ext cx="230429" cy="230429"/>
          </a:xfrm>
          <a:prstGeom prst="rect">
            <a:avLst/>
          </a:prstGeom>
        </p:spPr>
      </p:pic>
      <p:sp>
        <p:nvSpPr>
          <p:cNvPr id="10" name="Text 6"/>
          <p:cNvSpPr txBox="1"/>
          <p:nvPr/>
        </p:nvSpPr>
        <p:spPr>
          <a:xfrm>
            <a:off x="1234440" y="1645920"/>
            <a:ext cx="1828800" cy="365760"/>
          </a:xfrm>
          <a:prstGeom prst="rect">
            <a:avLst/>
          </a:prstGeom>
          <a:noFill/>
          <a:ln/>
        </p:spPr>
        <p:txBody>
          <a:bodyPr wrap="square" lIns="0" tIns="0" rIns="0" bIns="0" rtlCol="0" anchor="t"/>
          <a:lstStyle/>
          <a:p>
            <a:pPr algn="l" indent="0" marL="0">
              <a:buNone/>
            </a:pPr>
            <a:r>
              <a:rPr lang="en-US" sz="1500" b="1" dirty="0">
                <a:solidFill>
                  <a:srgbClr val="1E1B3A"/>
                </a:solidFill>
                <a:latin typeface="Calibri" pitchFamily="34" charset="0"/>
                <a:ea typeface="Calibri" pitchFamily="34" charset="-122"/>
                <a:cs typeface="Calibri" pitchFamily="34" charset="-120"/>
              </a:rPr>
              <a:t>Inputs</a:t>
            </a:r>
            <a:endParaRPr lang="en-US" sz="1500" dirty="0"/>
          </a:p>
        </p:txBody>
      </p:sp>
      <p:sp>
        <p:nvSpPr>
          <p:cNvPr id="11" name="Text 7"/>
          <p:cNvSpPr txBox="1"/>
          <p:nvPr/>
        </p:nvSpPr>
        <p:spPr>
          <a:xfrm>
            <a:off x="685800" y="2194560"/>
            <a:ext cx="2651760" cy="22860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E1B3A"/>
                </a:solidFill>
                <a:latin typeface="Calibri" pitchFamily="34" charset="0"/>
                <a:ea typeface="Calibri" pitchFamily="34" charset="-122"/>
                <a:cs typeface="Calibri" pitchFamily="34" charset="-120"/>
              </a:rPr>
              <a:t>PDF resume, parsed server side (5 MB limit)</a:t>
            </a:r>
            <a:endParaRPr lang="en-US" sz="1150" dirty="0"/>
          </a:p>
          <a:p>
            <a:pPr marL="342900" indent="-342900">
              <a:spcAft>
                <a:spcPts val="500"/>
              </a:spcAft>
              <a:buSzPct val="100000"/>
              <a:buChar char="•"/>
            </a:pPr>
            <a:r>
              <a:rPr lang="en-US" sz="1150" dirty="0">
                <a:solidFill>
                  <a:srgbClr val="1E1B3A"/>
                </a:solidFill>
                <a:latin typeface="Calibri" pitchFamily="34" charset="0"/>
                <a:ea typeface="Calibri" pitchFamily="34" charset="-122"/>
                <a:cs typeface="Calibri" pitchFamily="34" charset="-120"/>
              </a:rPr>
              <a:t>Job description and self description</a:t>
            </a:r>
            <a:endParaRPr lang="en-US" sz="1150" dirty="0"/>
          </a:p>
          <a:p>
            <a:pPr marL="342900" indent="-342900">
              <a:spcAft>
                <a:spcPts val="500"/>
              </a:spcAft>
              <a:buSzPct val="100000"/>
              <a:buChar char="•"/>
            </a:pPr>
            <a:r>
              <a:rPr lang="en-US" sz="1150" dirty="0">
                <a:solidFill>
                  <a:srgbClr val="1E1B3A"/>
                </a:solidFill>
                <a:latin typeface="Calibri" pitchFamily="34" charset="0"/>
                <a:ea typeface="Calibri" pitchFamily="34" charset="-122"/>
                <a:cs typeface="Calibri" pitchFamily="34" charset="-120"/>
              </a:rPr>
              <a:t>Target company and interview date</a:t>
            </a:r>
            <a:endParaRPr lang="en-US" sz="1150" dirty="0"/>
          </a:p>
          <a:p>
            <a:pPr marL="342900" indent="-342900">
              <a:spcAft>
                <a:spcPts val="500"/>
              </a:spcAft>
              <a:buSzPct val="100000"/>
              <a:buChar char="•"/>
            </a:pPr>
            <a:r>
              <a:rPr lang="en-US" sz="1150" dirty="0">
                <a:solidFill>
                  <a:srgbClr val="1E1B3A"/>
                </a:solidFill>
                <a:latin typeface="Calibri" pitchFamily="34" charset="0"/>
                <a:ea typeface="Calibri" pitchFamily="34" charset="-122"/>
                <a:cs typeface="Calibri" pitchFamily="34" charset="-120"/>
              </a:rPr>
              <a:t>Language: English, Hindi, Hinglish</a:t>
            </a:r>
            <a:endParaRPr lang="en-US" sz="1150" dirty="0"/>
          </a:p>
          <a:p>
            <a:pPr marL="342900" indent="-342900">
              <a:spcAft>
                <a:spcPts val="500"/>
              </a:spcAft>
              <a:buSzPct val="100000"/>
              <a:buChar char="•"/>
            </a:pPr>
            <a:r>
              <a:rPr lang="en-US" sz="1150" dirty="0">
                <a:solidFill>
                  <a:srgbClr val="1E1B3A"/>
                </a:solidFill>
                <a:latin typeface="Calibri" pitchFamily="34" charset="0"/>
                <a:ea typeface="Calibri" pitchFamily="34" charset="-122"/>
                <a:cs typeface="Calibri" pitchFamily="34" charset="-120"/>
              </a:rPr>
              <a:t>Optional coding profile handles</a:t>
            </a:r>
            <a:endParaRPr lang="en-US" sz="1150" dirty="0"/>
          </a:p>
        </p:txBody>
      </p:sp>
      <p:sp>
        <p:nvSpPr>
          <p:cNvPr id="12" name="Shape 8"/>
          <p:cNvSpPr/>
          <p:nvPr/>
        </p:nvSpPr>
        <p:spPr>
          <a:xfrm>
            <a:off x="3703320" y="1417320"/>
            <a:ext cx="2377440" cy="932688"/>
          </a:xfrm>
          <a:prstGeom prst="roundRect">
            <a:avLst>
              <a:gd name="adj" fmla="val 11765"/>
            </a:avLst>
          </a:prstGeom>
          <a:solidFill>
            <a:srgbClr val="EDE9FE"/>
          </a:solidFill>
          <a:ln w="12700">
            <a:solidFill>
              <a:srgbClr val="EDE9FE"/>
            </a:solidFill>
            <a:prstDash val="solid"/>
          </a:ln>
        </p:spPr>
      </p:sp>
      <p:sp>
        <p:nvSpPr>
          <p:cNvPr id="13" name="Text 9"/>
          <p:cNvSpPr txBox="1"/>
          <p:nvPr/>
        </p:nvSpPr>
        <p:spPr>
          <a:xfrm>
            <a:off x="3867912" y="1527048"/>
            <a:ext cx="2103120" cy="320040"/>
          </a:xfrm>
          <a:prstGeom prst="rect">
            <a:avLst/>
          </a:prstGeom>
          <a:noFill/>
          <a:ln/>
        </p:spPr>
        <p:txBody>
          <a:bodyPr wrap="square" lIns="0" tIns="0" rIns="0" bIns="0" rtlCol="0" anchor="t"/>
          <a:lstStyle/>
          <a:p>
            <a:pPr algn="l" indent="0" marL="0">
              <a:buNone/>
            </a:pPr>
            <a:r>
              <a:rPr lang="en-US" sz="1300" b="1" dirty="0">
                <a:solidFill>
                  <a:srgbClr val="0284C7"/>
                </a:solidFill>
                <a:latin typeface="Calibri" pitchFamily="34" charset="0"/>
                <a:ea typeface="Calibri" pitchFamily="34" charset="-122"/>
                <a:cs typeface="Calibri" pitchFamily="34" charset="-120"/>
              </a:rPr>
              <a:t>Match score</a:t>
            </a:r>
            <a:endParaRPr lang="en-US" sz="1300" dirty="0"/>
          </a:p>
        </p:txBody>
      </p:sp>
      <p:sp>
        <p:nvSpPr>
          <p:cNvPr id="14" name="Text 10"/>
          <p:cNvSpPr txBox="1"/>
          <p:nvPr/>
        </p:nvSpPr>
        <p:spPr>
          <a:xfrm>
            <a:off x="3867912" y="1847088"/>
            <a:ext cx="2103120" cy="457200"/>
          </a:xfrm>
          <a:prstGeom prst="rect">
            <a:avLst/>
          </a:prstGeom>
          <a:noFill/>
          <a:ln/>
        </p:spPr>
        <p:txBody>
          <a:bodyPr wrap="square" lIns="0" tIns="0" rIns="0" bIns="0" rtlCol="0" anchor="t"/>
          <a:lstStyle/>
          <a:p>
            <a:pPr algn="l" indent="0" marL="0">
              <a:buNone/>
            </a:pPr>
            <a:r>
              <a:rPr lang="en-US" sz="1050" dirty="0">
                <a:solidFill>
                  <a:srgbClr val="5B5A72"/>
                </a:solidFill>
                <a:latin typeface="Calibri" pitchFamily="34" charset="0"/>
                <a:ea typeface="Calibri" pitchFamily="34" charset="-122"/>
                <a:cs typeface="Calibri" pitchFamily="34" charset="-120"/>
              </a:rPr>
              <a:t>Resume vs. job fit, 0 to 100</a:t>
            </a:r>
            <a:endParaRPr lang="en-US" sz="1050" dirty="0"/>
          </a:p>
        </p:txBody>
      </p:sp>
      <p:sp>
        <p:nvSpPr>
          <p:cNvPr id="15" name="Shape 11"/>
          <p:cNvSpPr/>
          <p:nvPr/>
        </p:nvSpPr>
        <p:spPr>
          <a:xfrm>
            <a:off x="6217920" y="1417320"/>
            <a:ext cx="2377440" cy="932688"/>
          </a:xfrm>
          <a:prstGeom prst="roundRect">
            <a:avLst>
              <a:gd name="adj" fmla="val 11765"/>
            </a:avLst>
          </a:prstGeom>
          <a:solidFill>
            <a:srgbClr val="EDE9FE"/>
          </a:solidFill>
          <a:ln w="12700">
            <a:solidFill>
              <a:srgbClr val="EDE9FE"/>
            </a:solidFill>
            <a:prstDash val="solid"/>
          </a:ln>
        </p:spPr>
      </p:sp>
      <p:sp>
        <p:nvSpPr>
          <p:cNvPr id="16" name="Text 12"/>
          <p:cNvSpPr txBox="1"/>
          <p:nvPr/>
        </p:nvSpPr>
        <p:spPr>
          <a:xfrm>
            <a:off x="6382512" y="1527048"/>
            <a:ext cx="2103120" cy="320040"/>
          </a:xfrm>
          <a:prstGeom prst="rect">
            <a:avLst/>
          </a:prstGeom>
          <a:noFill/>
          <a:ln/>
        </p:spPr>
        <p:txBody>
          <a:bodyPr wrap="square" lIns="0" tIns="0" rIns="0" bIns="0" rtlCol="0" anchor="t"/>
          <a:lstStyle/>
          <a:p>
            <a:pPr algn="l" indent="0" marL="0">
              <a:buNone/>
            </a:pPr>
            <a:r>
              <a:rPr lang="en-US" sz="1300" b="1" dirty="0">
                <a:solidFill>
                  <a:srgbClr val="0284C7"/>
                </a:solidFill>
                <a:latin typeface="Calibri" pitchFamily="34" charset="0"/>
                <a:ea typeface="Calibri" pitchFamily="34" charset="-122"/>
                <a:cs typeface="Calibri" pitchFamily="34" charset="-120"/>
              </a:rPr>
              <a:t>Readiness score</a:t>
            </a:r>
            <a:endParaRPr lang="en-US" sz="1300" dirty="0"/>
          </a:p>
        </p:txBody>
      </p:sp>
      <p:sp>
        <p:nvSpPr>
          <p:cNvPr id="17" name="Text 13"/>
          <p:cNvSpPr txBox="1"/>
          <p:nvPr/>
        </p:nvSpPr>
        <p:spPr>
          <a:xfrm>
            <a:off x="6382512" y="1847088"/>
            <a:ext cx="2103120" cy="457200"/>
          </a:xfrm>
          <a:prstGeom prst="rect">
            <a:avLst/>
          </a:prstGeom>
          <a:noFill/>
          <a:ln/>
        </p:spPr>
        <p:txBody>
          <a:bodyPr wrap="square" lIns="0" tIns="0" rIns="0" bIns="0" rtlCol="0" anchor="t"/>
          <a:lstStyle/>
          <a:p>
            <a:pPr algn="l" indent="0" marL="0">
              <a:buNone/>
            </a:pPr>
            <a:r>
              <a:rPr lang="en-US" sz="1050" dirty="0">
                <a:solidFill>
                  <a:srgbClr val="5B5A72"/>
                </a:solidFill>
                <a:latin typeface="Calibri" pitchFamily="34" charset="0"/>
                <a:ea typeface="Calibri" pitchFamily="34" charset="-122"/>
                <a:cs typeface="Calibri" pitchFamily="34" charset="-120"/>
              </a:rPr>
              <a:t>Overall preparedness, 0 to 100</a:t>
            </a:r>
            <a:endParaRPr lang="en-US" sz="1050" dirty="0"/>
          </a:p>
        </p:txBody>
      </p:sp>
      <p:sp>
        <p:nvSpPr>
          <p:cNvPr id="18" name="Shape 14"/>
          <p:cNvSpPr/>
          <p:nvPr/>
        </p:nvSpPr>
        <p:spPr>
          <a:xfrm>
            <a:off x="3703320" y="2468880"/>
            <a:ext cx="2377440" cy="932688"/>
          </a:xfrm>
          <a:prstGeom prst="roundRect">
            <a:avLst>
              <a:gd name="adj" fmla="val 11765"/>
            </a:avLst>
          </a:prstGeom>
          <a:solidFill>
            <a:srgbClr val="EDE9FE"/>
          </a:solidFill>
          <a:ln w="12700">
            <a:solidFill>
              <a:srgbClr val="EDE9FE"/>
            </a:solidFill>
            <a:prstDash val="solid"/>
          </a:ln>
        </p:spPr>
      </p:sp>
      <p:sp>
        <p:nvSpPr>
          <p:cNvPr id="19" name="Text 15"/>
          <p:cNvSpPr txBox="1"/>
          <p:nvPr/>
        </p:nvSpPr>
        <p:spPr>
          <a:xfrm>
            <a:off x="3867912" y="2578608"/>
            <a:ext cx="2103120" cy="320040"/>
          </a:xfrm>
          <a:prstGeom prst="rect">
            <a:avLst/>
          </a:prstGeom>
          <a:noFill/>
          <a:ln/>
        </p:spPr>
        <p:txBody>
          <a:bodyPr wrap="square" lIns="0" tIns="0" rIns="0" bIns="0" rtlCol="0" anchor="t"/>
          <a:lstStyle/>
          <a:p>
            <a:pPr algn="l" indent="0" marL="0">
              <a:buNone/>
            </a:pPr>
            <a:r>
              <a:rPr lang="en-US" sz="1300" b="1" dirty="0">
                <a:solidFill>
                  <a:srgbClr val="0284C7"/>
                </a:solidFill>
                <a:latin typeface="Calibri" pitchFamily="34" charset="0"/>
                <a:ea typeface="Calibri" pitchFamily="34" charset="-122"/>
                <a:cs typeface="Calibri" pitchFamily="34" charset="-120"/>
              </a:rPr>
              <a:t>5 technical questions</a:t>
            </a:r>
            <a:endParaRPr lang="en-US" sz="1300" dirty="0"/>
          </a:p>
        </p:txBody>
      </p:sp>
      <p:sp>
        <p:nvSpPr>
          <p:cNvPr id="20" name="Text 16"/>
          <p:cNvSpPr txBox="1"/>
          <p:nvPr/>
        </p:nvSpPr>
        <p:spPr>
          <a:xfrm>
            <a:off x="3867912" y="2898648"/>
            <a:ext cx="2103120" cy="457200"/>
          </a:xfrm>
          <a:prstGeom prst="rect">
            <a:avLst/>
          </a:prstGeom>
          <a:noFill/>
          <a:ln/>
        </p:spPr>
        <p:txBody>
          <a:bodyPr wrap="square" lIns="0" tIns="0" rIns="0" bIns="0" rtlCol="0" anchor="t"/>
          <a:lstStyle/>
          <a:p>
            <a:pPr algn="l" indent="0" marL="0">
              <a:buNone/>
            </a:pPr>
            <a:r>
              <a:rPr lang="en-US" sz="1050" dirty="0">
                <a:solidFill>
                  <a:srgbClr val="5B5A72"/>
                </a:solidFill>
                <a:latin typeface="Calibri" pitchFamily="34" charset="0"/>
                <a:ea typeface="Calibri" pitchFamily="34" charset="-122"/>
                <a:cs typeface="Calibri" pitchFamily="34" charset="-120"/>
              </a:rPr>
              <a:t>Difficulty, intention, answer, model answer, test cases</a:t>
            </a:r>
            <a:endParaRPr lang="en-US" sz="1050" dirty="0"/>
          </a:p>
        </p:txBody>
      </p:sp>
      <p:sp>
        <p:nvSpPr>
          <p:cNvPr id="21" name="Shape 17"/>
          <p:cNvSpPr/>
          <p:nvPr/>
        </p:nvSpPr>
        <p:spPr>
          <a:xfrm>
            <a:off x="6217920" y="2468880"/>
            <a:ext cx="2377440" cy="932688"/>
          </a:xfrm>
          <a:prstGeom prst="roundRect">
            <a:avLst>
              <a:gd name="adj" fmla="val 11765"/>
            </a:avLst>
          </a:prstGeom>
          <a:solidFill>
            <a:srgbClr val="EDE9FE"/>
          </a:solidFill>
          <a:ln w="12700">
            <a:solidFill>
              <a:srgbClr val="EDE9FE"/>
            </a:solidFill>
            <a:prstDash val="solid"/>
          </a:ln>
        </p:spPr>
      </p:sp>
      <p:sp>
        <p:nvSpPr>
          <p:cNvPr id="22" name="Text 18"/>
          <p:cNvSpPr txBox="1"/>
          <p:nvPr/>
        </p:nvSpPr>
        <p:spPr>
          <a:xfrm>
            <a:off x="6382512" y="2578608"/>
            <a:ext cx="2103120" cy="320040"/>
          </a:xfrm>
          <a:prstGeom prst="rect">
            <a:avLst/>
          </a:prstGeom>
          <a:noFill/>
          <a:ln/>
        </p:spPr>
        <p:txBody>
          <a:bodyPr wrap="square" lIns="0" tIns="0" rIns="0" bIns="0" rtlCol="0" anchor="t"/>
          <a:lstStyle/>
          <a:p>
            <a:pPr algn="l" indent="0" marL="0">
              <a:buNone/>
            </a:pPr>
            <a:r>
              <a:rPr lang="en-US" sz="1300" b="1" dirty="0">
                <a:solidFill>
                  <a:srgbClr val="0284C7"/>
                </a:solidFill>
                <a:latin typeface="Calibri" pitchFamily="34" charset="0"/>
                <a:ea typeface="Calibri" pitchFamily="34" charset="-122"/>
                <a:cs typeface="Calibri" pitchFamily="34" charset="-120"/>
              </a:rPr>
              <a:t>5 behavioural questions</a:t>
            </a:r>
            <a:endParaRPr lang="en-US" sz="1300" dirty="0"/>
          </a:p>
        </p:txBody>
      </p:sp>
      <p:sp>
        <p:nvSpPr>
          <p:cNvPr id="23" name="Text 19"/>
          <p:cNvSpPr txBox="1"/>
          <p:nvPr/>
        </p:nvSpPr>
        <p:spPr>
          <a:xfrm>
            <a:off x="6382512" y="2898648"/>
            <a:ext cx="2103120" cy="457200"/>
          </a:xfrm>
          <a:prstGeom prst="rect">
            <a:avLst/>
          </a:prstGeom>
          <a:noFill/>
          <a:ln/>
        </p:spPr>
        <p:txBody>
          <a:bodyPr wrap="square" lIns="0" tIns="0" rIns="0" bIns="0" rtlCol="0" anchor="t"/>
          <a:lstStyle/>
          <a:p>
            <a:pPr algn="l" indent="0" marL="0">
              <a:buNone/>
            </a:pPr>
            <a:r>
              <a:rPr lang="en-US" sz="1050" dirty="0">
                <a:solidFill>
                  <a:srgbClr val="5B5A72"/>
                </a:solidFill>
                <a:latin typeface="Calibri" pitchFamily="34" charset="0"/>
                <a:ea typeface="Calibri" pitchFamily="34" charset="-122"/>
                <a:cs typeface="Calibri" pitchFamily="34" charset="-120"/>
              </a:rPr>
              <a:t>Company style, STAR ready</a:t>
            </a:r>
            <a:endParaRPr lang="en-US" sz="1050" dirty="0"/>
          </a:p>
        </p:txBody>
      </p:sp>
      <p:sp>
        <p:nvSpPr>
          <p:cNvPr id="24" name="Shape 20"/>
          <p:cNvSpPr/>
          <p:nvPr/>
        </p:nvSpPr>
        <p:spPr>
          <a:xfrm>
            <a:off x="3703320" y="3520440"/>
            <a:ext cx="2377440" cy="932688"/>
          </a:xfrm>
          <a:prstGeom prst="roundRect">
            <a:avLst>
              <a:gd name="adj" fmla="val 11765"/>
            </a:avLst>
          </a:prstGeom>
          <a:solidFill>
            <a:srgbClr val="EDE9FE"/>
          </a:solidFill>
          <a:ln w="12700">
            <a:solidFill>
              <a:srgbClr val="EDE9FE"/>
            </a:solidFill>
            <a:prstDash val="solid"/>
          </a:ln>
        </p:spPr>
      </p:sp>
      <p:sp>
        <p:nvSpPr>
          <p:cNvPr id="25" name="Text 21"/>
          <p:cNvSpPr txBox="1"/>
          <p:nvPr/>
        </p:nvSpPr>
        <p:spPr>
          <a:xfrm>
            <a:off x="3867912" y="3630168"/>
            <a:ext cx="2103120" cy="320040"/>
          </a:xfrm>
          <a:prstGeom prst="rect">
            <a:avLst/>
          </a:prstGeom>
          <a:noFill/>
          <a:ln/>
        </p:spPr>
        <p:txBody>
          <a:bodyPr wrap="square" lIns="0" tIns="0" rIns="0" bIns="0" rtlCol="0" anchor="t"/>
          <a:lstStyle/>
          <a:p>
            <a:pPr algn="l" indent="0" marL="0">
              <a:buNone/>
            </a:pPr>
            <a:r>
              <a:rPr lang="en-US" sz="1300" b="1" dirty="0">
                <a:solidFill>
                  <a:srgbClr val="0284C7"/>
                </a:solidFill>
                <a:latin typeface="Calibri" pitchFamily="34" charset="0"/>
                <a:ea typeface="Calibri" pitchFamily="34" charset="-122"/>
                <a:cs typeface="Calibri" pitchFamily="34" charset="-120"/>
              </a:rPr>
              <a:t>3 to 5 skill gaps</a:t>
            </a:r>
            <a:endParaRPr lang="en-US" sz="1300" dirty="0"/>
          </a:p>
        </p:txBody>
      </p:sp>
      <p:sp>
        <p:nvSpPr>
          <p:cNvPr id="26" name="Text 22"/>
          <p:cNvSpPr txBox="1"/>
          <p:nvPr/>
        </p:nvSpPr>
        <p:spPr>
          <a:xfrm>
            <a:off x="3867912" y="3950208"/>
            <a:ext cx="2103120" cy="457200"/>
          </a:xfrm>
          <a:prstGeom prst="rect">
            <a:avLst/>
          </a:prstGeom>
          <a:noFill/>
          <a:ln/>
        </p:spPr>
        <p:txBody>
          <a:bodyPr wrap="square" lIns="0" tIns="0" rIns="0" bIns="0" rtlCol="0" anchor="t"/>
          <a:lstStyle/>
          <a:p>
            <a:pPr algn="l" indent="0" marL="0">
              <a:buNone/>
            </a:pPr>
            <a:r>
              <a:rPr lang="en-US" sz="1050" dirty="0">
                <a:solidFill>
                  <a:srgbClr val="5B5A72"/>
                </a:solidFill>
                <a:latin typeface="Calibri" pitchFamily="34" charset="0"/>
                <a:ea typeface="Calibri" pitchFamily="34" charset="-122"/>
                <a:cs typeface="Calibri" pitchFamily="34" charset="-120"/>
              </a:rPr>
              <a:t>Low, medium or high severity</a:t>
            </a:r>
            <a:endParaRPr lang="en-US" sz="1050" dirty="0"/>
          </a:p>
        </p:txBody>
      </p:sp>
      <p:sp>
        <p:nvSpPr>
          <p:cNvPr id="27" name="Shape 23"/>
          <p:cNvSpPr/>
          <p:nvPr/>
        </p:nvSpPr>
        <p:spPr>
          <a:xfrm>
            <a:off x="6217920" y="3520440"/>
            <a:ext cx="2377440" cy="932688"/>
          </a:xfrm>
          <a:prstGeom prst="roundRect">
            <a:avLst>
              <a:gd name="adj" fmla="val 11765"/>
            </a:avLst>
          </a:prstGeom>
          <a:solidFill>
            <a:srgbClr val="EDE9FE"/>
          </a:solidFill>
          <a:ln w="12700">
            <a:solidFill>
              <a:srgbClr val="EDE9FE"/>
            </a:solidFill>
            <a:prstDash val="solid"/>
          </a:ln>
        </p:spPr>
      </p:sp>
      <p:sp>
        <p:nvSpPr>
          <p:cNvPr id="28" name="Text 24"/>
          <p:cNvSpPr txBox="1"/>
          <p:nvPr/>
        </p:nvSpPr>
        <p:spPr>
          <a:xfrm>
            <a:off x="6382512" y="3630168"/>
            <a:ext cx="2103120" cy="320040"/>
          </a:xfrm>
          <a:prstGeom prst="rect">
            <a:avLst/>
          </a:prstGeom>
          <a:noFill/>
          <a:ln/>
        </p:spPr>
        <p:txBody>
          <a:bodyPr wrap="square" lIns="0" tIns="0" rIns="0" bIns="0" rtlCol="0" anchor="t"/>
          <a:lstStyle/>
          <a:p>
            <a:pPr algn="l" indent="0" marL="0">
              <a:buNone/>
            </a:pPr>
            <a:r>
              <a:rPr lang="en-US" sz="1300" b="1" dirty="0">
                <a:solidFill>
                  <a:srgbClr val="0284C7"/>
                </a:solidFill>
                <a:latin typeface="Calibri" pitchFamily="34" charset="0"/>
                <a:ea typeface="Calibri" pitchFamily="34" charset="-122"/>
                <a:cs typeface="Calibri" pitchFamily="34" charset="-120"/>
              </a:rPr>
              <a:t>5 day plan</a:t>
            </a:r>
            <a:endParaRPr lang="en-US" sz="1300" dirty="0"/>
          </a:p>
        </p:txBody>
      </p:sp>
      <p:sp>
        <p:nvSpPr>
          <p:cNvPr id="29" name="Text 25"/>
          <p:cNvSpPr txBox="1"/>
          <p:nvPr/>
        </p:nvSpPr>
        <p:spPr>
          <a:xfrm>
            <a:off x="6382512" y="3950208"/>
            <a:ext cx="2103120" cy="457200"/>
          </a:xfrm>
          <a:prstGeom prst="rect">
            <a:avLst/>
          </a:prstGeom>
          <a:noFill/>
          <a:ln/>
        </p:spPr>
        <p:txBody>
          <a:bodyPr wrap="square" lIns="0" tIns="0" rIns="0" bIns="0" rtlCol="0" anchor="t"/>
          <a:lstStyle/>
          <a:p>
            <a:pPr algn="l" indent="0" marL="0">
              <a:buNone/>
            </a:pPr>
            <a:r>
              <a:rPr lang="en-US" sz="1050" dirty="0">
                <a:solidFill>
                  <a:srgbClr val="5B5A72"/>
                </a:solidFill>
                <a:latin typeface="Calibri" pitchFamily="34" charset="0"/>
                <a:ea typeface="Calibri" pitchFamily="34" charset="-122"/>
                <a:cs typeface="Calibri" pitchFamily="34" charset="-120"/>
              </a:rPr>
              <a:t>Daily focus and tasks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5</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Developer Profile Integration</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Questions grounded in the candidate's real work</a:t>
            </a:r>
            <a:endParaRPr lang="en-US" sz="1300" dirty="0"/>
          </a:p>
        </p:txBody>
      </p:sp>
      <p:sp>
        <p:nvSpPr>
          <p:cNvPr id="7" name="Shape 4"/>
          <p:cNvSpPr/>
          <p:nvPr/>
        </p:nvSpPr>
        <p:spPr>
          <a:xfrm>
            <a:off x="457200" y="1417320"/>
            <a:ext cx="4846320" cy="932688"/>
          </a:xfrm>
          <a:prstGeom prst="roundRect">
            <a:avLst>
              <a:gd name="adj" fmla="val 11765"/>
            </a:avLst>
          </a:prstGeom>
          <a:solidFill>
            <a:srgbClr val="F3F1FA"/>
          </a:solidFill>
          <a:ln w="12700">
            <a:solidFill>
              <a:srgbClr val="F3F1FA"/>
            </a:solidFill>
            <a:prstDash val="solid"/>
          </a:ln>
        </p:spPr>
      </p:sp>
      <p:sp>
        <p:nvSpPr>
          <p:cNvPr id="8" name="Shape 5"/>
          <p:cNvSpPr/>
          <p:nvPr/>
        </p:nvSpPr>
        <p:spPr>
          <a:xfrm>
            <a:off x="640080" y="1655064"/>
            <a:ext cx="457200" cy="457200"/>
          </a:xfrm>
          <a:prstGeom prst="roundRect">
            <a:avLst>
              <a:gd name="adj" fmla="val 20000"/>
            </a:avLst>
          </a:prstGeom>
          <a:solidFill>
            <a:srgbClr val="7C3AED"/>
          </a:solidFill>
          <a:ln w="12700">
            <a:solidFill>
              <a:srgbClr val="7C3AED"/>
            </a:solidFill>
            <a:prstDash val="solid"/>
          </a:ln>
        </p:spPr>
      </p:sp>
      <p:pic>
        <p:nvPicPr>
          <p:cNvPr id="9" name="Image 0" descr="preencoded.png">    </p:cNvPr>
          <p:cNvPicPr>
            <a:picLocks noChangeAspect="1"/>
          </p:cNvPicPr>
          <p:nvPr/>
        </p:nvPicPr>
        <p:blipFill>
          <a:blip r:embed="rId1"/>
          <a:stretch>
            <a:fillRect/>
          </a:stretch>
        </p:blipFill>
        <p:spPr>
          <a:xfrm>
            <a:off x="740664" y="1755648"/>
            <a:ext cx="256032" cy="256032"/>
          </a:xfrm>
          <a:prstGeom prst="rect">
            <a:avLst/>
          </a:prstGeom>
        </p:spPr>
      </p:pic>
      <p:sp>
        <p:nvSpPr>
          <p:cNvPr id="10" name="Text 6"/>
          <p:cNvSpPr txBox="1"/>
          <p:nvPr/>
        </p:nvSpPr>
        <p:spPr>
          <a:xfrm>
            <a:off x="1280160" y="1508760"/>
            <a:ext cx="3840480" cy="320040"/>
          </a:xfrm>
          <a:prstGeom prst="rect">
            <a:avLst/>
          </a:prstGeom>
          <a:noFill/>
          <a:ln/>
        </p:spPr>
        <p:txBody>
          <a:bodyPr wrap="square" lIns="0" tIns="0" rIns="0" bIns="0" rtlCol="0" anchor="t"/>
          <a:lstStyle/>
          <a:p>
            <a:pPr algn="l" indent="0" marL="0">
              <a:buNone/>
            </a:pPr>
            <a:r>
              <a:rPr lang="en-US" sz="1400" b="1" dirty="0">
                <a:solidFill>
                  <a:srgbClr val="1E1B3A"/>
                </a:solidFill>
                <a:latin typeface="Calibri" pitchFamily="34" charset="0"/>
                <a:ea typeface="Calibri" pitchFamily="34" charset="-122"/>
                <a:cs typeface="Calibri" pitchFamily="34" charset="-120"/>
              </a:rPr>
              <a:t>GitHub</a:t>
            </a:r>
            <a:endParaRPr lang="en-US" sz="1400" dirty="0"/>
          </a:p>
        </p:txBody>
      </p:sp>
      <p:sp>
        <p:nvSpPr>
          <p:cNvPr id="11" name="Text 7"/>
          <p:cNvSpPr txBox="1"/>
          <p:nvPr/>
        </p:nvSpPr>
        <p:spPr>
          <a:xfrm>
            <a:off x="1280160" y="1801368"/>
            <a:ext cx="3886200" cy="548640"/>
          </a:xfrm>
          <a:prstGeom prst="rect">
            <a:avLst/>
          </a:prstGeom>
          <a:noFill/>
          <a:ln/>
        </p:spPr>
        <p:txBody>
          <a:bodyPr wrap="square" lIns="0" tIns="0" rIns="0" bIns="0" rtlCol="0" anchor="t"/>
          <a:lstStyle/>
          <a:p>
            <a:pPr algn="l" indent="0" marL="0">
              <a:buNone/>
            </a:pPr>
            <a:r>
              <a:rPr lang="en-US" sz="1050" dirty="0">
                <a:solidFill>
                  <a:srgbClr val="5B5A72"/>
                </a:solidFill>
                <a:latin typeface="Calibri" pitchFamily="34" charset="0"/>
                <a:ea typeface="Calibri" pitchFamily="34" charset="-122"/>
                <a:cs typeface="Calibri" pitchFamily="34" charset="-120"/>
              </a:rPr>
              <a:t>Repos, languages, stars and README summaries. At least 2 of 5 technical questions target real repositories.</a:t>
            </a:r>
            <a:endParaRPr lang="en-US" sz="1050" dirty="0"/>
          </a:p>
        </p:txBody>
      </p:sp>
      <p:sp>
        <p:nvSpPr>
          <p:cNvPr id="12" name="Shape 8"/>
          <p:cNvSpPr/>
          <p:nvPr/>
        </p:nvSpPr>
        <p:spPr>
          <a:xfrm>
            <a:off x="457200" y="2468880"/>
            <a:ext cx="4846320" cy="932688"/>
          </a:xfrm>
          <a:prstGeom prst="roundRect">
            <a:avLst>
              <a:gd name="adj" fmla="val 11765"/>
            </a:avLst>
          </a:prstGeom>
          <a:solidFill>
            <a:srgbClr val="F3F1FA"/>
          </a:solidFill>
          <a:ln w="12700">
            <a:solidFill>
              <a:srgbClr val="F3F1FA"/>
            </a:solidFill>
            <a:prstDash val="solid"/>
          </a:ln>
        </p:spPr>
      </p:sp>
      <p:sp>
        <p:nvSpPr>
          <p:cNvPr id="13" name="Shape 9"/>
          <p:cNvSpPr/>
          <p:nvPr/>
        </p:nvSpPr>
        <p:spPr>
          <a:xfrm>
            <a:off x="640080" y="2706624"/>
            <a:ext cx="457200" cy="457200"/>
          </a:xfrm>
          <a:prstGeom prst="roundRect">
            <a:avLst>
              <a:gd name="adj" fmla="val 20000"/>
            </a:avLst>
          </a:prstGeom>
          <a:solidFill>
            <a:srgbClr val="7C3AED"/>
          </a:solidFill>
          <a:ln w="12700">
            <a:solidFill>
              <a:srgbClr val="7C3AED"/>
            </a:solidFill>
            <a:prstDash val="solid"/>
          </a:ln>
        </p:spPr>
      </p:sp>
      <p:pic>
        <p:nvPicPr>
          <p:cNvPr id="14" name="Image 1" descr="preencoded.png">    </p:cNvPr>
          <p:cNvPicPr>
            <a:picLocks noChangeAspect="1"/>
          </p:cNvPicPr>
          <p:nvPr/>
        </p:nvPicPr>
        <p:blipFill>
          <a:blip r:embed="rId2"/>
          <a:stretch>
            <a:fillRect/>
          </a:stretch>
        </p:blipFill>
        <p:spPr>
          <a:xfrm>
            <a:off x="740664" y="2807208"/>
            <a:ext cx="256032" cy="256032"/>
          </a:xfrm>
          <a:prstGeom prst="rect">
            <a:avLst/>
          </a:prstGeom>
        </p:spPr>
      </p:pic>
      <p:sp>
        <p:nvSpPr>
          <p:cNvPr id="15" name="Text 10"/>
          <p:cNvSpPr txBox="1"/>
          <p:nvPr/>
        </p:nvSpPr>
        <p:spPr>
          <a:xfrm>
            <a:off x="1280160" y="2560320"/>
            <a:ext cx="3840480" cy="320040"/>
          </a:xfrm>
          <a:prstGeom prst="rect">
            <a:avLst/>
          </a:prstGeom>
          <a:noFill/>
          <a:ln/>
        </p:spPr>
        <p:txBody>
          <a:bodyPr wrap="square" lIns="0" tIns="0" rIns="0" bIns="0" rtlCol="0" anchor="t"/>
          <a:lstStyle/>
          <a:p>
            <a:pPr algn="l" indent="0" marL="0">
              <a:buNone/>
            </a:pPr>
            <a:r>
              <a:rPr lang="en-US" sz="1400" b="1" dirty="0">
                <a:solidFill>
                  <a:srgbClr val="1E1B3A"/>
                </a:solidFill>
                <a:latin typeface="Calibri" pitchFamily="34" charset="0"/>
                <a:ea typeface="Calibri" pitchFamily="34" charset="-122"/>
                <a:cs typeface="Calibri" pitchFamily="34" charset="-120"/>
              </a:rPr>
              <a:t>LeetCode</a:t>
            </a:r>
            <a:endParaRPr lang="en-US" sz="1400" dirty="0"/>
          </a:p>
        </p:txBody>
      </p:sp>
      <p:sp>
        <p:nvSpPr>
          <p:cNvPr id="16" name="Text 11"/>
          <p:cNvSpPr txBox="1"/>
          <p:nvPr/>
        </p:nvSpPr>
        <p:spPr>
          <a:xfrm>
            <a:off x="1280160" y="2852928"/>
            <a:ext cx="3886200" cy="548640"/>
          </a:xfrm>
          <a:prstGeom prst="rect">
            <a:avLst/>
          </a:prstGeom>
          <a:noFill/>
          <a:ln/>
        </p:spPr>
        <p:txBody>
          <a:bodyPr wrap="square" lIns="0" tIns="0" rIns="0" bIns="0" rtlCol="0" anchor="t"/>
          <a:lstStyle/>
          <a:p>
            <a:pPr algn="l" indent="0" marL="0">
              <a:buNone/>
            </a:pPr>
            <a:r>
              <a:rPr lang="en-US" sz="1050" dirty="0">
                <a:solidFill>
                  <a:srgbClr val="5B5A72"/>
                </a:solidFill>
                <a:latin typeface="Calibri" pitchFamily="34" charset="0"/>
                <a:ea typeface="Calibri" pitchFamily="34" charset="-122"/>
                <a:cs typeface="Calibri" pitchFamily="34" charset="-120"/>
              </a:rPr>
              <a:t>Solved counts by Easy, Medium and Hard plus top topics. Weak topics get probed, strong ones get depth questions.</a:t>
            </a:r>
            <a:endParaRPr lang="en-US" sz="1050" dirty="0"/>
          </a:p>
        </p:txBody>
      </p:sp>
      <p:sp>
        <p:nvSpPr>
          <p:cNvPr id="17" name="Shape 12"/>
          <p:cNvSpPr/>
          <p:nvPr/>
        </p:nvSpPr>
        <p:spPr>
          <a:xfrm>
            <a:off x="457200" y="3520440"/>
            <a:ext cx="4846320" cy="932688"/>
          </a:xfrm>
          <a:prstGeom prst="roundRect">
            <a:avLst>
              <a:gd name="adj" fmla="val 11765"/>
            </a:avLst>
          </a:prstGeom>
          <a:solidFill>
            <a:srgbClr val="F3F1FA"/>
          </a:solidFill>
          <a:ln w="12700">
            <a:solidFill>
              <a:srgbClr val="F3F1FA"/>
            </a:solidFill>
            <a:prstDash val="solid"/>
          </a:ln>
        </p:spPr>
      </p:sp>
      <p:sp>
        <p:nvSpPr>
          <p:cNvPr id="18" name="Shape 13"/>
          <p:cNvSpPr/>
          <p:nvPr/>
        </p:nvSpPr>
        <p:spPr>
          <a:xfrm>
            <a:off x="640080" y="3758184"/>
            <a:ext cx="457200" cy="457200"/>
          </a:xfrm>
          <a:prstGeom prst="roundRect">
            <a:avLst>
              <a:gd name="adj" fmla="val 20000"/>
            </a:avLst>
          </a:prstGeom>
          <a:solidFill>
            <a:srgbClr val="7C3AED"/>
          </a:solidFill>
          <a:ln w="12700">
            <a:solidFill>
              <a:srgbClr val="7C3AED"/>
            </a:solidFill>
            <a:prstDash val="solid"/>
          </a:ln>
        </p:spPr>
      </p:sp>
      <p:pic>
        <p:nvPicPr>
          <p:cNvPr id="19" name="Image 2" descr="preencoded.png">    </p:cNvPr>
          <p:cNvPicPr>
            <a:picLocks noChangeAspect="1"/>
          </p:cNvPicPr>
          <p:nvPr/>
        </p:nvPicPr>
        <p:blipFill>
          <a:blip r:embed="rId3"/>
          <a:stretch>
            <a:fillRect/>
          </a:stretch>
        </p:blipFill>
        <p:spPr>
          <a:xfrm>
            <a:off x="740664" y="3858768"/>
            <a:ext cx="256032" cy="256032"/>
          </a:xfrm>
          <a:prstGeom prst="rect">
            <a:avLst/>
          </a:prstGeom>
        </p:spPr>
      </p:pic>
      <p:sp>
        <p:nvSpPr>
          <p:cNvPr id="20" name="Text 14"/>
          <p:cNvSpPr txBox="1"/>
          <p:nvPr/>
        </p:nvSpPr>
        <p:spPr>
          <a:xfrm>
            <a:off x="1280160" y="3611880"/>
            <a:ext cx="3840480" cy="320040"/>
          </a:xfrm>
          <a:prstGeom prst="rect">
            <a:avLst/>
          </a:prstGeom>
          <a:noFill/>
          <a:ln/>
        </p:spPr>
        <p:txBody>
          <a:bodyPr wrap="square" lIns="0" tIns="0" rIns="0" bIns="0" rtlCol="0" anchor="t"/>
          <a:lstStyle/>
          <a:p>
            <a:pPr algn="l" indent="0" marL="0">
              <a:buNone/>
            </a:pPr>
            <a:r>
              <a:rPr lang="en-US" sz="1400" b="1" dirty="0">
                <a:solidFill>
                  <a:srgbClr val="1E1B3A"/>
                </a:solidFill>
                <a:latin typeface="Calibri" pitchFamily="34" charset="0"/>
                <a:ea typeface="Calibri" pitchFamily="34" charset="-122"/>
                <a:cs typeface="Calibri" pitchFamily="34" charset="-120"/>
              </a:rPr>
              <a:t>Codeforces</a:t>
            </a:r>
            <a:endParaRPr lang="en-US" sz="1400" dirty="0"/>
          </a:p>
        </p:txBody>
      </p:sp>
      <p:sp>
        <p:nvSpPr>
          <p:cNvPr id="21" name="Text 15"/>
          <p:cNvSpPr txBox="1"/>
          <p:nvPr/>
        </p:nvSpPr>
        <p:spPr>
          <a:xfrm>
            <a:off x="1280160" y="3904488"/>
            <a:ext cx="3886200" cy="548640"/>
          </a:xfrm>
          <a:prstGeom prst="rect">
            <a:avLst/>
          </a:prstGeom>
          <a:noFill/>
          <a:ln/>
        </p:spPr>
        <p:txBody>
          <a:bodyPr wrap="square" lIns="0" tIns="0" rIns="0" bIns="0" rtlCol="0" anchor="t"/>
          <a:lstStyle/>
          <a:p>
            <a:pPr algn="l" indent="0" marL="0">
              <a:buNone/>
            </a:pPr>
            <a:r>
              <a:rPr lang="en-US" sz="1050" dirty="0">
                <a:solidFill>
                  <a:srgbClr val="5B5A72"/>
                </a:solidFill>
                <a:latin typeface="Calibri" pitchFamily="34" charset="0"/>
                <a:ea typeface="Calibri" pitchFamily="34" charset="-122"/>
                <a:cs typeface="Calibri" pitchFamily="34" charset="-120"/>
              </a:rPr>
              <a:t>Rating, max rating, rank and tag wise solved problems, merged with LeetCode into one DSA picture.</a:t>
            </a:r>
            <a:endParaRPr lang="en-US" sz="1050" dirty="0"/>
          </a:p>
        </p:txBody>
      </p:sp>
      <p:sp>
        <p:nvSpPr>
          <p:cNvPr id="22" name="Shape 16"/>
          <p:cNvSpPr/>
          <p:nvPr/>
        </p:nvSpPr>
        <p:spPr>
          <a:xfrm>
            <a:off x="5577840" y="1417320"/>
            <a:ext cx="3108960" cy="3108960"/>
          </a:xfrm>
          <a:prstGeom prst="roundRect">
            <a:avLst>
              <a:gd name="adj" fmla="val 3529"/>
            </a:avLst>
          </a:prstGeom>
          <a:solidFill>
            <a:srgbClr val="F3F1FA"/>
          </a:solidFill>
          <a:ln w="12700">
            <a:solidFill>
              <a:srgbClr val="F3F1FA"/>
            </a:solidFill>
            <a:prstDash val="solid"/>
          </a:ln>
        </p:spPr>
      </p:sp>
      <p:sp>
        <p:nvSpPr>
          <p:cNvPr id="23" name="Text 17"/>
          <p:cNvSpPr txBox="1"/>
          <p:nvPr/>
        </p:nvSpPr>
        <p:spPr>
          <a:xfrm>
            <a:off x="5760720" y="1554480"/>
            <a:ext cx="2743200" cy="274320"/>
          </a:xfrm>
          <a:prstGeom prst="rect">
            <a:avLst/>
          </a:prstGeom>
          <a:noFill/>
          <a:ln/>
        </p:spPr>
        <p:txBody>
          <a:bodyPr wrap="square" lIns="0" tIns="0" rIns="0" bIns="0" rtlCol="0" anchor="t"/>
          <a:lstStyle/>
          <a:p>
            <a:pPr algn="l" indent="0" marL="0">
              <a:buNone/>
            </a:pPr>
            <a:r>
              <a:rPr lang="en-US" sz="1200" b="1" dirty="0">
                <a:solidFill>
                  <a:srgbClr val="1E1B3A"/>
                </a:solidFill>
                <a:latin typeface="Calibri" pitchFamily="34" charset="0"/>
                <a:ea typeface="Calibri" pitchFamily="34" charset="-122"/>
                <a:cs typeface="Calibri" pitchFamily="34" charset="-120"/>
              </a:rPr>
              <a:t>Example LeetCode spread</a:t>
            </a:r>
            <a:endParaRPr lang="en-US" sz="1200" dirty="0"/>
          </a:p>
        </p:txBody>
      </p:sp>
      <p:graphicFrame>
        <p:nvGraphicFramePr>
          <p:cNvPr id="24" name="Chart 0" descr=""/>
          <p:cNvGraphicFramePr/>
          <p:nvPr/>
        </p:nvGraphicFramePr>
        <p:xfrm>
          <a:off x="5669280" y="1828800"/>
          <a:ext cx="2926080" cy="2606040"/>
        </p:xfrm>
        <a:graphic xmlns:a="http://schemas.openxmlformats.org/drawingml/2006/main">
          <a:graphicData uri="http://schemas.openxmlformats.org/drawingml/2006/chart">
            <c:chart xmlns:c="http://schemas.openxmlformats.org/drawingml/2006/chart" r:id="rId4"/>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6</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ATS Resume Scoring</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Quick match plus a five dimension detailed breakdown</a:t>
            </a:r>
            <a:endParaRPr lang="en-US" sz="1300" dirty="0"/>
          </a:p>
        </p:txBody>
      </p:sp>
      <p:sp>
        <p:nvSpPr>
          <p:cNvPr id="7" name="Shape 4"/>
          <p:cNvSpPr/>
          <p:nvPr/>
        </p:nvSpPr>
        <p:spPr>
          <a:xfrm>
            <a:off x="457200" y="1417320"/>
            <a:ext cx="2743200" cy="3108960"/>
          </a:xfrm>
          <a:prstGeom prst="roundRect">
            <a:avLst>
              <a:gd name="adj" fmla="val 4000"/>
            </a:avLst>
          </a:prstGeom>
          <a:solidFill>
            <a:srgbClr val="F3F1FA"/>
          </a:solidFill>
          <a:ln w="12700">
            <a:solidFill>
              <a:srgbClr val="F3F1FA"/>
            </a:solidFill>
            <a:prstDash val="solid"/>
          </a:ln>
        </p:spPr>
      </p:sp>
      <p:sp>
        <p:nvSpPr>
          <p:cNvPr id="8" name="Text 5"/>
          <p:cNvSpPr txBox="1"/>
          <p:nvPr/>
        </p:nvSpPr>
        <p:spPr>
          <a:xfrm>
            <a:off x="640080" y="1554480"/>
            <a:ext cx="2377440" cy="320040"/>
          </a:xfrm>
          <a:prstGeom prst="rect">
            <a:avLst/>
          </a:prstGeom>
          <a:noFill/>
          <a:ln/>
        </p:spPr>
        <p:txBody>
          <a:bodyPr wrap="square" lIns="0" tIns="0" rIns="0" bIns="0" rtlCol="0" anchor="t"/>
          <a:lstStyle/>
          <a:p>
            <a:pPr algn="l" indent="0" marL="0">
              <a:buNone/>
            </a:pPr>
            <a:r>
              <a:rPr lang="en-US" sz="1300" b="1" dirty="0">
                <a:solidFill>
                  <a:srgbClr val="1E1B3A"/>
                </a:solidFill>
                <a:latin typeface="Calibri" pitchFamily="34" charset="0"/>
                <a:ea typeface="Calibri" pitchFamily="34" charset="-122"/>
                <a:cs typeface="Calibri" pitchFamily="34" charset="-120"/>
              </a:rPr>
              <a:t>Quick ATS score</a:t>
            </a:r>
            <a:endParaRPr lang="en-US" sz="1300" dirty="0"/>
          </a:p>
        </p:txBody>
      </p:sp>
      <p:sp>
        <p:nvSpPr>
          <p:cNvPr id="9" name="Text 6"/>
          <p:cNvSpPr txBox="1"/>
          <p:nvPr/>
        </p:nvSpPr>
        <p:spPr>
          <a:xfrm>
            <a:off x="640080" y="1874520"/>
            <a:ext cx="2377440" cy="914400"/>
          </a:xfrm>
          <a:prstGeom prst="rect">
            <a:avLst/>
          </a:prstGeom>
          <a:noFill/>
          <a:ln/>
        </p:spPr>
        <p:txBody>
          <a:bodyPr wrap="square" lIns="0" tIns="0" rIns="0" bIns="0" rtlCol="0" anchor="t"/>
          <a:lstStyle/>
          <a:p>
            <a:pPr algn="l" indent="0" marL="0">
              <a:buNone/>
            </a:pPr>
            <a:r>
              <a:rPr lang="en-US" sz="6000" b="1" dirty="0">
                <a:solidFill>
                  <a:srgbClr val="0284C7"/>
                </a:solidFill>
                <a:latin typeface="Calibri" pitchFamily="34" charset="0"/>
                <a:ea typeface="Calibri" pitchFamily="34" charset="-122"/>
                <a:cs typeface="Calibri" pitchFamily="34" charset="-120"/>
              </a:rPr>
              <a:t>78%</a:t>
            </a:r>
            <a:endParaRPr lang="en-US" sz="6000" dirty="0"/>
          </a:p>
        </p:txBody>
      </p:sp>
      <p:sp>
        <p:nvSpPr>
          <p:cNvPr id="10" name="Text 7"/>
          <p:cNvSpPr txBox="1"/>
          <p:nvPr/>
        </p:nvSpPr>
        <p:spPr>
          <a:xfrm>
            <a:off x="640080" y="2788920"/>
            <a:ext cx="2377440" cy="2743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match (example)</a:t>
            </a:r>
            <a:endParaRPr lang="en-US" sz="1000" dirty="0"/>
          </a:p>
        </p:txBody>
      </p:sp>
      <p:sp>
        <p:nvSpPr>
          <p:cNvPr id="11" name="Text 8"/>
          <p:cNvSpPr txBox="1"/>
          <p:nvPr/>
        </p:nvSpPr>
        <p:spPr>
          <a:xfrm>
            <a:off x="640080" y="3154680"/>
            <a:ext cx="2377440" cy="128016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E1B3A"/>
                </a:solidFill>
                <a:latin typeface="Calibri" pitchFamily="34" charset="0"/>
                <a:ea typeface="Calibri" pitchFamily="34" charset="-122"/>
                <a:cs typeface="Calibri" pitchFamily="34" charset="-120"/>
              </a:rPr>
              <a:t>Matched keywords</a:t>
            </a:r>
            <a:endParaRPr lang="en-US" sz="1100" dirty="0"/>
          </a:p>
          <a:p>
            <a:pPr marL="342900" indent="-342900">
              <a:spcAft>
                <a:spcPts val="300"/>
              </a:spcAft>
              <a:buSzPct val="100000"/>
              <a:buChar char="•"/>
            </a:pPr>
            <a:r>
              <a:rPr lang="en-US" sz="1100" dirty="0">
                <a:solidFill>
                  <a:srgbClr val="1E1B3A"/>
                </a:solidFill>
                <a:latin typeface="Calibri" pitchFamily="34" charset="0"/>
                <a:ea typeface="Calibri" pitchFamily="34" charset="-122"/>
                <a:cs typeface="Calibri" pitchFamily="34" charset="-120"/>
              </a:rPr>
              <a:t>Missing keywords</a:t>
            </a:r>
            <a:endParaRPr lang="en-US" sz="1100" dirty="0"/>
          </a:p>
          <a:p>
            <a:pPr marL="342900" indent="-342900">
              <a:spcAft>
                <a:spcPts val="300"/>
              </a:spcAft>
              <a:buSzPct val="100000"/>
              <a:buChar char="•"/>
            </a:pPr>
            <a:r>
              <a:rPr lang="en-US" sz="1100" dirty="0">
                <a:solidFill>
                  <a:srgbClr val="1E1B3A"/>
                </a:solidFill>
                <a:latin typeface="Calibri" pitchFamily="34" charset="0"/>
                <a:ea typeface="Calibri" pitchFamily="34" charset="-122"/>
                <a:cs typeface="Calibri" pitchFamily="34" charset="-120"/>
              </a:rPr>
              <a:t>Company aware matching</a:t>
            </a:r>
            <a:endParaRPr lang="en-US" sz="1100" dirty="0"/>
          </a:p>
          <a:p>
            <a:pPr marL="342900" indent="-342900">
              <a:spcAft>
                <a:spcPts val="300"/>
              </a:spcAft>
              <a:buSzPct val="100000"/>
              <a:buChar char="•"/>
            </a:pPr>
            <a:r>
              <a:rPr lang="en-US" sz="1100" dirty="0">
                <a:solidFill>
                  <a:srgbClr val="1E1B3A"/>
                </a:solidFill>
                <a:latin typeface="Calibri" pitchFamily="34" charset="0"/>
                <a:ea typeface="Calibri" pitchFamily="34" charset="-122"/>
                <a:cs typeface="Calibri" pitchFamily="34" charset="-120"/>
              </a:rPr>
              <a:t>History per stored resume</a:t>
            </a:r>
            <a:endParaRPr lang="en-US" sz="1100" dirty="0"/>
          </a:p>
        </p:txBody>
      </p:sp>
      <p:sp>
        <p:nvSpPr>
          <p:cNvPr id="12" name="Shape 9"/>
          <p:cNvSpPr/>
          <p:nvPr/>
        </p:nvSpPr>
        <p:spPr>
          <a:xfrm>
            <a:off x="3474720" y="1417320"/>
            <a:ext cx="5212080" cy="3108960"/>
          </a:xfrm>
          <a:prstGeom prst="roundRect">
            <a:avLst>
              <a:gd name="adj" fmla="val 3529"/>
            </a:avLst>
          </a:prstGeom>
          <a:solidFill>
            <a:srgbClr val="F3F1FA"/>
          </a:solidFill>
          <a:ln w="12700">
            <a:solidFill>
              <a:srgbClr val="F3F1FA"/>
            </a:solidFill>
            <a:prstDash val="solid"/>
          </a:ln>
        </p:spPr>
      </p:sp>
      <p:sp>
        <p:nvSpPr>
          <p:cNvPr id="13" name="Text 10"/>
          <p:cNvSpPr txBox="1"/>
          <p:nvPr/>
        </p:nvSpPr>
        <p:spPr>
          <a:xfrm>
            <a:off x="3657600" y="1554480"/>
            <a:ext cx="3657600" cy="320040"/>
          </a:xfrm>
          <a:prstGeom prst="rect">
            <a:avLst/>
          </a:prstGeom>
          <a:noFill/>
          <a:ln/>
        </p:spPr>
        <p:txBody>
          <a:bodyPr wrap="square" lIns="0" tIns="0" rIns="0" bIns="0" rtlCol="0" anchor="t"/>
          <a:lstStyle/>
          <a:p>
            <a:pPr algn="l" indent="0" marL="0">
              <a:buNone/>
            </a:pPr>
            <a:r>
              <a:rPr lang="en-US" sz="1300" b="1" dirty="0">
                <a:solidFill>
                  <a:srgbClr val="1E1B3A"/>
                </a:solidFill>
                <a:latin typeface="Calibri" pitchFamily="34" charset="0"/>
                <a:ea typeface="Calibri" pitchFamily="34" charset="-122"/>
                <a:cs typeface="Calibri" pitchFamily="34" charset="-120"/>
              </a:rPr>
              <a:t>Detailed breakdown (example)</a:t>
            </a:r>
            <a:endParaRPr lang="en-US" sz="1300" dirty="0"/>
          </a:p>
        </p:txBody>
      </p:sp>
      <p:graphicFrame>
        <p:nvGraphicFramePr>
          <p:cNvPr id="14" name="Chart 0" descr=""/>
          <p:cNvGraphicFramePr/>
          <p:nvPr/>
        </p:nvGraphicFramePr>
        <p:xfrm>
          <a:off x="3566160" y="1874520"/>
          <a:ext cx="5029200" cy="2560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7</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Practice Tools Inside the Report</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Four ways to rehearse every question</a:t>
            </a:r>
            <a:endParaRPr lang="en-US" sz="1300" dirty="0"/>
          </a:p>
        </p:txBody>
      </p:sp>
      <p:sp>
        <p:nvSpPr>
          <p:cNvPr id="7" name="Shape 4"/>
          <p:cNvSpPr/>
          <p:nvPr/>
        </p:nvSpPr>
        <p:spPr>
          <a:xfrm>
            <a:off x="457200" y="1417320"/>
            <a:ext cx="4023360" cy="1417320"/>
          </a:xfrm>
          <a:prstGeom prst="roundRect">
            <a:avLst>
              <a:gd name="adj" fmla="val 7742"/>
            </a:avLst>
          </a:prstGeom>
          <a:solidFill>
            <a:srgbClr val="F3F1FA"/>
          </a:solidFill>
          <a:ln w="12700">
            <a:solidFill>
              <a:srgbClr val="F3F1FA"/>
            </a:solidFill>
            <a:prstDash val="solid"/>
          </a:ln>
        </p:spPr>
      </p:sp>
      <p:sp>
        <p:nvSpPr>
          <p:cNvPr id="8" name="Shape 5"/>
          <p:cNvSpPr/>
          <p:nvPr/>
        </p:nvSpPr>
        <p:spPr>
          <a:xfrm>
            <a:off x="640080" y="1600200"/>
            <a:ext cx="502920" cy="502920"/>
          </a:xfrm>
          <a:prstGeom prst="roundRect">
            <a:avLst>
              <a:gd name="adj" fmla="val 18182"/>
            </a:avLst>
          </a:prstGeom>
          <a:solidFill>
            <a:srgbClr val="7C3AED"/>
          </a:solidFill>
          <a:ln w="12700">
            <a:solidFill>
              <a:srgbClr val="7C3AED"/>
            </a:solidFill>
            <a:prstDash val="solid"/>
          </a:ln>
        </p:spPr>
      </p:sp>
      <p:pic>
        <p:nvPicPr>
          <p:cNvPr id="9" name="Image 0" descr="preencoded.png">    </p:cNvPr>
          <p:cNvPicPr>
            <a:picLocks noChangeAspect="1"/>
          </p:cNvPicPr>
          <p:nvPr/>
        </p:nvPicPr>
        <p:blipFill>
          <a:blip r:embed="rId1"/>
          <a:stretch>
            <a:fillRect/>
          </a:stretch>
        </p:blipFill>
        <p:spPr>
          <a:xfrm>
            <a:off x="750722" y="1710842"/>
            <a:ext cx="281635" cy="281635"/>
          </a:xfrm>
          <a:prstGeom prst="rect">
            <a:avLst/>
          </a:prstGeom>
        </p:spPr>
      </p:pic>
      <p:sp>
        <p:nvSpPr>
          <p:cNvPr id="10" name="Text 6"/>
          <p:cNvSpPr txBox="1"/>
          <p:nvPr/>
        </p:nvSpPr>
        <p:spPr>
          <a:xfrm>
            <a:off x="1325880" y="1600200"/>
            <a:ext cx="3017520" cy="365760"/>
          </a:xfrm>
          <a:prstGeom prst="rect">
            <a:avLst/>
          </a:prstGeom>
          <a:noFill/>
          <a:ln/>
        </p:spPr>
        <p:txBody>
          <a:bodyPr wrap="square" lIns="0" tIns="0" rIns="0" bIns="0" rtlCol="0" anchor="t"/>
          <a:lstStyle/>
          <a:p>
            <a:pPr algn="l" indent="0" marL="0">
              <a:buNone/>
            </a:pPr>
            <a:r>
              <a:rPr lang="en-US" sz="1500" b="1" dirty="0">
                <a:solidFill>
                  <a:srgbClr val="1E1B3A"/>
                </a:solidFill>
                <a:latin typeface="Calibri" pitchFamily="34" charset="0"/>
                <a:ea typeface="Calibri" pitchFamily="34" charset="-122"/>
                <a:cs typeface="Calibri" pitchFamily="34" charset="-120"/>
              </a:rPr>
              <a:t>STAR Answer Checker</a:t>
            </a:r>
            <a:endParaRPr lang="en-US" sz="1500" dirty="0"/>
          </a:p>
        </p:txBody>
      </p:sp>
      <p:sp>
        <p:nvSpPr>
          <p:cNvPr id="11" name="Text 7"/>
          <p:cNvSpPr txBox="1"/>
          <p:nvPr/>
        </p:nvSpPr>
        <p:spPr>
          <a:xfrm>
            <a:off x="1325880" y="1965960"/>
            <a:ext cx="2971800" cy="822960"/>
          </a:xfrm>
          <a:prstGeom prst="rect">
            <a:avLst/>
          </a:prstGeom>
          <a:noFill/>
          <a:ln/>
        </p:spPr>
        <p:txBody>
          <a:bodyPr wrap="square" lIns="0" tIns="0" rIns="0" bIns="0" rtlCol="0" anchor="t"/>
          <a:lstStyle/>
          <a:p>
            <a:pPr algn="l" indent="0" marL="0">
              <a:buNone/>
            </a:pPr>
            <a:r>
              <a:rPr lang="en-US" sz="1100" dirty="0">
                <a:solidFill>
                  <a:srgbClr val="5B5A72"/>
                </a:solidFill>
                <a:latin typeface="Calibri" pitchFamily="34" charset="0"/>
                <a:ea typeface="Calibri" pitchFamily="34" charset="-122"/>
                <a:cs typeface="Calibri" pitchFamily="34" charset="-120"/>
              </a:rPr>
              <a:t>Checks whether a behavioural answer covers Situation, Task, Action and Result, then gives improvement advice.</a:t>
            </a:r>
            <a:endParaRPr lang="en-US" sz="1100" dirty="0"/>
          </a:p>
        </p:txBody>
      </p:sp>
      <p:sp>
        <p:nvSpPr>
          <p:cNvPr id="12" name="Shape 8"/>
          <p:cNvSpPr/>
          <p:nvPr/>
        </p:nvSpPr>
        <p:spPr>
          <a:xfrm>
            <a:off x="4663440" y="1417320"/>
            <a:ext cx="4023360" cy="1417320"/>
          </a:xfrm>
          <a:prstGeom prst="roundRect">
            <a:avLst>
              <a:gd name="adj" fmla="val 7742"/>
            </a:avLst>
          </a:prstGeom>
          <a:solidFill>
            <a:srgbClr val="F3F1FA"/>
          </a:solidFill>
          <a:ln w="12700">
            <a:solidFill>
              <a:srgbClr val="F3F1FA"/>
            </a:solidFill>
            <a:prstDash val="solid"/>
          </a:ln>
        </p:spPr>
      </p:sp>
      <p:sp>
        <p:nvSpPr>
          <p:cNvPr id="13" name="Shape 9"/>
          <p:cNvSpPr/>
          <p:nvPr/>
        </p:nvSpPr>
        <p:spPr>
          <a:xfrm>
            <a:off x="4846320" y="1600200"/>
            <a:ext cx="502920" cy="502920"/>
          </a:xfrm>
          <a:prstGeom prst="roundRect">
            <a:avLst>
              <a:gd name="adj" fmla="val 18182"/>
            </a:avLst>
          </a:prstGeom>
          <a:solidFill>
            <a:srgbClr val="7C3AED"/>
          </a:solidFill>
          <a:ln w="12700">
            <a:solidFill>
              <a:srgbClr val="7C3AED"/>
            </a:solidFill>
            <a:prstDash val="solid"/>
          </a:ln>
        </p:spPr>
      </p:sp>
      <p:pic>
        <p:nvPicPr>
          <p:cNvPr id="14" name="Image 1" descr="preencoded.png">    </p:cNvPr>
          <p:cNvPicPr>
            <a:picLocks noChangeAspect="1"/>
          </p:cNvPicPr>
          <p:nvPr/>
        </p:nvPicPr>
        <p:blipFill>
          <a:blip r:embed="rId2"/>
          <a:stretch>
            <a:fillRect/>
          </a:stretch>
        </p:blipFill>
        <p:spPr>
          <a:xfrm>
            <a:off x="4956962" y="1710842"/>
            <a:ext cx="281635" cy="281635"/>
          </a:xfrm>
          <a:prstGeom prst="rect">
            <a:avLst/>
          </a:prstGeom>
        </p:spPr>
      </p:pic>
      <p:sp>
        <p:nvSpPr>
          <p:cNvPr id="15" name="Text 10"/>
          <p:cNvSpPr txBox="1"/>
          <p:nvPr/>
        </p:nvSpPr>
        <p:spPr>
          <a:xfrm>
            <a:off x="5532120" y="1600200"/>
            <a:ext cx="3017520" cy="365760"/>
          </a:xfrm>
          <a:prstGeom prst="rect">
            <a:avLst/>
          </a:prstGeom>
          <a:noFill/>
          <a:ln/>
        </p:spPr>
        <p:txBody>
          <a:bodyPr wrap="square" lIns="0" tIns="0" rIns="0" bIns="0" rtlCol="0" anchor="t"/>
          <a:lstStyle/>
          <a:p>
            <a:pPr algn="l" indent="0" marL="0">
              <a:buNone/>
            </a:pPr>
            <a:r>
              <a:rPr lang="en-US" sz="1500" b="1" dirty="0">
                <a:solidFill>
                  <a:srgbClr val="1E1B3A"/>
                </a:solidFill>
                <a:latin typeface="Calibri" pitchFamily="34" charset="0"/>
                <a:ea typeface="Calibri" pitchFamily="34" charset="-122"/>
                <a:cs typeface="Calibri" pitchFamily="34" charset="-120"/>
              </a:rPr>
              <a:t>Live Code Runner</a:t>
            </a:r>
            <a:endParaRPr lang="en-US" sz="1500" dirty="0"/>
          </a:p>
        </p:txBody>
      </p:sp>
      <p:sp>
        <p:nvSpPr>
          <p:cNvPr id="16" name="Text 11"/>
          <p:cNvSpPr txBox="1"/>
          <p:nvPr/>
        </p:nvSpPr>
        <p:spPr>
          <a:xfrm>
            <a:off x="5532120" y="1965960"/>
            <a:ext cx="2971800" cy="822960"/>
          </a:xfrm>
          <a:prstGeom prst="rect">
            <a:avLst/>
          </a:prstGeom>
          <a:noFill/>
          <a:ln/>
        </p:spPr>
        <p:txBody>
          <a:bodyPr wrap="square" lIns="0" tIns="0" rIns="0" bIns="0" rtlCol="0" anchor="t"/>
          <a:lstStyle/>
          <a:p>
            <a:pPr algn="l" indent="0" marL="0">
              <a:buNone/>
            </a:pPr>
            <a:r>
              <a:rPr lang="en-US" sz="1100" dirty="0">
                <a:solidFill>
                  <a:srgbClr val="5B5A72"/>
                </a:solidFill>
                <a:latin typeface="Calibri" pitchFamily="34" charset="0"/>
                <a:ea typeface="Calibri" pitchFamily="34" charset="-122"/>
                <a:cs typeface="Calibri" pitchFamily="34" charset="-120"/>
              </a:rPr>
              <a:t>Monaco editor in the browser. Code runs through Judge0 in JavaScript, Python or Java against AI generated test cases.</a:t>
            </a:r>
            <a:endParaRPr lang="en-US" sz="1100" dirty="0"/>
          </a:p>
        </p:txBody>
      </p:sp>
      <p:sp>
        <p:nvSpPr>
          <p:cNvPr id="17" name="Shape 12"/>
          <p:cNvSpPr/>
          <p:nvPr/>
        </p:nvSpPr>
        <p:spPr>
          <a:xfrm>
            <a:off x="457200" y="2990088"/>
            <a:ext cx="4023360" cy="1417320"/>
          </a:xfrm>
          <a:prstGeom prst="roundRect">
            <a:avLst>
              <a:gd name="adj" fmla="val 7742"/>
            </a:avLst>
          </a:prstGeom>
          <a:solidFill>
            <a:srgbClr val="F3F1FA"/>
          </a:solidFill>
          <a:ln w="12700">
            <a:solidFill>
              <a:srgbClr val="F3F1FA"/>
            </a:solidFill>
            <a:prstDash val="solid"/>
          </a:ln>
        </p:spPr>
      </p:sp>
      <p:sp>
        <p:nvSpPr>
          <p:cNvPr id="18" name="Shape 13"/>
          <p:cNvSpPr/>
          <p:nvPr/>
        </p:nvSpPr>
        <p:spPr>
          <a:xfrm>
            <a:off x="640080" y="3172968"/>
            <a:ext cx="502920" cy="502920"/>
          </a:xfrm>
          <a:prstGeom prst="roundRect">
            <a:avLst>
              <a:gd name="adj" fmla="val 18182"/>
            </a:avLst>
          </a:prstGeom>
          <a:solidFill>
            <a:srgbClr val="7C3AED"/>
          </a:solidFill>
          <a:ln w="12700">
            <a:solidFill>
              <a:srgbClr val="7C3AED"/>
            </a:solidFill>
            <a:prstDash val="solid"/>
          </a:ln>
        </p:spPr>
      </p:sp>
      <p:pic>
        <p:nvPicPr>
          <p:cNvPr id="19" name="Image 2" descr="preencoded.png">    </p:cNvPr>
          <p:cNvPicPr>
            <a:picLocks noChangeAspect="1"/>
          </p:cNvPicPr>
          <p:nvPr/>
        </p:nvPicPr>
        <p:blipFill>
          <a:blip r:embed="rId3"/>
          <a:stretch>
            <a:fillRect/>
          </a:stretch>
        </p:blipFill>
        <p:spPr>
          <a:xfrm>
            <a:off x="750722" y="3283610"/>
            <a:ext cx="281635" cy="281635"/>
          </a:xfrm>
          <a:prstGeom prst="rect">
            <a:avLst/>
          </a:prstGeom>
        </p:spPr>
      </p:pic>
      <p:sp>
        <p:nvSpPr>
          <p:cNvPr id="20" name="Text 14"/>
          <p:cNvSpPr txBox="1"/>
          <p:nvPr/>
        </p:nvSpPr>
        <p:spPr>
          <a:xfrm>
            <a:off x="1325880" y="3172968"/>
            <a:ext cx="3017520" cy="365760"/>
          </a:xfrm>
          <a:prstGeom prst="rect">
            <a:avLst/>
          </a:prstGeom>
          <a:noFill/>
          <a:ln/>
        </p:spPr>
        <p:txBody>
          <a:bodyPr wrap="square" lIns="0" tIns="0" rIns="0" bIns="0" rtlCol="0" anchor="t"/>
          <a:lstStyle/>
          <a:p>
            <a:pPr algn="l" indent="0" marL="0">
              <a:buNone/>
            </a:pPr>
            <a:r>
              <a:rPr lang="en-US" sz="1500" b="1" dirty="0">
                <a:solidFill>
                  <a:srgbClr val="1E1B3A"/>
                </a:solidFill>
                <a:latin typeface="Calibri" pitchFamily="34" charset="0"/>
                <a:ea typeface="Calibri" pitchFamily="34" charset="-122"/>
                <a:cs typeface="Calibri" pitchFamily="34" charset="-120"/>
              </a:rPr>
              <a:t>Grammar Check</a:t>
            </a:r>
            <a:endParaRPr lang="en-US" sz="1500" dirty="0"/>
          </a:p>
        </p:txBody>
      </p:sp>
      <p:sp>
        <p:nvSpPr>
          <p:cNvPr id="21" name="Text 15"/>
          <p:cNvSpPr txBox="1"/>
          <p:nvPr/>
        </p:nvSpPr>
        <p:spPr>
          <a:xfrm>
            <a:off x="1325880" y="3538728"/>
            <a:ext cx="2971800" cy="822960"/>
          </a:xfrm>
          <a:prstGeom prst="rect">
            <a:avLst/>
          </a:prstGeom>
          <a:noFill/>
          <a:ln/>
        </p:spPr>
        <p:txBody>
          <a:bodyPr wrap="square" lIns="0" tIns="0" rIns="0" bIns="0" rtlCol="0" anchor="t"/>
          <a:lstStyle/>
          <a:p>
            <a:pPr algn="l" indent="0" marL="0">
              <a:buNone/>
            </a:pPr>
            <a:r>
              <a:rPr lang="en-US" sz="1100" dirty="0">
                <a:solidFill>
                  <a:srgbClr val="5B5A72"/>
                </a:solidFill>
                <a:latin typeface="Calibri" pitchFamily="34" charset="0"/>
                <a:ea typeface="Calibri" pitchFamily="34" charset="-122"/>
                <a:cs typeface="Calibri" pitchFamily="34" charset="-120"/>
              </a:rPr>
              <a:t>LanguageTool integration flags grammar issues in written answers and suggests one click fixes.</a:t>
            </a:r>
            <a:endParaRPr lang="en-US" sz="1100" dirty="0"/>
          </a:p>
        </p:txBody>
      </p:sp>
      <p:sp>
        <p:nvSpPr>
          <p:cNvPr id="22" name="Shape 16"/>
          <p:cNvSpPr/>
          <p:nvPr/>
        </p:nvSpPr>
        <p:spPr>
          <a:xfrm>
            <a:off x="4663440" y="2990088"/>
            <a:ext cx="4023360" cy="1417320"/>
          </a:xfrm>
          <a:prstGeom prst="roundRect">
            <a:avLst>
              <a:gd name="adj" fmla="val 7742"/>
            </a:avLst>
          </a:prstGeom>
          <a:solidFill>
            <a:srgbClr val="F3F1FA"/>
          </a:solidFill>
          <a:ln w="12700">
            <a:solidFill>
              <a:srgbClr val="F3F1FA"/>
            </a:solidFill>
            <a:prstDash val="solid"/>
          </a:ln>
        </p:spPr>
      </p:sp>
      <p:sp>
        <p:nvSpPr>
          <p:cNvPr id="23" name="Shape 17"/>
          <p:cNvSpPr/>
          <p:nvPr/>
        </p:nvSpPr>
        <p:spPr>
          <a:xfrm>
            <a:off x="4846320" y="3172968"/>
            <a:ext cx="502920" cy="502920"/>
          </a:xfrm>
          <a:prstGeom prst="roundRect">
            <a:avLst>
              <a:gd name="adj" fmla="val 18182"/>
            </a:avLst>
          </a:prstGeom>
          <a:solidFill>
            <a:srgbClr val="7C3AED"/>
          </a:solidFill>
          <a:ln w="12700">
            <a:solidFill>
              <a:srgbClr val="7C3AED"/>
            </a:solidFill>
            <a:prstDash val="solid"/>
          </a:ln>
        </p:spPr>
      </p:sp>
      <p:pic>
        <p:nvPicPr>
          <p:cNvPr id="24" name="Image 3" descr="preencoded.png">    </p:cNvPr>
          <p:cNvPicPr>
            <a:picLocks noChangeAspect="1"/>
          </p:cNvPicPr>
          <p:nvPr/>
        </p:nvPicPr>
        <p:blipFill>
          <a:blip r:embed="rId4"/>
          <a:stretch>
            <a:fillRect/>
          </a:stretch>
        </p:blipFill>
        <p:spPr>
          <a:xfrm>
            <a:off x="4956962" y="3283610"/>
            <a:ext cx="281635" cy="281635"/>
          </a:xfrm>
          <a:prstGeom prst="rect">
            <a:avLst/>
          </a:prstGeom>
        </p:spPr>
      </p:pic>
      <p:sp>
        <p:nvSpPr>
          <p:cNvPr id="25" name="Text 18"/>
          <p:cNvSpPr txBox="1"/>
          <p:nvPr/>
        </p:nvSpPr>
        <p:spPr>
          <a:xfrm>
            <a:off x="5532120" y="3172968"/>
            <a:ext cx="3017520" cy="365760"/>
          </a:xfrm>
          <a:prstGeom prst="rect">
            <a:avLst/>
          </a:prstGeom>
          <a:noFill/>
          <a:ln/>
        </p:spPr>
        <p:txBody>
          <a:bodyPr wrap="square" lIns="0" tIns="0" rIns="0" bIns="0" rtlCol="0" anchor="t"/>
          <a:lstStyle/>
          <a:p>
            <a:pPr algn="l" indent="0" marL="0">
              <a:buNone/>
            </a:pPr>
            <a:r>
              <a:rPr lang="en-US" sz="1500" b="1" dirty="0">
                <a:solidFill>
                  <a:srgbClr val="1E1B3A"/>
                </a:solidFill>
                <a:latin typeface="Calibri" pitchFamily="34" charset="0"/>
                <a:ea typeface="Calibri" pitchFamily="34" charset="-122"/>
                <a:cs typeface="Calibri" pitchFamily="34" charset="-120"/>
              </a:rPr>
              <a:t>Adaptive Next Question</a:t>
            </a:r>
            <a:endParaRPr lang="en-US" sz="1500" dirty="0"/>
          </a:p>
        </p:txBody>
      </p:sp>
      <p:sp>
        <p:nvSpPr>
          <p:cNvPr id="26" name="Text 19"/>
          <p:cNvSpPr txBox="1"/>
          <p:nvPr/>
        </p:nvSpPr>
        <p:spPr>
          <a:xfrm>
            <a:off x="5532120" y="3538728"/>
            <a:ext cx="2971800" cy="822960"/>
          </a:xfrm>
          <a:prstGeom prst="rect">
            <a:avLst/>
          </a:prstGeom>
          <a:noFill/>
          <a:ln/>
        </p:spPr>
        <p:txBody>
          <a:bodyPr wrap="square" lIns="0" tIns="0" rIns="0" bIns="0" rtlCol="0" anchor="t"/>
          <a:lstStyle/>
          <a:p>
            <a:pPr algn="l" indent="0" marL="0">
              <a:buNone/>
            </a:pPr>
            <a:r>
              <a:rPr lang="en-US" sz="1100" dirty="0">
                <a:solidFill>
                  <a:srgbClr val="5B5A72"/>
                </a:solidFill>
                <a:latin typeface="Calibri" pitchFamily="34" charset="0"/>
                <a:ea typeface="Calibri" pitchFamily="34" charset="-122"/>
                <a:cs typeface="Calibri" pitchFamily="34" charset="-120"/>
              </a:rPr>
              <a:t>The AI generates the next question from the previous answer, so difficulty adapts in real time.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8</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Voice Interview Mode</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A spoken mock interview, entirely in the browser</a:t>
            </a:r>
            <a:endParaRPr lang="en-US" sz="1300" dirty="0"/>
          </a:p>
        </p:txBody>
      </p:sp>
      <p:sp>
        <p:nvSpPr>
          <p:cNvPr id="7" name="Shape 4"/>
          <p:cNvSpPr/>
          <p:nvPr/>
        </p:nvSpPr>
        <p:spPr>
          <a:xfrm>
            <a:off x="457200" y="1463040"/>
            <a:ext cx="1234440" cy="1737360"/>
          </a:xfrm>
          <a:prstGeom prst="roundRect">
            <a:avLst>
              <a:gd name="adj" fmla="val 8889"/>
            </a:avLst>
          </a:prstGeom>
          <a:solidFill>
            <a:srgbClr val="F3F1FA"/>
          </a:solidFill>
          <a:ln w="12700">
            <a:solidFill>
              <a:srgbClr val="F3F1FA"/>
            </a:solidFill>
            <a:prstDash val="solid"/>
          </a:ln>
        </p:spPr>
      </p:sp>
      <p:sp>
        <p:nvSpPr>
          <p:cNvPr id="8" name="Shape 5"/>
          <p:cNvSpPr/>
          <p:nvPr/>
        </p:nvSpPr>
        <p:spPr>
          <a:xfrm>
            <a:off x="822960" y="1600200"/>
            <a:ext cx="502920" cy="502920"/>
          </a:xfrm>
          <a:prstGeom prst="roundRect">
            <a:avLst>
              <a:gd name="adj" fmla="val 18182"/>
            </a:avLst>
          </a:prstGeom>
          <a:solidFill>
            <a:srgbClr val="7C3AED"/>
          </a:solidFill>
          <a:ln w="12700">
            <a:solidFill>
              <a:srgbClr val="7C3AED"/>
            </a:solidFill>
            <a:prstDash val="solid"/>
          </a:ln>
        </p:spPr>
      </p:sp>
      <p:pic>
        <p:nvPicPr>
          <p:cNvPr id="9" name="Image 0" descr="preencoded.png">    </p:cNvPr>
          <p:cNvPicPr>
            <a:picLocks noChangeAspect="1"/>
          </p:cNvPicPr>
          <p:nvPr/>
        </p:nvPicPr>
        <p:blipFill>
          <a:blip r:embed="rId1"/>
          <a:stretch>
            <a:fillRect/>
          </a:stretch>
        </p:blipFill>
        <p:spPr>
          <a:xfrm>
            <a:off x="933602" y="1710842"/>
            <a:ext cx="281635" cy="281635"/>
          </a:xfrm>
          <a:prstGeom prst="rect">
            <a:avLst/>
          </a:prstGeom>
        </p:spPr>
      </p:pic>
      <p:sp>
        <p:nvSpPr>
          <p:cNvPr id="10" name="Text 6"/>
          <p:cNvSpPr txBox="1"/>
          <p:nvPr/>
        </p:nvSpPr>
        <p:spPr>
          <a:xfrm>
            <a:off x="548640" y="2240280"/>
            <a:ext cx="1051560" cy="548640"/>
          </a:xfrm>
          <a:prstGeom prst="rect">
            <a:avLst/>
          </a:prstGeom>
          <a:noFill/>
          <a:ln/>
        </p:spPr>
        <p:txBody>
          <a:bodyPr wrap="square" lIns="0" tIns="0" rIns="0" bIns="0" rtlCol="0" anchor="t"/>
          <a:lstStyle/>
          <a:p>
            <a:pPr algn="ctr" indent="0" marL="0">
              <a:buNone/>
            </a:pPr>
            <a:r>
              <a:rPr lang="en-US" sz="1100" b="1" dirty="0">
                <a:solidFill>
                  <a:srgbClr val="1E1B3A"/>
                </a:solidFill>
                <a:latin typeface="Calibri" pitchFamily="34" charset="0"/>
                <a:ea typeface="Calibri" pitchFamily="34" charset="-122"/>
                <a:cs typeface="Calibri" pitchFamily="34" charset="-120"/>
              </a:rPr>
              <a:t>Question is read aloud</a:t>
            </a:r>
            <a:endParaRPr lang="en-US" sz="1100" dirty="0"/>
          </a:p>
        </p:txBody>
      </p:sp>
      <p:sp>
        <p:nvSpPr>
          <p:cNvPr id="11" name="Text 7"/>
          <p:cNvSpPr txBox="1"/>
          <p:nvPr/>
        </p:nvSpPr>
        <p:spPr>
          <a:xfrm>
            <a:off x="548640" y="2788920"/>
            <a:ext cx="1051560" cy="320040"/>
          </a:xfrm>
          <a:prstGeom prst="rect">
            <a:avLst/>
          </a:prstGeom>
          <a:noFill/>
          <a:ln/>
        </p:spPr>
        <p:txBody>
          <a:bodyPr wrap="square" lIns="0" tIns="0" rIns="0" bIns="0" rtlCol="0" anchor="t"/>
          <a:lstStyle/>
          <a:p>
            <a:pPr algn="ctr" indent="0" marL="0">
              <a:buNone/>
            </a:pPr>
            <a:r>
              <a:rPr lang="en-US" sz="950" dirty="0">
                <a:solidFill>
                  <a:srgbClr val="5B5A72"/>
                </a:solidFill>
                <a:latin typeface="Calibri" pitchFamily="34" charset="0"/>
                <a:ea typeface="Calibri" pitchFamily="34" charset="-122"/>
                <a:cs typeface="Calibri" pitchFamily="34" charset="-120"/>
              </a:rPr>
              <a:t>Speech synthesis</a:t>
            </a:r>
            <a:endParaRPr lang="en-US" sz="950" dirty="0"/>
          </a:p>
        </p:txBody>
      </p:sp>
      <p:sp>
        <p:nvSpPr>
          <p:cNvPr id="12" name="Shape 8"/>
          <p:cNvSpPr/>
          <p:nvPr/>
        </p:nvSpPr>
        <p:spPr>
          <a:xfrm>
            <a:off x="1709928" y="2194560"/>
            <a:ext cx="146304" cy="274320"/>
          </a:xfrm>
          <a:prstGeom prst="rightArrow">
            <a:avLst/>
          </a:prstGeom>
          <a:solidFill>
            <a:srgbClr val="7C3AED"/>
          </a:solidFill>
          <a:ln w="12700">
            <a:solidFill>
              <a:srgbClr val="7C3AED"/>
            </a:solidFill>
            <a:prstDash val="solid"/>
          </a:ln>
        </p:spPr>
      </p:sp>
      <p:sp>
        <p:nvSpPr>
          <p:cNvPr id="13" name="Shape 9"/>
          <p:cNvSpPr/>
          <p:nvPr/>
        </p:nvSpPr>
        <p:spPr>
          <a:xfrm>
            <a:off x="1874520" y="1463040"/>
            <a:ext cx="1234440" cy="1737360"/>
          </a:xfrm>
          <a:prstGeom prst="roundRect">
            <a:avLst>
              <a:gd name="adj" fmla="val 8889"/>
            </a:avLst>
          </a:prstGeom>
          <a:solidFill>
            <a:srgbClr val="F3F1FA"/>
          </a:solidFill>
          <a:ln w="12700">
            <a:solidFill>
              <a:srgbClr val="F3F1FA"/>
            </a:solidFill>
            <a:prstDash val="solid"/>
          </a:ln>
        </p:spPr>
      </p:sp>
      <p:sp>
        <p:nvSpPr>
          <p:cNvPr id="14" name="Shape 10"/>
          <p:cNvSpPr/>
          <p:nvPr/>
        </p:nvSpPr>
        <p:spPr>
          <a:xfrm>
            <a:off x="2240280" y="1600200"/>
            <a:ext cx="502920" cy="502920"/>
          </a:xfrm>
          <a:prstGeom prst="roundRect">
            <a:avLst>
              <a:gd name="adj" fmla="val 18182"/>
            </a:avLst>
          </a:prstGeom>
          <a:solidFill>
            <a:srgbClr val="7C3AED"/>
          </a:solidFill>
          <a:ln w="12700">
            <a:solidFill>
              <a:srgbClr val="7C3AED"/>
            </a:solidFill>
            <a:prstDash val="solid"/>
          </a:ln>
        </p:spPr>
      </p:sp>
      <p:pic>
        <p:nvPicPr>
          <p:cNvPr id="15" name="Image 1" descr="preencoded.png">    </p:cNvPr>
          <p:cNvPicPr>
            <a:picLocks noChangeAspect="1"/>
          </p:cNvPicPr>
          <p:nvPr/>
        </p:nvPicPr>
        <p:blipFill>
          <a:blip r:embed="rId2"/>
          <a:stretch>
            <a:fillRect/>
          </a:stretch>
        </p:blipFill>
        <p:spPr>
          <a:xfrm>
            <a:off x="2350922" y="1710842"/>
            <a:ext cx="281635" cy="281635"/>
          </a:xfrm>
          <a:prstGeom prst="rect">
            <a:avLst/>
          </a:prstGeom>
        </p:spPr>
      </p:pic>
      <p:sp>
        <p:nvSpPr>
          <p:cNvPr id="16" name="Text 11"/>
          <p:cNvSpPr txBox="1"/>
          <p:nvPr/>
        </p:nvSpPr>
        <p:spPr>
          <a:xfrm>
            <a:off x="1965960" y="2240280"/>
            <a:ext cx="1051560" cy="548640"/>
          </a:xfrm>
          <a:prstGeom prst="rect">
            <a:avLst/>
          </a:prstGeom>
          <a:noFill/>
          <a:ln/>
        </p:spPr>
        <p:txBody>
          <a:bodyPr wrap="square" lIns="0" tIns="0" rIns="0" bIns="0" rtlCol="0" anchor="t"/>
          <a:lstStyle/>
          <a:p>
            <a:pPr algn="ctr" indent="0" marL="0">
              <a:buNone/>
            </a:pPr>
            <a:r>
              <a:rPr lang="en-US" sz="1100" b="1" dirty="0">
                <a:solidFill>
                  <a:srgbClr val="1E1B3A"/>
                </a:solidFill>
                <a:latin typeface="Calibri" pitchFamily="34" charset="0"/>
                <a:ea typeface="Calibri" pitchFamily="34" charset="-122"/>
                <a:cs typeface="Calibri" pitchFamily="34" charset="-120"/>
              </a:rPr>
              <a:t>Candidate answers</a:t>
            </a:r>
            <a:endParaRPr lang="en-US" sz="1100" dirty="0"/>
          </a:p>
        </p:txBody>
      </p:sp>
      <p:sp>
        <p:nvSpPr>
          <p:cNvPr id="17" name="Text 12"/>
          <p:cNvSpPr txBox="1"/>
          <p:nvPr/>
        </p:nvSpPr>
        <p:spPr>
          <a:xfrm>
            <a:off x="1965960" y="2788920"/>
            <a:ext cx="1051560" cy="320040"/>
          </a:xfrm>
          <a:prstGeom prst="rect">
            <a:avLst/>
          </a:prstGeom>
          <a:noFill/>
          <a:ln/>
        </p:spPr>
        <p:txBody>
          <a:bodyPr wrap="square" lIns="0" tIns="0" rIns="0" bIns="0" rtlCol="0" anchor="t"/>
          <a:lstStyle/>
          <a:p>
            <a:pPr algn="ctr" indent="0" marL="0">
              <a:buNone/>
            </a:pPr>
            <a:r>
              <a:rPr lang="en-US" sz="950" dirty="0">
                <a:solidFill>
                  <a:srgbClr val="5B5A72"/>
                </a:solidFill>
                <a:latin typeface="Calibri" pitchFamily="34" charset="0"/>
                <a:ea typeface="Calibri" pitchFamily="34" charset="-122"/>
                <a:cs typeface="Calibri" pitchFamily="34" charset="-120"/>
              </a:rPr>
              <a:t>Microphone</a:t>
            </a:r>
            <a:endParaRPr lang="en-US" sz="950" dirty="0"/>
          </a:p>
        </p:txBody>
      </p:sp>
      <p:sp>
        <p:nvSpPr>
          <p:cNvPr id="18" name="Shape 13"/>
          <p:cNvSpPr/>
          <p:nvPr/>
        </p:nvSpPr>
        <p:spPr>
          <a:xfrm>
            <a:off x="3127248" y="2194560"/>
            <a:ext cx="146304" cy="274320"/>
          </a:xfrm>
          <a:prstGeom prst="rightArrow">
            <a:avLst/>
          </a:prstGeom>
          <a:solidFill>
            <a:srgbClr val="7C3AED"/>
          </a:solidFill>
          <a:ln w="12700">
            <a:solidFill>
              <a:srgbClr val="7C3AED"/>
            </a:solidFill>
            <a:prstDash val="solid"/>
          </a:ln>
        </p:spPr>
      </p:sp>
      <p:sp>
        <p:nvSpPr>
          <p:cNvPr id="19" name="Shape 14"/>
          <p:cNvSpPr/>
          <p:nvPr/>
        </p:nvSpPr>
        <p:spPr>
          <a:xfrm>
            <a:off x="3291840" y="1463040"/>
            <a:ext cx="1234440" cy="1737360"/>
          </a:xfrm>
          <a:prstGeom prst="roundRect">
            <a:avLst>
              <a:gd name="adj" fmla="val 8889"/>
            </a:avLst>
          </a:prstGeom>
          <a:solidFill>
            <a:srgbClr val="F3F1FA"/>
          </a:solidFill>
          <a:ln w="12700">
            <a:solidFill>
              <a:srgbClr val="F3F1FA"/>
            </a:solidFill>
            <a:prstDash val="solid"/>
          </a:ln>
        </p:spPr>
      </p:sp>
      <p:sp>
        <p:nvSpPr>
          <p:cNvPr id="20" name="Shape 15"/>
          <p:cNvSpPr/>
          <p:nvPr/>
        </p:nvSpPr>
        <p:spPr>
          <a:xfrm>
            <a:off x="3657600" y="1600200"/>
            <a:ext cx="502920" cy="502920"/>
          </a:xfrm>
          <a:prstGeom prst="roundRect">
            <a:avLst>
              <a:gd name="adj" fmla="val 18182"/>
            </a:avLst>
          </a:prstGeom>
          <a:solidFill>
            <a:srgbClr val="7C3AED"/>
          </a:solidFill>
          <a:ln w="12700">
            <a:solidFill>
              <a:srgbClr val="7C3AED"/>
            </a:solidFill>
            <a:prstDash val="solid"/>
          </a:ln>
        </p:spPr>
      </p:sp>
      <p:pic>
        <p:nvPicPr>
          <p:cNvPr id="21" name="Image 2" descr="preencoded.png">    </p:cNvPr>
          <p:cNvPicPr>
            <a:picLocks noChangeAspect="1"/>
          </p:cNvPicPr>
          <p:nvPr/>
        </p:nvPicPr>
        <p:blipFill>
          <a:blip r:embed="rId3"/>
          <a:stretch>
            <a:fillRect/>
          </a:stretch>
        </p:blipFill>
        <p:spPr>
          <a:xfrm>
            <a:off x="3768242" y="1710842"/>
            <a:ext cx="281635" cy="281635"/>
          </a:xfrm>
          <a:prstGeom prst="rect">
            <a:avLst/>
          </a:prstGeom>
        </p:spPr>
      </p:pic>
      <p:sp>
        <p:nvSpPr>
          <p:cNvPr id="22" name="Text 16"/>
          <p:cNvSpPr txBox="1"/>
          <p:nvPr/>
        </p:nvSpPr>
        <p:spPr>
          <a:xfrm>
            <a:off x="3383280" y="2240280"/>
            <a:ext cx="1051560" cy="548640"/>
          </a:xfrm>
          <a:prstGeom prst="rect">
            <a:avLst/>
          </a:prstGeom>
          <a:noFill/>
          <a:ln/>
        </p:spPr>
        <p:txBody>
          <a:bodyPr wrap="square" lIns="0" tIns="0" rIns="0" bIns="0" rtlCol="0" anchor="t"/>
          <a:lstStyle/>
          <a:p>
            <a:pPr algn="ctr" indent="0" marL="0">
              <a:buNone/>
            </a:pPr>
            <a:r>
              <a:rPr lang="en-US" sz="1100" b="1" dirty="0">
                <a:solidFill>
                  <a:srgbClr val="1E1B3A"/>
                </a:solidFill>
                <a:latin typeface="Calibri" pitchFamily="34" charset="0"/>
                <a:ea typeface="Calibri" pitchFamily="34" charset="-122"/>
                <a:cs typeface="Calibri" pitchFamily="34" charset="-120"/>
              </a:rPr>
              <a:t>Answer is transcribed</a:t>
            </a:r>
            <a:endParaRPr lang="en-US" sz="1100" dirty="0"/>
          </a:p>
        </p:txBody>
      </p:sp>
      <p:sp>
        <p:nvSpPr>
          <p:cNvPr id="23" name="Text 17"/>
          <p:cNvSpPr txBox="1"/>
          <p:nvPr/>
        </p:nvSpPr>
        <p:spPr>
          <a:xfrm>
            <a:off x="3383280" y="2788920"/>
            <a:ext cx="1051560" cy="320040"/>
          </a:xfrm>
          <a:prstGeom prst="rect">
            <a:avLst/>
          </a:prstGeom>
          <a:noFill/>
          <a:ln/>
        </p:spPr>
        <p:txBody>
          <a:bodyPr wrap="square" lIns="0" tIns="0" rIns="0" bIns="0" rtlCol="0" anchor="t"/>
          <a:lstStyle/>
          <a:p>
            <a:pPr algn="ctr" indent="0" marL="0">
              <a:buNone/>
            </a:pPr>
            <a:r>
              <a:rPr lang="en-US" sz="950" dirty="0">
                <a:solidFill>
                  <a:srgbClr val="5B5A72"/>
                </a:solidFill>
                <a:latin typeface="Calibri" pitchFamily="34" charset="0"/>
                <a:ea typeface="Calibri" pitchFamily="34" charset="-122"/>
                <a:cs typeface="Calibri" pitchFamily="34" charset="-120"/>
              </a:rPr>
              <a:t>Web Speech API</a:t>
            </a:r>
            <a:endParaRPr lang="en-US" sz="950" dirty="0"/>
          </a:p>
        </p:txBody>
      </p:sp>
      <p:sp>
        <p:nvSpPr>
          <p:cNvPr id="24" name="Shape 18"/>
          <p:cNvSpPr/>
          <p:nvPr/>
        </p:nvSpPr>
        <p:spPr>
          <a:xfrm>
            <a:off x="4544568" y="2194560"/>
            <a:ext cx="146304" cy="274320"/>
          </a:xfrm>
          <a:prstGeom prst="rightArrow">
            <a:avLst/>
          </a:prstGeom>
          <a:solidFill>
            <a:srgbClr val="7C3AED"/>
          </a:solidFill>
          <a:ln w="12700">
            <a:solidFill>
              <a:srgbClr val="7C3AED"/>
            </a:solidFill>
            <a:prstDash val="solid"/>
          </a:ln>
        </p:spPr>
      </p:sp>
      <p:sp>
        <p:nvSpPr>
          <p:cNvPr id="25" name="Shape 19"/>
          <p:cNvSpPr/>
          <p:nvPr/>
        </p:nvSpPr>
        <p:spPr>
          <a:xfrm>
            <a:off x="4709160" y="1463040"/>
            <a:ext cx="1234440" cy="1737360"/>
          </a:xfrm>
          <a:prstGeom prst="roundRect">
            <a:avLst>
              <a:gd name="adj" fmla="val 8889"/>
            </a:avLst>
          </a:prstGeom>
          <a:solidFill>
            <a:srgbClr val="F3F1FA"/>
          </a:solidFill>
          <a:ln w="12700">
            <a:solidFill>
              <a:srgbClr val="F3F1FA"/>
            </a:solidFill>
            <a:prstDash val="solid"/>
          </a:ln>
        </p:spPr>
      </p:sp>
      <p:sp>
        <p:nvSpPr>
          <p:cNvPr id="26" name="Shape 20"/>
          <p:cNvSpPr/>
          <p:nvPr/>
        </p:nvSpPr>
        <p:spPr>
          <a:xfrm>
            <a:off x="5074920" y="1600200"/>
            <a:ext cx="502920" cy="502920"/>
          </a:xfrm>
          <a:prstGeom prst="roundRect">
            <a:avLst>
              <a:gd name="adj" fmla="val 18182"/>
            </a:avLst>
          </a:prstGeom>
          <a:solidFill>
            <a:srgbClr val="7C3AED"/>
          </a:solidFill>
          <a:ln w="12700">
            <a:solidFill>
              <a:srgbClr val="7C3AED"/>
            </a:solidFill>
            <a:prstDash val="solid"/>
          </a:ln>
        </p:spPr>
      </p:sp>
      <p:pic>
        <p:nvPicPr>
          <p:cNvPr id="27" name="Image 3" descr="preencoded.png">    </p:cNvPr>
          <p:cNvPicPr>
            <a:picLocks noChangeAspect="1"/>
          </p:cNvPicPr>
          <p:nvPr/>
        </p:nvPicPr>
        <p:blipFill>
          <a:blip r:embed="rId4"/>
          <a:stretch>
            <a:fillRect/>
          </a:stretch>
        </p:blipFill>
        <p:spPr>
          <a:xfrm>
            <a:off x="5185562" y="1710842"/>
            <a:ext cx="281635" cy="281635"/>
          </a:xfrm>
          <a:prstGeom prst="rect">
            <a:avLst/>
          </a:prstGeom>
        </p:spPr>
      </p:pic>
      <p:sp>
        <p:nvSpPr>
          <p:cNvPr id="28" name="Text 21"/>
          <p:cNvSpPr txBox="1"/>
          <p:nvPr/>
        </p:nvSpPr>
        <p:spPr>
          <a:xfrm>
            <a:off x="4800600" y="2240280"/>
            <a:ext cx="1051560" cy="548640"/>
          </a:xfrm>
          <a:prstGeom prst="rect">
            <a:avLst/>
          </a:prstGeom>
          <a:noFill/>
          <a:ln/>
        </p:spPr>
        <p:txBody>
          <a:bodyPr wrap="square" lIns="0" tIns="0" rIns="0" bIns="0" rtlCol="0" anchor="t"/>
          <a:lstStyle/>
          <a:p>
            <a:pPr algn="ctr" indent="0" marL="0">
              <a:buNone/>
            </a:pPr>
            <a:r>
              <a:rPr lang="en-US" sz="1100" b="1" dirty="0">
                <a:solidFill>
                  <a:srgbClr val="1E1B3A"/>
                </a:solidFill>
                <a:latin typeface="Calibri" pitchFamily="34" charset="0"/>
                <a:ea typeface="Calibri" pitchFamily="34" charset="-122"/>
                <a:cs typeface="Calibri" pitchFamily="34" charset="-120"/>
              </a:rPr>
              <a:t>AI scores the transcript</a:t>
            </a:r>
            <a:endParaRPr lang="en-US" sz="1100" dirty="0"/>
          </a:p>
        </p:txBody>
      </p:sp>
      <p:sp>
        <p:nvSpPr>
          <p:cNvPr id="29" name="Text 22"/>
          <p:cNvSpPr txBox="1"/>
          <p:nvPr/>
        </p:nvSpPr>
        <p:spPr>
          <a:xfrm>
            <a:off x="4800600" y="2788920"/>
            <a:ext cx="1051560" cy="320040"/>
          </a:xfrm>
          <a:prstGeom prst="rect">
            <a:avLst/>
          </a:prstGeom>
          <a:noFill/>
          <a:ln/>
        </p:spPr>
        <p:txBody>
          <a:bodyPr wrap="square" lIns="0" tIns="0" rIns="0" bIns="0" rtlCol="0" anchor="t"/>
          <a:lstStyle/>
          <a:p>
            <a:pPr algn="ctr" indent="0" marL="0">
              <a:buNone/>
            </a:pPr>
            <a:r>
              <a:rPr lang="en-US" sz="950" dirty="0">
                <a:solidFill>
                  <a:srgbClr val="5B5A72"/>
                </a:solidFill>
                <a:latin typeface="Calibri" pitchFamily="34" charset="0"/>
                <a:ea typeface="Calibri" pitchFamily="34" charset="-122"/>
                <a:cs typeface="Calibri" pitchFamily="34" charset="-120"/>
              </a:rPr>
              <a:t>Gemini</a:t>
            </a:r>
            <a:endParaRPr lang="en-US" sz="950" dirty="0"/>
          </a:p>
        </p:txBody>
      </p:sp>
      <p:sp>
        <p:nvSpPr>
          <p:cNvPr id="30" name="Shape 23"/>
          <p:cNvSpPr/>
          <p:nvPr/>
        </p:nvSpPr>
        <p:spPr>
          <a:xfrm>
            <a:off x="6263640" y="1463040"/>
            <a:ext cx="2423160" cy="3017520"/>
          </a:xfrm>
          <a:prstGeom prst="roundRect">
            <a:avLst>
              <a:gd name="adj" fmla="val 4528"/>
            </a:avLst>
          </a:prstGeom>
          <a:solidFill>
            <a:srgbClr val="EDE9FE"/>
          </a:solidFill>
          <a:ln w="12700">
            <a:solidFill>
              <a:srgbClr val="EDE9FE"/>
            </a:solidFill>
            <a:prstDash val="solid"/>
          </a:ln>
        </p:spPr>
      </p:sp>
      <p:sp>
        <p:nvSpPr>
          <p:cNvPr id="31" name="Text 24"/>
          <p:cNvSpPr txBox="1"/>
          <p:nvPr/>
        </p:nvSpPr>
        <p:spPr>
          <a:xfrm>
            <a:off x="6446520" y="1600200"/>
            <a:ext cx="2103120" cy="320040"/>
          </a:xfrm>
          <a:prstGeom prst="rect">
            <a:avLst/>
          </a:prstGeom>
          <a:noFill/>
          <a:ln/>
        </p:spPr>
        <p:txBody>
          <a:bodyPr wrap="square" lIns="0" tIns="0" rIns="0" bIns="0" rtlCol="0" anchor="t"/>
          <a:lstStyle/>
          <a:p>
            <a:pPr algn="l" indent="0" marL="0">
              <a:buNone/>
            </a:pPr>
            <a:r>
              <a:rPr lang="en-US" sz="1300" b="1" dirty="0">
                <a:solidFill>
                  <a:srgbClr val="1E1B3A"/>
                </a:solidFill>
                <a:latin typeface="Calibri" pitchFamily="34" charset="0"/>
                <a:ea typeface="Calibri" pitchFamily="34" charset="-122"/>
                <a:cs typeface="Calibri" pitchFamily="34" charset="-120"/>
              </a:rPr>
              <a:t>Feedback (example)</a:t>
            </a:r>
            <a:endParaRPr lang="en-US" sz="1300" dirty="0"/>
          </a:p>
        </p:txBody>
      </p:sp>
      <p:sp>
        <p:nvSpPr>
          <p:cNvPr id="32" name="Text 25"/>
          <p:cNvSpPr txBox="1"/>
          <p:nvPr/>
        </p:nvSpPr>
        <p:spPr>
          <a:xfrm>
            <a:off x="6446520" y="2011680"/>
            <a:ext cx="1188720" cy="457200"/>
          </a:xfrm>
          <a:prstGeom prst="rect">
            <a:avLst/>
          </a:prstGeom>
          <a:noFill/>
          <a:ln/>
        </p:spPr>
        <p:txBody>
          <a:bodyPr wrap="square" lIns="0" tIns="0" rIns="0" bIns="0" rtlCol="0" anchor="ctr"/>
          <a:lstStyle/>
          <a:p>
            <a:pPr algn="l" indent="0" marL="0">
              <a:buNone/>
            </a:pPr>
            <a:r>
              <a:rPr lang="en-US" sz="1200" dirty="0">
                <a:solidFill>
                  <a:srgbClr val="5B5A72"/>
                </a:solidFill>
                <a:latin typeface="Calibri" pitchFamily="34" charset="0"/>
                <a:ea typeface="Calibri" pitchFamily="34" charset="-122"/>
                <a:cs typeface="Calibri" pitchFamily="34" charset="-120"/>
              </a:rPr>
              <a:t>Clarity</a:t>
            </a:r>
            <a:endParaRPr lang="en-US" sz="1200" dirty="0"/>
          </a:p>
        </p:txBody>
      </p:sp>
      <p:sp>
        <p:nvSpPr>
          <p:cNvPr id="33" name="Text 26"/>
          <p:cNvSpPr txBox="1"/>
          <p:nvPr/>
        </p:nvSpPr>
        <p:spPr>
          <a:xfrm>
            <a:off x="7589520" y="2011680"/>
            <a:ext cx="914400" cy="457200"/>
          </a:xfrm>
          <a:prstGeom prst="rect">
            <a:avLst/>
          </a:prstGeom>
          <a:noFill/>
          <a:ln/>
        </p:spPr>
        <p:txBody>
          <a:bodyPr wrap="square" lIns="0" tIns="0" rIns="0" bIns="0" rtlCol="0" anchor="ctr"/>
          <a:lstStyle/>
          <a:p>
            <a:pPr algn="r" indent="0" marL="0">
              <a:buNone/>
            </a:pPr>
            <a:r>
              <a:rPr lang="en-US" sz="2200" b="1" dirty="0">
                <a:solidFill>
                  <a:srgbClr val="22C55E"/>
                </a:solidFill>
                <a:latin typeface="Calibri" pitchFamily="34" charset="0"/>
                <a:ea typeface="Calibri" pitchFamily="34" charset="-122"/>
                <a:cs typeface="Calibri" pitchFamily="34" charset="-120"/>
              </a:rPr>
              <a:t>82</a:t>
            </a:r>
            <a:endParaRPr lang="en-US" sz="2200" dirty="0"/>
          </a:p>
        </p:txBody>
      </p:sp>
      <p:sp>
        <p:nvSpPr>
          <p:cNvPr id="34" name="Text 27"/>
          <p:cNvSpPr txBox="1"/>
          <p:nvPr/>
        </p:nvSpPr>
        <p:spPr>
          <a:xfrm>
            <a:off x="6446520" y="2651760"/>
            <a:ext cx="1188720" cy="457200"/>
          </a:xfrm>
          <a:prstGeom prst="rect">
            <a:avLst/>
          </a:prstGeom>
          <a:noFill/>
          <a:ln/>
        </p:spPr>
        <p:txBody>
          <a:bodyPr wrap="square" lIns="0" tIns="0" rIns="0" bIns="0" rtlCol="0" anchor="ctr"/>
          <a:lstStyle/>
          <a:p>
            <a:pPr algn="l" indent="0" marL="0">
              <a:buNone/>
            </a:pPr>
            <a:r>
              <a:rPr lang="en-US" sz="1200" dirty="0">
                <a:solidFill>
                  <a:srgbClr val="5B5A72"/>
                </a:solidFill>
                <a:latin typeface="Calibri" pitchFamily="34" charset="0"/>
                <a:ea typeface="Calibri" pitchFamily="34" charset="-122"/>
                <a:cs typeface="Calibri" pitchFamily="34" charset="-120"/>
              </a:rPr>
              <a:t>Structure</a:t>
            </a:r>
            <a:endParaRPr lang="en-US" sz="1200" dirty="0"/>
          </a:p>
        </p:txBody>
      </p:sp>
      <p:sp>
        <p:nvSpPr>
          <p:cNvPr id="35" name="Text 28"/>
          <p:cNvSpPr txBox="1"/>
          <p:nvPr/>
        </p:nvSpPr>
        <p:spPr>
          <a:xfrm>
            <a:off x="7589520" y="2651760"/>
            <a:ext cx="914400" cy="457200"/>
          </a:xfrm>
          <a:prstGeom prst="rect">
            <a:avLst/>
          </a:prstGeom>
          <a:noFill/>
          <a:ln/>
        </p:spPr>
        <p:txBody>
          <a:bodyPr wrap="square" lIns="0" tIns="0" rIns="0" bIns="0" rtlCol="0" anchor="ctr"/>
          <a:lstStyle/>
          <a:p>
            <a:pPr algn="r" indent="0" marL="0">
              <a:buNone/>
            </a:pPr>
            <a:r>
              <a:rPr lang="en-US" sz="2200" b="1" dirty="0">
                <a:solidFill>
                  <a:srgbClr val="F59E0B"/>
                </a:solidFill>
                <a:latin typeface="Calibri" pitchFamily="34" charset="0"/>
                <a:ea typeface="Calibri" pitchFamily="34" charset="-122"/>
                <a:cs typeface="Calibri" pitchFamily="34" charset="-120"/>
              </a:rPr>
              <a:t>76</a:t>
            </a:r>
            <a:endParaRPr lang="en-US" sz="2200" dirty="0"/>
          </a:p>
        </p:txBody>
      </p:sp>
      <p:sp>
        <p:nvSpPr>
          <p:cNvPr id="36" name="Text 29"/>
          <p:cNvSpPr txBox="1"/>
          <p:nvPr/>
        </p:nvSpPr>
        <p:spPr>
          <a:xfrm>
            <a:off x="6446520" y="3291840"/>
            <a:ext cx="1188720" cy="457200"/>
          </a:xfrm>
          <a:prstGeom prst="rect">
            <a:avLst/>
          </a:prstGeom>
          <a:noFill/>
          <a:ln/>
        </p:spPr>
        <p:txBody>
          <a:bodyPr wrap="square" lIns="0" tIns="0" rIns="0" bIns="0" rtlCol="0" anchor="ctr"/>
          <a:lstStyle/>
          <a:p>
            <a:pPr algn="l" indent="0" marL="0">
              <a:buNone/>
            </a:pPr>
            <a:r>
              <a:rPr lang="en-US" sz="1200" dirty="0">
                <a:solidFill>
                  <a:srgbClr val="5B5A72"/>
                </a:solidFill>
                <a:latin typeface="Calibri" pitchFamily="34" charset="0"/>
                <a:ea typeface="Calibri" pitchFamily="34" charset="-122"/>
                <a:cs typeface="Calibri" pitchFamily="34" charset="-120"/>
              </a:rPr>
              <a:t>Filler words</a:t>
            </a:r>
            <a:endParaRPr lang="en-US" sz="1200" dirty="0"/>
          </a:p>
        </p:txBody>
      </p:sp>
      <p:sp>
        <p:nvSpPr>
          <p:cNvPr id="37" name="Text 30"/>
          <p:cNvSpPr txBox="1"/>
          <p:nvPr/>
        </p:nvSpPr>
        <p:spPr>
          <a:xfrm>
            <a:off x="7589520" y="3291840"/>
            <a:ext cx="914400" cy="457200"/>
          </a:xfrm>
          <a:prstGeom prst="rect">
            <a:avLst/>
          </a:prstGeom>
          <a:noFill/>
          <a:ln/>
        </p:spPr>
        <p:txBody>
          <a:bodyPr wrap="square" lIns="0" tIns="0" rIns="0" bIns="0" rtlCol="0" anchor="ctr"/>
          <a:lstStyle/>
          <a:p>
            <a:pPr algn="r" indent="0" marL="0">
              <a:buNone/>
            </a:pPr>
            <a:r>
              <a:rPr lang="en-US" sz="2200" b="1" dirty="0">
                <a:solidFill>
                  <a:srgbClr val="0284C7"/>
                </a:solidFill>
                <a:latin typeface="Calibri" pitchFamily="34" charset="0"/>
                <a:ea typeface="Calibri" pitchFamily="34" charset="-122"/>
                <a:cs typeface="Calibri" pitchFamily="34" charset="-120"/>
              </a:rPr>
              <a:t>4</a:t>
            </a:r>
            <a:endParaRPr lang="en-US" sz="2200" dirty="0"/>
          </a:p>
        </p:txBody>
      </p:sp>
      <p:sp>
        <p:nvSpPr>
          <p:cNvPr id="38" name="Text 31"/>
          <p:cNvSpPr txBox="1"/>
          <p:nvPr/>
        </p:nvSpPr>
        <p:spPr>
          <a:xfrm>
            <a:off x="6446520" y="3977640"/>
            <a:ext cx="2103120" cy="365760"/>
          </a:xfrm>
          <a:prstGeom prst="rect">
            <a:avLst/>
          </a:prstGeom>
          <a:noFill/>
          <a:ln/>
        </p:spPr>
        <p:txBody>
          <a:bodyPr wrap="square" lIns="0" tIns="0" rIns="0" bIns="0" rtlCol="0" anchor="t"/>
          <a:lstStyle/>
          <a:p>
            <a:pPr algn="l" indent="0" marL="0">
              <a:buNone/>
            </a:pPr>
            <a:r>
              <a:rPr lang="en-US" sz="1050" dirty="0">
                <a:solidFill>
                  <a:srgbClr val="5B5A72"/>
                </a:solidFill>
                <a:latin typeface="Calibri" pitchFamily="34" charset="0"/>
                <a:ea typeface="Calibri" pitchFamily="34" charset="-122"/>
                <a:cs typeface="Calibri" pitchFamily="34" charset="-120"/>
              </a:rPr>
              <a:t>Plus up to 5 tailored tips</a:t>
            </a:r>
            <a:endParaRPr lang="en-US" sz="1050" dirty="0"/>
          </a:p>
        </p:txBody>
      </p:sp>
      <p:sp>
        <p:nvSpPr>
          <p:cNvPr id="39" name="Text 32"/>
          <p:cNvSpPr txBox="1"/>
          <p:nvPr/>
        </p:nvSpPr>
        <p:spPr>
          <a:xfrm>
            <a:off x="457200" y="3429000"/>
            <a:ext cx="5577840" cy="10058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E1B3A"/>
                </a:solidFill>
                <a:latin typeface="Calibri" pitchFamily="34" charset="0"/>
                <a:ea typeface="Calibri" pitchFamily="34" charset="-122"/>
                <a:cs typeface="Calibri" pitchFamily="34" charset="-120"/>
              </a:rPr>
              <a:t>Works in Chrome and Edge with no extra software</a:t>
            </a:r>
            <a:endParaRPr lang="en-US" sz="1150" dirty="0"/>
          </a:p>
          <a:p>
            <a:pPr marL="342900" indent="-342900">
              <a:spcAft>
                <a:spcPts val="400"/>
              </a:spcAft>
              <a:buSzPct val="100000"/>
              <a:buChar char="•"/>
            </a:pPr>
            <a:r>
              <a:rPr lang="en-US" sz="1150" dirty="0">
                <a:solidFill>
                  <a:srgbClr val="1E1B3A"/>
                </a:solidFill>
                <a:latin typeface="Calibri" pitchFamily="34" charset="0"/>
                <a:ea typeface="Calibri" pitchFamily="34" charset="-122"/>
                <a:cs typeface="Calibri" pitchFamily="34" charset="-120"/>
              </a:rPr>
              <a:t>Answers can also be typed if a microphone is unavailable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9</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Gap Analysis and Preparation Plan</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From missing skills to a day by day schedule</a:t>
            </a:r>
            <a:endParaRPr lang="en-US" sz="1300" dirty="0"/>
          </a:p>
        </p:txBody>
      </p:sp>
      <p:sp>
        <p:nvSpPr>
          <p:cNvPr id="7" name="Shape 4"/>
          <p:cNvSpPr/>
          <p:nvPr/>
        </p:nvSpPr>
        <p:spPr>
          <a:xfrm>
            <a:off x="457200" y="1417320"/>
            <a:ext cx="2651760" cy="1691640"/>
          </a:xfrm>
          <a:prstGeom prst="roundRect">
            <a:avLst>
              <a:gd name="adj" fmla="val 6486"/>
            </a:avLst>
          </a:prstGeom>
          <a:solidFill>
            <a:srgbClr val="F3F1FA"/>
          </a:solidFill>
          <a:ln w="12700">
            <a:solidFill>
              <a:srgbClr val="F3F1FA"/>
            </a:solidFill>
            <a:prstDash val="solid"/>
          </a:ln>
        </p:spPr>
      </p:sp>
      <p:sp>
        <p:nvSpPr>
          <p:cNvPr id="8" name="Shape 5"/>
          <p:cNvSpPr/>
          <p:nvPr/>
        </p:nvSpPr>
        <p:spPr>
          <a:xfrm>
            <a:off x="640080" y="1572768"/>
            <a:ext cx="201168" cy="201168"/>
          </a:xfrm>
          <a:prstGeom prst="ellipse">
            <a:avLst/>
          </a:prstGeom>
          <a:solidFill>
            <a:srgbClr val="22C55E"/>
          </a:solidFill>
          <a:ln w="12700">
            <a:solidFill>
              <a:srgbClr val="22C55E"/>
            </a:solidFill>
            <a:prstDash val="solid"/>
          </a:ln>
        </p:spPr>
      </p:sp>
      <p:sp>
        <p:nvSpPr>
          <p:cNvPr id="9" name="Text 6"/>
          <p:cNvSpPr txBox="1"/>
          <p:nvPr/>
        </p:nvSpPr>
        <p:spPr>
          <a:xfrm>
            <a:off x="960120" y="1508760"/>
            <a:ext cx="2011680" cy="320040"/>
          </a:xfrm>
          <a:prstGeom prst="rect">
            <a:avLst/>
          </a:prstGeom>
          <a:noFill/>
          <a:ln/>
        </p:spPr>
        <p:txBody>
          <a:bodyPr wrap="square" lIns="0" tIns="0" rIns="0" bIns="0" rtlCol="0" anchor="t"/>
          <a:lstStyle/>
          <a:p>
            <a:pPr algn="l" indent="0" marL="0">
              <a:buNone/>
            </a:pPr>
            <a:r>
              <a:rPr lang="en-US" sz="1400" b="1" dirty="0">
                <a:solidFill>
                  <a:srgbClr val="1E1B3A"/>
                </a:solidFill>
                <a:latin typeface="Calibri" pitchFamily="34" charset="0"/>
                <a:ea typeface="Calibri" pitchFamily="34" charset="-122"/>
                <a:cs typeface="Calibri" pitchFamily="34" charset="-120"/>
              </a:rPr>
              <a:t>Have</a:t>
            </a:r>
            <a:endParaRPr lang="en-US" sz="1400" dirty="0"/>
          </a:p>
        </p:txBody>
      </p:sp>
      <p:sp>
        <p:nvSpPr>
          <p:cNvPr id="10" name="Text 7"/>
          <p:cNvSpPr txBox="1"/>
          <p:nvPr/>
        </p:nvSpPr>
        <p:spPr>
          <a:xfrm>
            <a:off x="640080" y="1920240"/>
            <a:ext cx="2286000" cy="10972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E1B3A"/>
                </a:solidFill>
                <a:latin typeface="Calibri" pitchFamily="34" charset="0"/>
                <a:ea typeface="Calibri" pitchFamily="34" charset="-122"/>
                <a:cs typeface="Calibri" pitchFamily="34" charset="-120"/>
              </a:rPr>
              <a:t>React (example)</a:t>
            </a:r>
            <a:endParaRPr lang="en-US" sz="1100" dirty="0"/>
          </a:p>
          <a:p>
            <a:pPr marL="342900" indent="-342900">
              <a:spcAft>
                <a:spcPts val="300"/>
              </a:spcAft>
              <a:buSzPct val="100000"/>
              <a:buChar char="•"/>
            </a:pPr>
            <a:r>
              <a:rPr lang="en-US" sz="1100" dirty="0">
                <a:solidFill>
                  <a:srgbClr val="1E1B3A"/>
                </a:solidFill>
                <a:latin typeface="Calibri" pitchFamily="34" charset="0"/>
                <a:ea typeface="Calibri" pitchFamily="34" charset="-122"/>
                <a:cs typeface="Calibri" pitchFamily="34" charset="-120"/>
              </a:rPr>
              <a:t>Node.js (example)</a:t>
            </a:r>
            <a:endParaRPr lang="en-US" sz="1100" dirty="0"/>
          </a:p>
          <a:p>
            <a:pPr marL="342900" indent="-342900">
              <a:spcAft>
                <a:spcPts val="300"/>
              </a:spcAft>
              <a:buSzPct val="100000"/>
              <a:buChar char="•"/>
            </a:pPr>
            <a:r>
              <a:rPr lang="en-US" sz="1100" dirty="0">
                <a:solidFill>
                  <a:srgbClr val="1E1B3A"/>
                </a:solidFill>
                <a:latin typeface="Calibri" pitchFamily="34" charset="0"/>
                <a:ea typeface="Calibri" pitchFamily="34" charset="-122"/>
                <a:cs typeface="Calibri" pitchFamily="34" charset="-120"/>
              </a:rPr>
              <a:t>MongoDB (example)</a:t>
            </a:r>
            <a:endParaRPr lang="en-US" sz="1100" dirty="0"/>
          </a:p>
        </p:txBody>
      </p:sp>
      <p:sp>
        <p:nvSpPr>
          <p:cNvPr id="11" name="Shape 8"/>
          <p:cNvSpPr/>
          <p:nvPr/>
        </p:nvSpPr>
        <p:spPr>
          <a:xfrm>
            <a:off x="3246120" y="1417320"/>
            <a:ext cx="2651760" cy="1691640"/>
          </a:xfrm>
          <a:prstGeom prst="roundRect">
            <a:avLst>
              <a:gd name="adj" fmla="val 6486"/>
            </a:avLst>
          </a:prstGeom>
          <a:solidFill>
            <a:srgbClr val="F3F1FA"/>
          </a:solidFill>
          <a:ln w="12700">
            <a:solidFill>
              <a:srgbClr val="F3F1FA"/>
            </a:solidFill>
            <a:prstDash val="solid"/>
          </a:ln>
        </p:spPr>
      </p:sp>
      <p:sp>
        <p:nvSpPr>
          <p:cNvPr id="12" name="Shape 9"/>
          <p:cNvSpPr/>
          <p:nvPr/>
        </p:nvSpPr>
        <p:spPr>
          <a:xfrm>
            <a:off x="3429000" y="1572768"/>
            <a:ext cx="201168" cy="201168"/>
          </a:xfrm>
          <a:prstGeom prst="ellipse">
            <a:avLst/>
          </a:prstGeom>
          <a:solidFill>
            <a:srgbClr val="F59E0B"/>
          </a:solidFill>
          <a:ln w="12700">
            <a:solidFill>
              <a:srgbClr val="F59E0B"/>
            </a:solidFill>
            <a:prstDash val="solid"/>
          </a:ln>
        </p:spPr>
      </p:sp>
      <p:sp>
        <p:nvSpPr>
          <p:cNvPr id="13" name="Text 10"/>
          <p:cNvSpPr txBox="1"/>
          <p:nvPr/>
        </p:nvSpPr>
        <p:spPr>
          <a:xfrm>
            <a:off x="3749040" y="1508760"/>
            <a:ext cx="2011680" cy="320040"/>
          </a:xfrm>
          <a:prstGeom prst="rect">
            <a:avLst/>
          </a:prstGeom>
          <a:noFill/>
          <a:ln/>
        </p:spPr>
        <p:txBody>
          <a:bodyPr wrap="square" lIns="0" tIns="0" rIns="0" bIns="0" rtlCol="0" anchor="t"/>
          <a:lstStyle/>
          <a:p>
            <a:pPr algn="l" indent="0" marL="0">
              <a:buNone/>
            </a:pPr>
            <a:r>
              <a:rPr lang="en-US" sz="1400" b="1" dirty="0">
                <a:solidFill>
                  <a:srgbClr val="1E1B3A"/>
                </a:solidFill>
                <a:latin typeface="Calibri" pitchFamily="34" charset="0"/>
                <a:ea typeface="Calibri" pitchFamily="34" charset="-122"/>
                <a:cs typeface="Calibri" pitchFamily="34" charset="-120"/>
              </a:rPr>
              <a:t>Add to resume</a:t>
            </a:r>
            <a:endParaRPr lang="en-US" sz="1400" dirty="0"/>
          </a:p>
        </p:txBody>
      </p:sp>
      <p:sp>
        <p:nvSpPr>
          <p:cNvPr id="14" name="Text 11"/>
          <p:cNvSpPr txBox="1"/>
          <p:nvPr/>
        </p:nvSpPr>
        <p:spPr>
          <a:xfrm>
            <a:off x="3429000" y="1920240"/>
            <a:ext cx="2286000" cy="10972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E1B3A"/>
                </a:solidFill>
                <a:latin typeface="Calibri" pitchFamily="34" charset="0"/>
                <a:ea typeface="Calibri" pitchFamily="34" charset="-122"/>
                <a:cs typeface="Calibri" pitchFamily="34" charset="-120"/>
              </a:rPr>
              <a:t>REST API design (example)</a:t>
            </a:r>
            <a:endParaRPr lang="en-US" sz="1100" dirty="0"/>
          </a:p>
          <a:p>
            <a:pPr marL="342900" indent="-342900">
              <a:spcAft>
                <a:spcPts val="300"/>
              </a:spcAft>
              <a:buSzPct val="100000"/>
              <a:buChar char="•"/>
            </a:pPr>
            <a:r>
              <a:rPr lang="en-US" sz="1100" dirty="0">
                <a:solidFill>
                  <a:srgbClr val="1E1B3A"/>
                </a:solidFill>
                <a:latin typeface="Calibri" pitchFamily="34" charset="0"/>
                <a:ea typeface="Calibri" pitchFamily="34" charset="-122"/>
                <a:cs typeface="Calibri" pitchFamily="34" charset="-120"/>
              </a:rPr>
              <a:t>Unit testing (example)</a:t>
            </a:r>
            <a:endParaRPr lang="en-US" sz="1100" dirty="0"/>
          </a:p>
        </p:txBody>
      </p:sp>
      <p:sp>
        <p:nvSpPr>
          <p:cNvPr id="15" name="Shape 12"/>
          <p:cNvSpPr/>
          <p:nvPr/>
        </p:nvSpPr>
        <p:spPr>
          <a:xfrm>
            <a:off x="6035040" y="1417320"/>
            <a:ext cx="2651760" cy="1691640"/>
          </a:xfrm>
          <a:prstGeom prst="roundRect">
            <a:avLst>
              <a:gd name="adj" fmla="val 6486"/>
            </a:avLst>
          </a:prstGeom>
          <a:solidFill>
            <a:srgbClr val="F3F1FA"/>
          </a:solidFill>
          <a:ln w="12700">
            <a:solidFill>
              <a:srgbClr val="F3F1FA"/>
            </a:solidFill>
            <a:prstDash val="solid"/>
          </a:ln>
        </p:spPr>
      </p:sp>
      <p:sp>
        <p:nvSpPr>
          <p:cNvPr id="16" name="Shape 13"/>
          <p:cNvSpPr/>
          <p:nvPr/>
        </p:nvSpPr>
        <p:spPr>
          <a:xfrm>
            <a:off x="6217920" y="1572768"/>
            <a:ext cx="201168" cy="201168"/>
          </a:xfrm>
          <a:prstGeom prst="ellipse">
            <a:avLst/>
          </a:prstGeom>
          <a:solidFill>
            <a:srgbClr val="EF4444"/>
          </a:solidFill>
          <a:ln w="12700">
            <a:solidFill>
              <a:srgbClr val="EF4444"/>
            </a:solidFill>
            <a:prstDash val="solid"/>
          </a:ln>
        </p:spPr>
      </p:sp>
      <p:sp>
        <p:nvSpPr>
          <p:cNvPr id="17" name="Text 14"/>
          <p:cNvSpPr txBox="1"/>
          <p:nvPr/>
        </p:nvSpPr>
        <p:spPr>
          <a:xfrm>
            <a:off x="6537960" y="1508760"/>
            <a:ext cx="2011680" cy="320040"/>
          </a:xfrm>
          <a:prstGeom prst="rect">
            <a:avLst/>
          </a:prstGeom>
          <a:noFill/>
          <a:ln/>
        </p:spPr>
        <p:txBody>
          <a:bodyPr wrap="square" lIns="0" tIns="0" rIns="0" bIns="0" rtlCol="0" anchor="t"/>
          <a:lstStyle/>
          <a:p>
            <a:pPr algn="l" indent="0" marL="0">
              <a:buNone/>
            </a:pPr>
            <a:r>
              <a:rPr lang="en-US" sz="1400" b="1" dirty="0">
                <a:solidFill>
                  <a:srgbClr val="1E1B3A"/>
                </a:solidFill>
                <a:latin typeface="Calibri" pitchFamily="34" charset="0"/>
                <a:ea typeface="Calibri" pitchFamily="34" charset="-122"/>
                <a:cs typeface="Calibri" pitchFamily="34" charset="-120"/>
              </a:rPr>
              <a:t>Learn</a:t>
            </a:r>
            <a:endParaRPr lang="en-US" sz="1400" dirty="0"/>
          </a:p>
        </p:txBody>
      </p:sp>
      <p:sp>
        <p:nvSpPr>
          <p:cNvPr id="18" name="Text 15"/>
          <p:cNvSpPr txBox="1"/>
          <p:nvPr/>
        </p:nvSpPr>
        <p:spPr>
          <a:xfrm>
            <a:off x="6217920" y="1920240"/>
            <a:ext cx="2286000" cy="10972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E1B3A"/>
                </a:solidFill>
                <a:latin typeface="Calibri" pitchFamily="34" charset="0"/>
                <a:ea typeface="Calibri" pitchFamily="34" charset="-122"/>
                <a:cs typeface="Calibri" pitchFamily="34" charset="-120"/>
              </a:rPr>
              <a:t>Docker (example)</a:t>
            </a:r>
            <a:endParaRPr lang="en-US" sz="1100" dirty="0"/>
          </a:p>
          <a:p>
            <a:pPr marL="342900" indent="-342900">
              <a:spcAft>
                <a:spcPts val="300"/>
              </a:spcAft>
              <a:buSzPct val="100000"/>
              <a:buChar char="•"/>
            </a:pPr>
            <a:r>
              <a:rPr lang="en-US" sz="1100" dirty="0">
                <a:solidFill>
                  <a:srgbClr val="1E1B3A"/>
                </a:solidFill>
                <a:latin typeface="Calibri" pitchFamily="34" charset="0"/>
                <a:ea typeface="Calibri" pitchFamily="34" charset="-122"/>
                <a:cs typeface="Calibri" pitchFamily="34" charset="-120"/>
              </a:rPr>
              <a:t>System design basics (example)</a:t>
            </a:r>
            <a:endParaRPr lang="en-US" sz="1100" dirty="0"/>
          </a:p>
        </p:txBody>
      </p:sp>
      <p:sp>
        <p:nvSpPr>
          <p:cNvPr id="19" name="Text 16"/>
          <p:cNvSpPr txBox="1"/>
          <p:nvPr/>
        </p:nvSpPr>
        <p:spPr>
          <a:xfrm>
            <a:off x="457200" y="3291840"/>
            <a:ext cx="3657600" cy="320040"/>
          </a:xfrm>
          <a:prstGeom prst="rect">
            <a:avLst/>
          </a:prstGeom>
          <a:noFill/>
          <a:ln/>
        </p:spPr>
        <p:txBody>
          <a:bodyPr wrap="square" lIns="0" tIns="0" rIns="0" bIns="0" rtlCol="0" anchor="t"/>
          <a:lstStyle/>
          <a:p>
            <a:pPr algn="l" indent="0" marL="0">
              <a:buNone/>
            </a:pPr>
            <a:r>
              <a:rPr lang="en-US" sz="1300" b="1" dirty="0">
                <a:solidFill>
                  <a:srgbClr val="1E1B3A"/>
                </a:solidFill>
                <a:latin typeface="Calibri" pitchFamily="34" charset="0"/>
                <a:ea typeface="Calibri" pitchFamily="34" charset="-122"/>
                <a:cs typeface="Calibri" pitchFamily="34" charset="-120"/>
              </a:rPr>
              <a:t>5 day preparation plan</a:t>
            </a:r>
            <a:endParaRPr lang="en-US" sz="1300" dirty="0"/>
          </a:p>
        </p:txBody>
      </p:sp>
      <p:sp>
        <p:nvSpPr>
          <p:cNvPr id="20" name="Shape 17"/>
          <p:cNvSpPr/>
          <p:nvPr/>
        </p:nvSpPr>
        <p:spPr>
          <a:xfrm>
            <a:off x="457200" y="3657600"/>
            <a:ext cx="1554480" cy="868680"/>
          </a:xfrm>
          <a:prstGeom prst="roundRect">
            <a:avLst>
              <a:gd name="adj" fmla="val 12632"/>
            </a:avLst>
          </a:prstGeom>
          <a:solidFill>
            <a:srgbClr val="EDE9FE"/>
          </a:solidFill>
          <a:ln w="12700">
            <a:solidFill>
              <a:srgbClr val="EDE9FE"/>
            </a:solidFill>
            <a:prstDash val="solid"/>
          </a:ln>
        </p:spPr>
      </p:sp>
      <p:sp>
        <p:nvSpPr>
          <p:cNvPr id="21" name="Text 18"/>
          <p:cNvSpPr txBox="1"/>
          <p:nvPr/>
        </p:nvSpPr>
        <p:spPr>
          <a:xfrm>
            <a:off x="594360" y="3730752"/>
            <a:ext cx="12801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Day 1</a:t>
            </a:r>
            <a:endParaRPr lang="en-US" sz="1100" dirty="0"/>
          </a:p>
        </p:txBody>
      </p:sp>
      <p:sp>
        <p:nvSpPr>
          <p:cNvPr id="22" name="Text 19"/>
          <p:cNvSpPr txBox="1"/>
          <p:nvPr/>
        </p:nvSpPr>
        <p:spPr>
          <a:xfrm>
            <a:off x="594360" y="4005072"/>
            <a:ext cx="132588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Core concepts revision</a:t>
            </a:r>
            <a:endParaRPr lang="en-US" sz="1000" dirty="0"/>
          </a:p>
        </p:txBody>
      </p:sp>
      <p:sp>
        <p:nvSpPr>
          <p:cNvPr id="23" name="Shape 20"/>
          <p:cNvSpPr/>
          <p:nvPr/>
        </p:nvSpPr>
        <p:spPr>
          <a:xfrm>
            <a:off x="2139696" y="3657600"/>
            <a:ext cx="1554480" cy="868680"/>
          </a:xfrm>
          <a:prstGeom prst="roundRect">
            <a:avLst>
              <a:gd name="adj" fmla="val 12632"/>
            </a:avLst>
          </a:prstGeom>
          <a:solidFill>
            <a:srgbClr val="EDE9FE"/>
          </a:solidFill>
          <a:ln w="12700">
            <a:solidFill>
              <a:srgbClr val="EDE9FE"/>
            </a:solidFill>
            <a:prstDash val="solid"/>
          </a:ln>
        </p:spPr>
      </p:sp>
      <p:sp>
        <p:nvSpPr>
          <p:cNvPr id="24" name="Text 21"/>
          <p:cNvSpPr txBox="1"/>
          <p:nvPr/>
        </p:nvSpPr>
        <p:spPr>
          <a:xfrm>
            <a:off x="2276856" y="3730752"/>
            <a:ext cx="12801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Day 2</a:t>
            </a:r>
            <a:endParaRPr lang="en-US" sz="1100" dirty="0"/>
          </a:p>
        </p:txBody>
      </p:sp>
      <p:sp>
        <p:nvSpPr>
          <p:cNvPr id="25" name="Text 22"/>
          <p:cNvSpPr txBox="1"/>
          <p:nvPr/>
        </p:nvSpPr>
        <p:spPr>
          <a:xfrm>
            <a:off x="2276856" y="4005072"/>
            <a:ext cx="132588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DSA weak topics</a:t>
            </a:r>
            <a:endParaRPr lang="en-US" sz="1000" dirty="0"/>
          </a:p>
        </p:txBody>
      </p:sp>
      <p:sp>
        <p:nvSpPr>
          <p:cNvPr id="26" name="Shape 23"/>
          <p:cNvSpPr/>
          <p:nvPr/>
        </p:nvSpPr>
        <p:spPr>
          <a:xfrm>
            <a:off x="3822192" y="3657600"/>
            <a:ext cx="1554480" cy="868680"/>
          </a:xfrm>
          <a:prstGeom prst="roundRect">
            <a:avLst>
              <a:gd name="adj" fmla="val 12632"/>
            </a:avLst>
          </a:prstGeom>
          <a:solidFill>
            <a:srgbClr val="EDE9FE"/>
          </a:solidFill>
          <a:ln w="12700">
            <a:solidFill>
              <a:srgbClr val="EDE9FE"/>
            </a:solidFill>
            <a:prstDash val="solid"/>
          </a:ln>
        </p:spPr>
      </p:sp>
      <p:sp>
        <p:nvSpPr>
          <p:cNvPr id="27" name="Text 24"/>
          <p:cNvSpPr txBox="1"/>
          <p:nvPr/>
        </p:nvSpPr>
        <p:spPr>
          <a:xfrm>
            <a:off x="3959352" y="3730752"/>
            <a:ext cx="12801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Day 3</a:t>
            </a:r>
            <a:endParaRPr lang="en-US" sz="1100" dirty="0"/>
          </a:p>
        </p:txBody>
      </p:sp>
      <p:sp>
        <p:nvSpPr>
          <p:cNvPr id="28" name="Text 25"/>
          <p:cNvSpPr txBox="1"/>
          <p:nvPr/>
        </p:nvSpPr>
        <p:spPr>
          <a:xfrm>
            <a:off x="3959352" y="4005072"/>
            <a:ext cx="132588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Project deep dives</a:t>
            </a:r>
            <a:endParaRPr lang="en-US" sz="1000" dirty="0"/>
          </a:p>
        </p:txBody>
      </p:sp>
      <p:sp>
        <p:nvSpPr>
          <p:cNvPr id="29" name="Shape 26"/>
          <p:cNvSpPr/>
          <p:nvPr/>
        </p:nvSpPr>
        <p:spPr>
          <a:xfrm>
            <a:off x="5504688" y="3657600"/>
            <a:ext cx="1554480" cy="868680"/>
          </a:xfrm>
          <a:prstGeom prst="roundRect">
            <a:avLst>
              <a:gd name="adj" fmla="val 12632"/>
            </a:avLst>
          </a:prstGeom>
          <a:solidFill>
            <a:srgbClr val="EDE9FE"/>
          </a:solidFill>
          <a:ln w="12700">
            <a:solidFill>
              <a:srgbClr val="EDE9FE"/>
            </a:solidFill>
            <a:prstDash val="solid"/>
          </a:ln>
        </p:spPr>
      </p:sp>
      <p:sp>
        <p:nvSpPr>
          <p:cNvPr id="30" name="Text 27"/>
          <p:cNvSpPr txBox="1"/>
          <p:nvPr/>
        </p:nvSpPr>
        <p:spPr>
          <a:xfrm>
            <a:off x="5641848" y="3730752"/>
            <a:ext cx="12801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Day 4</a:t>
            </a:r>
            <a:endParaRPr lang="en-US" sz="1100" dirty="0"/>
          </a:p>
        </p:txBody>
      </p:sp>
      <p:sp>
        <p:nvSpPr>
          <p:cNvPr id="31" name="Text 28"/>
          <p:cNvSpPr txBox="1"/>
          <p:nvPr/>
        </p:nvSpPr>
        <p:spPr>
          <a:xfrm>
            <a:off x="5641848" y="4005072"/>
            <a:ext cx="132588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Behavioural STAR stories</a:t>
            </a:r>
            <a:endParaRPr lang="en-US" sz="1000" dirty="0"/>
          </a:p>
        </p:txBody>
      </p:sp>
      <p:sp>
        <p:nvSpPr>
          <p:cNvPr id="32" name="Shape 29"/>
          <p:cNvSpPr/>
          <p:nvPr/>
        </p:nvSpPr>
        <p:spPr>
          <a:xfrm>
            <a:off x="7187184" y="3657600"/>
            <a:ext cx="1554480" cy="868680"/>
          </a:xfrm>
          <a:prstGeom prst="roundRect">
            <a:avLst>
              <a:gd name="adj" fmla="val 12632"/>
            </a:avLst>
          </a:prstGeom>
          <a:solidFill>
            <a:srgbClr val="EDE9FE"/>
          </a:solidFill>
          <a:ln w="12700">
            <a:solidFill>
              <a:srgbClr val="EDE9FE"/>
            </a:solidFill>
            <a:prstDash val="solid"/>
          </a:ln>
        </p:spPr>
      </p:sp>
      <p:sp>
        <p:nvSpPr>
          <p:cNvPr id="33" name="Text 30"/>
          <p:cNvSpPr txBox="1"/>
          <p:nvPr/>
        </p:nvSpPr>
        <p:spPr>
          <a:xfrm>
            <a:off x="7324344" y="3730752"/>
            <a:ext cx="12801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Day 5</a:t>
            </a:r>
            <a:endParaRPr lang="en-US" sz="1100" dirty="0"/>
          </a:p>
        </p:txBody>
      </p:sp>
      <p:sp>
        <p:nvSpPr>
          <p:cNvPr id="34" name="Text 31"/>
          <p:cNvSpPr txBox="1"/>
          <p:nvPr/>
        </p:nvSpPr>
        <p:spPr>
          <a:xfrm>
            <a:off x="7324344" y="4005072"/>
            <a:ext cx="132588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Mock interview and review</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10</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Mentor Sharing and Collaboration</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Get feedback from seniors without them creating an account</a:t>
            </a:r>
            <a:endParaRPr lang="en-US" sz="1300" dirty="0"/>
          </a:p>
        </p:txBody>
      </p:sp>
      <p:sp>
        <p:nvSpPr>
          <p:cNvPr id="7" name="Shape 4"/>
          <p:cNvSpPr/>
          <p:nvPr/>
        </p:nvSpPr>
        <p:spPr>
          <a:xfrm>
            <a:off x="731520" y="1554480"/>
            <a:ext cx="640080" cy="640080"/>
          </a:xfrm>
          <a:prstGeom prst="roundRect">
            <a:avLst>
              <a:gd name="adj" fmla="val 14286"/>
            </a:avLst>
          </a:prstGeom>
          <a:solidFill>
            <a:srgbClr val="7C3AED"/>
          </a:solidFill>
          <a:ln w="12700">
            <a:solidFill>
              <a:srgbClr val="7C3AED"/>
            </a:solidFill>
            <a:prstDash val="solid"/>
          </a:ln>
        </p:spPr>
      </p:sp>
      <p:pic>
        <p:nvPicPr>
          <p:cNvPr id="8" name="Image 0" descr="preencoded.png">    </p:cNvPr>
          <p:cNvPicPr>
            <a:picLocks noChangeAspect="1"/>
          </p:cNvPicPr>
          <p:nvPr/>
        </p:nvPicPr>
        <p:blipFill>
          <a:blip r:embed="rId1"/>
          <a:stretch>
            <a:fillRect/>
          </a:stretch>
        </p:blipFill>
        <p:spPr>
          <a:xfrm>
            <a:off x="872338" y="1695298"/>
            <a:ext cx="358445" cy="358445"/>
          </a:xfrm>
          <a:prstGeom prst="rect">
            <a:avLst/>
          </a:prstGeom>
        </p:spPr>
      </p:pic>
      <p:sp>
        <p:nvSpPr>
          <p:cNvPr id="9" name="Text 5"/>
          <p:cNvSpPr txBox="1"/>
          <p:nvPr/>
        </p:nvSpPr>
        <p:spPr>
          <a:xfrm>
            <a:off x="457200" y="2286000"/>
            <a:ext cx="1188720" cy="548640"/>
          </a:xfrm>
          <a:prstGeom prst="rect">
            <a:avLst/>
          </a:prstGeom>
          <a:noFill/>
          <a:ln/>
        </p:spPr>
        <p:txBody>
          <a:bodyPr wrap="square" lIns="0" tIns="0" rIns="0" bIns="0" rtlCol="0" anchor="t"/>
          <a:lstStyle/>
          <a:p>
            <a:pPr algn="ctr" indent="0" marL="0">
              <a:buNone/>
            </a:pPr>
            <a:r>
              <a:rPr lang="en-US" sz="1100" b="1" dirty="0">
                <a:solidFill>
                  <a:srgbClr val="1E1B3A"/>
                </a:solidFill>
                <a:latin typeface="Calibri" pitchFamily="34" charset="0"/>
                <a:ea typeface="Calibri" pitchFamily="34" charset="-122"/>
                <a:cs typeface="Calibri" pitchFamily="34" charset="-120"/>
              </a:rPr>
              <a:t>Candidate report</a:t>
            </a:r>
            <a:endParaRPr lang="en-US" sz="1100" dirty="0"/>
          </a:p>
        </p:txBody>
      </p:sp>
      <p:sp>
        <p:nvSpPr>
          <p:cNvPr id="10" name="Shape 6"/>
          <p:cNvSpPr/>
          <p:nvPr/>
        </p:nvSpPr>
        <p:spPr>
          <a:xfrm>
            <a:off x="1481328" y="1737360"/>
            <a:ext cx="228600" cy="274320"/>
          </a:xfrm>
          <a:prstGeom prst="rightArrow">
            <a:avLst/>
          </a:prstGeom>
          <a:solidFill>
            <a:srgbClr val="7C3AED"/>
          </a:solidFill>
          <a:ln w="12700">
            <a:solidFill>
              <a:srgbClr val="7C3AED"/>
            </a:solidFill>
            <a:prstDash val="solid"/>
          </a:ln>
        </p:spPr>
      </p:sp>
      <p:sp>
        <p:nvSpPr>
          <p:cNvPr id="11" name="Shape 7"/>
          <p:cNvSpPr/>
          <p:nvPr/>
        </p:nvSpPr>
        <p:spPr>
          <a:xfrm>
            <a:off x="2057400" y="1554480"/>
            <a:ext cx="640080" cy="640080"/>
          </a:xfrm>
          <a:prstGeom prst="roundRect">
            <a:avLst>
              <a:gd name="adj" fmla="val 14286"/>
            </a:avLst>
          </a:prstGeom>
          <a:solidFill>
            <a:srgbClr val="7C3AED"/>
          </a:solidFill>
          <a:ln w="12700">
            <a:solidFill>
              <a:srgbClr val="7C3AED"/>
            </a:solidFill>
            <a:prstDash val="solid"/>
          </a:ln>
        </p:spPr>
      </p:sp>
      <p:pic>
        <p:nvPicPr>
          <p:cNvPr id="12" name="Image 1" descr="preencoded.png">    </p:cNvPr>
          <p:cNvPicPr>
            <a:picLocks noChangeAspect="1"/>
          </p:cNvPicPr>
          <p:nvPr/>
        </p:nvPicPr>
        <p:blipFill>
          <a:blip r:embed="rId2"/>
          <a:stretch>
            <a:fillRect/>
          </a:stretch>
        </p:blipFill>
        <p:spPr>
          <a:xfrm>
            <a:off x="2198218" y="1695298"/>
            <a:ext cx="358445" cy="358445"/>
          </a:xfrm>
          <a:prstGeom prst="rect">
            <a:avLst/>
          </a:prstGeom>
        </p:spPr>
      </p:pic>
      <p:sp>
        <p:nvSpPr>
          <p:cNvPr id="13" name="Text 8"/>
          <p:cNvSpPr txBox="1"/>
          <p:nvPr/>
        </p:nvSpPr>
        <p:spPr>
          <a:xfrm>
            <a:off x="1783080" y="2286000"/>
            <a:ext cx="1188720" cy="548640"/>
          </a:xfrm>
          <a:prstGeom prst="rect">
            <a:avLst/>
          </a:prstGeom>
          <a:noFill/>
          <a:ln/>
        </p:spPr>
        <p:txBody>
          <a:bodyPr wrap="square" lIns="0" tIns="0" rIns="0" bIns="0" rtlCol="0" anchor="t"/>
          <a:lstStyle/>
          <a:p>
            <a:pPr algn="ctr" indent="0" marL="0">
              <a:buNone/>
            </a:pPr>
            <a:r>
              <a:rPr lang="en-US" sz="1100" b="1" dirty="0">
                <a:solidFill>
                  <a:srgbClr val="1E1B3A"/>
                </a:solidFill>
                <a:latin typeface="Calibri" pitchFamily="34" charset="0"/>
                <a:ea typeface="Calibri" pitchFamily="34" charset="-122"/>
                <a:cs typeface="Calibri" pitchFamily="34" charset="-120"/>
              </a:rPr>
              <a:t>Share token link</a:t>
            </a:r>
            <a:endParaRPr lang="en-US" sz="1100" dirty="0"/>
          </a:p>
        </p:txBody>
      </p:sp>
      <p:sp>
        <p:nvSpPr>
          <p:cNvPr id="14" name="Shape 9"/>
          <p:cNvSpPr/>
          <p:nvPr/>
        </p:nvSpPr>
        <p:spPr>
          <a:xfrm>
            <a:off x="2807208" y="1737360"/>
            <a:ext cx="228600" cy="274320"/>
          </a:xfrm>
          <a:prstGeom prst="rightArrow">
            <a:avLst/>
          </a:prstGeom>
          <a:solidFill>
            <a:srgbClr val="7C3AED"/>
          </a:solidFill>
          <a:ln w="12700">
            <a:solidFill>
              <a:srgbClr val="7C3AED"/>
            </a:solidFill>
            <a:prstDash val="solid"/>
          </a:ln>
        </p:spPr>
      </p:sp>
      <p:sp>
        <p:nvSpPr>
          <p:cNvPr id="15" name="Shape 10"/>
          <p:cNvSpPr/>
          <p:nvPr/>
        </p:nvSpPr>
        <p:spPr>
          <a:xfrm>
            <a:off x="3383280" y="1554480"/>
            <a:ext cx="640080" cy="640080"/>
          </a:xfrm>
          <a:prstGeom prst="roundRect">
            <a:avLst>
              <a:gd name="adj" fmla="val 14286"/>
            </a:avLst>
          </a:prstGeom>
          <a:solidFill>
            <a:srgbClr val="7C3AED"/>
          </a:solidFill>
          <a:ln w="12700">
            <a:solidFill>
              <a:srgbClr val="7C3AED"/>
            </a:solidFill>
            <a:prstDash val="solid"/>
          </a:ln>
        </p:spPr>
      </p:sp>
      <p:pic>
        <p:nvPicPr>
          <p:cNvPr id="16" name="Image 2" descr="preencoded.png">    </p:cNvPr>
          <p:cNvPicPr>
            <a:picLocks noChangeAspect="1"/>
          </p:cNvPicPr>
          <p:nvPr/>
        </p:nvPicPr>
        <p:blipFill>
          <a:blip r:embed="rId3"/>
          <a:stretch>
            <a:fillRect/>
          </a:stretch>
        </p:blipFill>
        <p:spPr>
          <a:xfrm>
            <a:off x="3524098" y="1695298"/>
            <a:ext cx="358445" cy="358445"/>
          </a:xfrm>
          <a:prstGeom prst="rect">
            <a:avLst/>
          </a:prstGeom>
        </p:spPr>
      </p:pic>
      <p:sp>
        <p:nvSpPr>
          <p:cNvPr id="17" name="Text 11"/>
          <p:cNvSpPr txBox="1"/>
          <p:nvPr/>
        </p:nvSpPr>
        <p:spPr>
          <a:xfrm>
            <a:off x="3108960" y="2286000"/>
            <a:ext cx="1188720" cy="548640"/>
          </a:xfrm>
          <a:prstGeom prst="rect">
            <a:avLst/>
          </a:prstGeom>
          <a:noFill/>
          <a:ln/>
        </p:spPr>
        <p:txBody>
          <a:bodyPr wrap="square" lIns="0" tIns="0" rIns="0" bIns="0" rtlCol="0" anchor="t"/>
          <a:lstStyle/>
          <a:p>
            <a:pPr algn="ctr" indent="0" marL="0">
              <a:buNone/>
            </a:pPr>
            <a:r>
              <a:rPr lang="en-US" sz="1100" b="1" dirty="0">
                <a:solidFill>
                  <a:srgbClr val="1E1B3A"/>
                </a:solidFill>
                <a:latin typeface="Calibri" pitchFamily="34" charset="0"/>
                <a:ea typeface="Calibri" pitchFamily="34" charset="-122"/>
                <a:cs typeface="Calibri" pitchFamily="34" charset="-120"/>
              </a:rPr>
              <a:t>Mentor opens, no login</a:t>
            </a:r>
            <a:endParaRPr lang="en-US" sz="1100" dirty="0"/>
          </a:p>
        </p:txBody>
      </p:sp>
      <p:sp>
        <p:nvSpPr>
          <p:cNvPr id="18" name="Shape 12"/>
          <p:cNvSpPr/>
          <p:nvPr/>
        </p:nvSpPr>
        <p:spPr>
          <a:xfrm>
            <a:off x="4133088" y="1737360"/>
            <a:ext cx="228600" cy="274320"/>
          </a:xfrm>
          <a:prstGeom prst="rightArrow">
            <a:avLst/>
          </a:prstGeom>
          <a:solidFill>
            <a:srgbClr val="7C3AED"/>
          </a:solidFill>
          <a:ln w="12700">
            <a:solidFill>
              <a:srgbClr val="7C3AED"/>
            </a:solidFill>
            <a:prstDash val="solid"/>
          </a:ln>
        </p:spPr>
      </p:sp>
      <p:sp>
        <p:nvSpPr>
          <p:cNvPr id="19" name="Shape 13"/>
          <p:cNvSpPr/>
          <p:nvPr/>
        </p:nvSpPr>
        <p:spPr>
          <a:xfrm>
            <a:off x="4709160" y="1554480"/>
            <a:ext cx="640080" cy="640080"/>
          </a:xfrm>
          <a:prstGeom prst="roundRect">
            <a:avLst>
              <a:gd name="adj" fmla="val 14286"/>
            </a:avLst>
          </a:prstGeom>
          <a:solidFill>
            <a:srgbClr val="7C3AED"/>
          </a:solidFill>
          <a:ln w="12700">
            <a:solidFill>
              <a:srgbClr val="7C3AED"/>
            </a:solidFill>
            <a:prstDash val="solid"/>
          </a:ln>
        </p:spPr>
      </p:sp>
      <p:pic>
        <p:nvPicPr>
          <p:cNvPr id="20" name="Image 3" descr="preencoded.png">    </p:cNvPr>
          <p:cNvPicPr>
            <a:picLocks noChangeAspect="1"/>
          </p:cNvPicPr>
          <p:nvPr/>
        </p:nvPicPr>
        <p:blipFill>
          <a:blip r:embed="rId4"/>
          <a:stretch>
            <a:fillRect/>
          </a:stretch>
        </p:blipFill>
        <p:spPr>
          <a:xfrm>
            <a:off x="4849978" y="1695298"/>
            <a:ext cx="358445" cy="358445"/>
          </a:xfrm>
          <a:prstGeom prst="rect">
            <a:avLst/>
          </a:prstGeom>
        </p:spPr>
      </p:pic>
      <p:sp>
        <p:nvSpPr>
          <p:cNvPr id="21" name="Text 14"/>
          <p:cNvSpPr txBox="1"/>
          <p:nvPr/>
        </p:nvSpPr>
        <p:spPr>
          <a:xfrm>
            <a:off x="4434840" y="2286000"/>
            <a:ext cx="1188720" cy="548640"/>
          </a:xfrm>
          <a:prstGeom prst="rect">
            <a:avLst/>
          </a:prstGeom>
          <a:noFill/>
          <a:ln/>
        </p:spPr>
        <p:txBody>
          <a:bodyPr wrap="square" lIns="0" tIns="0" rIns="0" bIns="0" rtlCol="0" anchor="t"/>
          <a:lstStyle/>
          <a:p>
            <a:pPr algn="ctr" indent="0" marL="0">
              <a:buNone/>
            </a:pPr>
            <a:r>
              <a:rPr lang="en-US" sz="1100" b="1" dirty="0">
                <a:solidFill>
                  <a:srgbClr val="1E1B3A"/>
                </a:solidFill>
                <a:latin typeface="Calibri" pitchFamily="34" charset="0"/>
                <a:ea typeface="Calibri" pitchFamily="34" charset="-122"/>
                <a:cs typeface="Calibri" pitchFamily="34" charset="-120"/>
              </a:rPr>
              <a:t>Mentor comments</a:t>
            </a:r>
            <a:endParaRPr lang="en-US" sz="1100" dirty="0"/>
          </a:p>
        </p:txBody>
      </p:sp>
      <p:sp>
        <p:nvSpPr>
          <p:cNvPr id="22" name="Shape 15"/>
          <p:cNvSpPr/>
          <p:nvPr/>
        </p:nvSpPr>
        <p:spPr>
          <a:xfrm>
            <a:off x="5943600" y="1417320"/>
            <a:ext cx="2743200" cy="3108960"/>
          </a:xfrm>
          <a:prstGeom prst="roundRect">
            <a:avLst>
              <a:gd name="adj" fmla="val 4000"/>
            </a:avLst>
          </a:prstGeom>
          <a:solidFill>
            <a:srgbClr val="EDE9FE"/>
          </a:solidFill>
          <a:ln w="12700">
            <a:solidFill>
              <a:srgbClr val="EDE9FE"/>
            </a:solidFill>
            <a:prstDash val="solid"/>
          </a:ln>
        </p:spPr>
      </p:sp>
      <p:sp>
        <p:nvSpPr>
          <p:cNvPr id="23" name="Text 16"/>
          <p:cNvSpPr txBox="1"/>
          <p:nvPr/>
        </p:nvSpPr>
        <p:spPr>
          <a:xfrm>
            <a:off x="6126480" y="1554480"/>
            <a:ext cx="2377440" cy="320040"/>
          </a:xfrm>
          <a:prstGeom prst="rect">
            <a:avLst/>
          </a:prstGeom>
          <a:noFill/>
          <a:ln/>
        </p:spPr>
        <p:txBody>
          <a:bodyPr wrap="square" lIns="0" tIns="0" rIns="0" bIns="0" rtlCol="0" anchor="t"/>
          <a:lstStyle/>
          <a:p>
            <a:pPr algn="l" indent="0" marL="0">
              <a:buNone/>
            </a:pPr>
            <a:r>
              <a:rPr lang="en-US" sz="1200" b="1" dirty="0">
                <a:solidFill>
                  <a:srgbClr val="0284C7"/>
                </a:solidFill>
                <a:latin typeface="Calibri" pitchFamily="34" charset="0"/>
                <a:ea typeface="Calibri" pitchFamily="34" charset="-122"/>
                <a:cs typeface="Calibri" pitchFamily="34" charset="-120"/>
              </a:rPr>
              <a:t>Mentor comment</a:t>
            </a:r>
            <a:endParaRPr lang="en-US" sz="1200" dirty="0"/>
          </a:p>
        </p:txBody>
      </p:sp>
      <p:sp>
        <p:nvSpPr>
          <p:cNvPr id="24" name="Text 17"/>
          <p:cNvSpPr txBox="1"/>
          <p:nvPr/>
        </p:nvSpPr>
        <p:spPr>
          <a:xfrm>
            <a:off x="6126480" y="1874520"/>
            <a:ext cx="2377440" cy="1737360"/>
          </a:xfrm>
          <a:prstGeom prst="rect">
            <a:avLst/>
          </a:prstGeom>
          <a:noFill/>
          <a:ln/>
        </p:spPr>
        <p:txBody>
          <a:bodyPr wrap="square" lIns="0" tIns="0" rIns="0" bIns="0" rtlCol="0" anchor="t"/>
          <a:lstStyle/>
          <a:p>
            <a:pPr algn="l" indent="0" marL="0">
              <a:buNone/>
            </a:pPr>
            <a:r>
              <a:rPr lang="en-US" sz="1100" dirty="0">
                <a:solidFill>
                  <a:srgbClr val="1E1B3A"/>
                </a:solidFill>
                <a:latin typeface="Calibri" pitchFamily="34" charset="0"/>
                <a:ea typeface="Calibri" pitchFamily="34" charset="-122"/>
                <a:cs typeface="Calibri" pitchFamily="34" charset="-120"/>
              </a:rPr>
              <a:t>"Your answer to the caching question is strong, but add a concrete number for the latency improvement. Also practise the Codeforces DP topics before Friday."</a:t>
            </a:r>
            <a:endParaRPr lang="en-US" sz="1100" dirty="0"/>
          </a:p>
        </p:txBody>
      </p:sp>
      <p:sp>
        <p:nvSpPr>
          <p:cNvPr id="25" name="Text 18"/>
          <p:cNvSpPr txBox="1"/>
          <p:nvPr/>
        </p:nvSpPr>
        <p:spPr>
          <a:xfrm>
            <a:off x="6126480" y="4023360"/>
            <a:ext cx="2377440" cy="32004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Senior Mentor, 2 days ago</a:t>
            </a:r>
            <a:endParaRPr lang="en-US" sz="1000" dirty="0"/>
          </a:p>
        </p:txBody>
      </p:sp>
      <p:sp>
        <p:nvSpPr>
          <p:cNvPr id="26" name="Text 19"/>
          <p:cNvSpPr txBox="1"/>
          <p:nvPr/>
        </p:nvSpPr>
        <p:spPr>
          <a:xfrm>
            <a:off x="457200" y="3063240"/>
            <a:ext cx="5120640" cy="13716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E1B3A"/>
                </a:solidFill>
                <a:latin typeface="Calibri" pitchFamily="34" charset="0"/>
                <a:ea typeface="Calibri" pitchFamily="34" charset="-122"/>
                <a:cs typeface="Calibri" pitchFamily="34" charset="-120"/>
              </a:rPr>
              <a:t>Public link, unique token per report</a:t>
            </a:r>
            <a:endParaRPr lang="en-US" sz="1200" dirty="0"/>
          </a:p>
          <a:p>
            <a:pPr marL="342900" indent="-342900">
              <a:spcAft>
                <a:spcPts val="500"/>
              </a:spcAft>
              <a:buSzPct val="100000"/>
              <a:buChar char="•"/>
            </a:pPr>
            <a:r>
              <a:rPr lang="en-US" sz="1200" dirty="0">
                <a:solidFill>
                  <a:srgbClr val="1E1B3A"/>
                </a:solidFill>
                <a:latin typeface="Calibri" pitchFamily="34" charset="0"/>
                <a:ea typeface="Calibri" pitchFamily="34" charset="-122"/>
                <a:cs typeface="Calibri" pitchFamily="34" charset="-120"/>
              </a:rPr>
              <a:t>Comments stored with the report</a:t>
            </a:r>
            <a:endParaRPr lang="en-US" sz="1200" dirty="0"/>
          </a:p>
          <a:p>
            <a:pPr marL="342900" indent="-342900">
              <a:spcAft>
                <a:spcPts val="500"/>
              </a:spcAft>
              <a:buSzPct val="100000"/>
              <a:buChar char="•"/>
            </a:pPr>
            <a:r>
              <a:rPr lang="en-US" sz="1200" dirty="0">
                <a:solidFill>
                  <a:srgbClr val="1E1B3A"/>
                </a:solidFill>
                <a:latin typeface="Calibri" pitchFamily="34" charset="0"/>
                <a:ea typeface="Calibri" pitchFamily="34" charset="-122"/>
                <a:cs typeface="Calibri" pitchFamily="34" charset="-120"/>
              </a:rPr>
              <a:t>Candidate sees feedback inside the app</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11</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Dashboard, Reminders and Exports</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Track progress, never miss a date, take it offline</a:t>
            </a:r>
            <a:endParaRPr lang="en-US" sz="1300" dirty="0"/>
          </a:p>
        </p:txBody>
      </p:sp>
      <p:sp>
        <p:nvSpPr>
          <p:cNvPr id="7" name="Shape 4"/>
          <p:cNvSpPr/>
          <p:nvPr/>
        </p:nvSpPr>
        <p:spPr>
          <a:xfrm>
            <a:off x="457200" y="1417320"/>
            <a:ext cx="3931920" cy="3108960"/>
          </a:xfrm>
          <a:prstGeom prst="roundRect">
            <a:avLst>
              <a:gd name="adj" fmla="val 3529"/>
            </a:avLst>
          </a:prstGeom>
          <a:solidFill>
            <a:srgbClr val="F3F1FA"/>
          </a:solidFill>
          <a:ln w="12700">
            <a:solidFill>
              <a:srgbClr val="F3F1FA"/>
            </a:solidFill>
            <a:prstDash val="solid"/>
          </a:ln>
        </p:spPr>
      </p:sp>
      <p:sp>
        <p:nvSpPr>
          <p:cNvPr id="8" name="Shape 5"/>
          <p:cNvSpPr/>
          <p:nvPr/>
        </p:nvSpPr>
        <p:spPr>
          <a:xfrm>
            <a:off x="640080" y="1572768"/>
            <a:ext cx="411480" cy="411480"/>
          </a:xfrm>
          <a:prstGeom prst="roundRect">
            <a:avLst>
              <a:gd name="adj" fmla="val 22222"/>
            </a:avLst>
          </a:prstGeom>
          <a:solidFill>
            <a:srgbClr val="7C3AED"/>
          </a:solidFill>
          <a:ln w="12700">
            <a:solidFill>
              <a:srgbClr val="7C3AED"/>
            </a:solidFill>
            <a:prstDash val="solid"/>
          </a:ln>
        </p:spPr>
      </p:sp>
      <p:pic>
        <p:nvPicPr>
          <p:cNvPr id="9" name="Image 0" descr="preencoded.png">    </p:cNvPr>
          <p:cNvPicPr>
            <a:picLocks noChangeAspect="1"/>
          </p:cNvPicPr>
          <p:nvPr/>
        </p:nvPicPr>
        <p:blipFill>
          <a:blip r:embed="rId1"/>
          <a:stretch>
            <a:fillRect/>
          </a:stretch>
        </p:blipFill>
        <p:spPr>
          <a:xfrm>
            <a:off x="730606" y="1663294"/>
            <a:ext cx="230429" cy="230429"/>
          </a:xfrm>
          <a:prstGeom prst="rect">
            <a:avLst/>
          </a:prstGeom>
        </p:spPr>
      </p:pic>
      <p:sp>
        <p:nvSpPr>
          <p:cNvPr id="10" name="Text 6"/>
          <p:cNvSpPr txBox="1"/>
          <p:nvPr/>
        </p:nvSpPr>
        <p:spPr>
          <a:xfrm>
            <a:off x="1188720" y="1627632"/>
            <a:ext cx="2743200" cy="320040"/>
          </a:xfrm>
          <a:prstGeom prst="rect">
            <a:avLst/>
          </a:prstGeom>
          <a:noFill/>
          <a:ln/>
        </p:spPr>
        <p:txBody>
          <a:bodyPr wrap="square" lIns="0" tIns="0" rIns="0" bIns="0" rtlCol="0" anchor="t"/>
          <a:lstStyle/>
          <a:p>
            <a:pPr algn="l" indent="0" marL="0">
              <a:buNone/>
            </a:pPr>
            <a:r>
              <a:rPr lang="en-US" sz="1400" b="1" dirty="0">
                <a:solidFill>
                  <a:srgbClr val="1E1B3A"/>
                </a:solidFill>
                <a:latin typeface="Calibri" pitchFamily="34" charset="0"/>
                <a:ea typeface="Calibri" pitchFamily="34" charset="-122"/>
                <a:cs typeface="Calibri" pitchFamily="34" charset="-120"/>
              </a:rPr>
              <a:t>Readiness trend</a:t>
            </a:r>
            <a:endParaRPr lang="en-US" sz="1400" dirty="0"/>
          </a:p>
        </p:txBody>
      </p:sp>
      <p:graphicFrame>
        <p:nvGraphicFramePr>
          <p:cNvPr id="11" name="Chart 0" descr=""/>
          <p:cNvGraphicFramePr/>
          <p:nvPr/>
        </p:nvGraphicFramePr>
        <p:xfrm>
          <a:off x="548640" y="2057400"/>
          <a:ext cx="3749040" cy="2377440"/>
        </p:xfrm>
        <a:graphic xmlns:a="http://schemas.openxmlformats.org/drawingml/2006/main">
          <a:graphicData uri="http://schemas.openxmlformats.org/drawingml/2006/chart">
            <c:chart xmlns:c="http://schemas.openxmlformats.org/drawingml/2006/chart" r:id="rId2"/>
          </a:graphicData>
        </a:graphic>
      </p:graphicFrame>
      <p:sp>
        <p:nvSpPr>
          <p:cNvPr id="12" name="Shape 7"/>
          <p:cNvSpPr/>
          <p:nvPr/>
        </p:nvSpPr>
        <p:spPr>
          <a:xfrm>
            <a:off x="4663440" y="1417320"/>
            <a:ext cx="4023360" cy="932688"/>
          </a:xfrm>
          <a:prstGeom prst="roundRect">
            <a:avLst>
              <a:gd name="adj" fmla="val 11765"/>
            </a:avLst>
          </a:prstGeom>
          <a:solidFill>
            <a:srgbClr val="EDE9FE"/>
          </a:solidFill>
          <a:ln w="12700">
            <a:solidFill>
              <a:srgbClr val="EDE9FE"/>
            </a:solidFill>
            <a:prstDash val="solid"/>
          </a:ln>
        </p:spPr>
      </p:sp>
      <p:sp>
        <p:nvSpPr>
          <p:cNvPr id="13" name="Shape 8"/>
          <p:cNvSpPr/>
          <p:nvPr/>
        </p:nvSpPr>
        <p:spPr>
          <a:xfrm>
            <a:off x="4846320" y="1655064"/>
            <a:ext cx="457200" cy="457200"/>
          </a:xfrm>
          <a:prstGeom prst="roundRect">
            <a:avLst>
              <a:gd name="adj" fmla="val 20000"/>
            </a:avLst>
          </a:prstGeom>
          <a:solidFill>
            <a:srgbClr val="7C3AED"/>
          </a:solidFill>
          <a:ln w="12700">
            <a:solidFill>
              <a:srgbClr val="7C3AED"/>
            </a:solidFill>
            <a:prstDash val="solid"/>
          </a:ln>
        </p:spPr>
      </p:sp>
      <p:pic>
        <p:nvPicPr>
          <p:cNvPr id="14" name="Image 1" descr="preencoded.png">    </p:cNvPr>
          <p:cNvPicPr>
            <a:picLocks noChangeAspect="1"/>
          </p:cNvPicPr>
          <p:nvPr/>
        </p:nvPicPr>
        <p:blipFill>
          <a:blip r:embed="rId3"/>
          <a:stretch>
            <a:fillRect/>
          </a:stretch>
        </p:blipFill>
        <p:spPr>
          <a:xfrm>
            <a:off x="4946904" y="1755648"/>
            <a:ext cx="256032" cy="256032"/>
          </a:xfrm>
          <a:prstGeom prst="rect">
            <a:avLst/>
          </a:prstGeom>
        </p:spPr>
      </p:pic>
      <p:sp>
        <p:nvSpPr>
          <p:cNvPr id="15" name="Text 9"/>
          <p:cNvSpPr txBox="1"/>
          <p:nvPr/>
        </p:nvSpPr>
        <p:spPr>
          <a:xfrm>
            <a:off x="5486400" y="1527048"/>
            <a:ext cx="3108960" cy="301752"/>
          </a:xfrm>
          <a:prstGeom prst="rect">
            <a:avLst/>
          </a:prstGeom>
          <a:noFill/>
          <a:ln/>
        </p:spPr>
        <p:txBody>
          <a:bodyPr wrap="square" lIns="0" tIns="0" rIns="0" bIns="0" rtlCol="0" anchor="t"/>
          <a:lstStyle/>
          <a:p>
            <a:pPr algn="l" indent="0" marL="0">
              <a:buNone/>
            </a:pPr>
            <a:r>
              <a:rPr lang="en-US" sz="1300" b="1" dirty="0">
                <a:solidFill>
                  <a:srgbClr val="1E1B3A"/>
                </a:solidFill>
                <a:latin typeface="Calibri" pitchFamily="34" charset="0"/>
                <a:ea typeface="Calibri" pitchFamily="34" charset="-122"/>
                <a:cs typeface="Calibri" pitchFamily="34" charset="-120"/>
              </a:rPr>
              <a:t>Email reminders</a:t>
            </a:r>
            <a:endParaRPr lang="en-US" sz="1300" dirty="0"/>
          </a:p>
        </p:txBody>
      </p:sp>
      <p:sp>
        <p:nvSpPr>
          <p:cNvPr id="16" name="Text 10"/>
          <p:cNvSpPr txBox="1"/>
          <p:nvPr/>
        </p:nvSpPr>
        <p:spPr>
          <a:xfrm>
            <a:off x="5486400" y="1819656"/>
            <a:ext cx="3063240" cy="54864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A node-cron job runs daily and Nodemailer sends a reminder 3 days before the interview date.</a:t>
            </a:r>
            <a:endParaRPr lang="en-US" sz="1000" dirty="0"/>
          </a:p>
        </p:txBody>
      </p:sp>
      <p:sp>
        <p:nvSpPr>
          <p:cNvPr id="17" name="Shape 11"/>
          <p:cNvSpPr/>
          <p:nvPr/>
        </p:nvSpPr>
        <p:spPr>
          <a:xfrm>
            <a:off x="4663440" y="2468880"/>
            <a:ext cx="4023360" cy="932688"/>
          </a:xfrm>
          <a:prstGeom prst="roundRect">
            <a:avLst>
              <a:gd name="adj" fmla="val 11765"/>
            </a:avLst>
          </a:prstGeom>
          <a:solidFill>
            <a:srgbClr val="EDE9FE"/>
          </a:solidFill>
          <a:ln w="12700">
            <a:solidFill>
              <a:srgbClr val="EDE9FE"/>
            </a:solidFill>
            <a:prstDash val="solid"/>
          </a:ln>
        </p:spPr>
      </p:sp>
      <p:sp>
        <p:nvSpPr>
          <p:cNvPr id="18" name="Shape 12"/>
          <p:cNvSpPr/>
          <p:nvPr/>
        </p:nvSpPr>
        <p:spPr>
          <a:xfrm>
            <a:off x="4846320" y="2706624"/>
            <a:ext cx="457200" cy="457200"/>
          </a:xfrm>
          <a:prstGeom prst="roundRect">
            <a:avLst>
              <a:gd name="adj" fmla="val 20000"/>
            </a:avLst>
          </a:prstGeom>
          <a:solidFill>
            <a:srgbClr val="7C3AED"/>
          </a:solidFill>
          <a:ln w="12700">
            <a:solidFill>
              <a:srgbClr val="7C3AED"/>
            </a:solidFill>
            <a:prstDash val="solid"/>
          </a:ln>
        </p:spPr>
      </p:sp>
      <p:pic>
        <p:nvPicPr>
          <p:cNvPr id="19" name="Image 2" descr="preencoded.png">    </p:cNvPr>
          <p:cNvPicPr>
            <a:picLocks noChangeAspect="1"/>
          </p:cNvPicPr>
          <p:nvPr/>
        </p:nvPicPr>
        <p:blipFill>
          <a:blip r:embed="rId4"/>
          <a:stretch>
            <a:fillRect/>
          </a:stretch>
        </p:blipFill>
        <p:spPr>
          <a:xfrm>
            <a:off x="4946904" y="2807208"/>
            <a:ext cx="256032" cy="256032"/>
          </a:xfrm>
          <a:prstGeom prst="rect">
            <a:avLst/>
          </a:prstGeom>
        </p:spPr>
      </p:pic>
      <p:sp>
        <p:nvSpPr>
          <p:cNvPr id="20" name="Text 13"/>
          <p:cNvSpPr txBox="1"/>
          <p:nvPr/>
        </p:nvSpPr>
        <p:spPr>
          <a:xfrm>
            <a:off x="5486400" y="2578608"/>
            <a:ext cx="3108960" cy="301752"/>
          </a:xfrm>
          <a:prstGeom prst="rect">
            <a:avLst/>
          </a:prstGeom>
          <a:noFill/>
          <a:ln/>
        </p:spPr>
        <p:txBody>
          <a:bodyPr wrap="square" lIns="0" tIns="0" rIns="0" bIns="0" rtlCol="0" anchor="t"/>
          <a:lstStyle/>
          <a:p>
            <a:pPr algn="l" indent="0" marL="0">
              <a:buNone/>
            </a:pPr>
            <a:r>
              <a:rPr lang="en-US" sz="1300" b="1" dirty="0">
                <a:solidFill>
                  <a:srgbClr val="1E1B3A"/>
                </a:solidFill>
                <a:latin typeface="Calibri" pitchFamily="34" charset="0"/>
                <a:ea typeface="Calibri" pitchFamily="34" charset="-122"/>
                <a:cs typeface="Calibri" pitchFamily="34" charset="-120"/>
              </a:rPr>
              <a:t>PDF exports</a:t>
            </a:r>
            <a:endParaRPr lang="en-US" sz="1300" dirty="0"/>
          </a:p>
        </p:txBody>
      </p:sp>
      <p:sp>
        <p:nvSpPr>
          <p:cNvPr id="21" name="Text 14"/>
          <p:cNvSpPr txBox="1"/>
          <p:nvPr/>
        </p:nvSpPr>
        <p:spPr>
          <a:xfrm>
            <a:off x="5486400" y="2871216"/>
            <a:ext cx="3063240" cy="54864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One click export of the full report and a formatted resume, generated with Puppeteer and branded with a watermark.</a:t>
            </a:r>
            <a:endParaRPr lang="en-US" sz="1000" dirty="0"/>
          </a:p>
        </p:txBody>
      </p:sp>
      <p:sp>
        <p:nvSpPr>
          <p:cNvPr id="22" name="Shape 15"/>
          <p:cNvSpPr/>
          <p:nvPr/>
        </p:nvSpPr>
        <p:spPr>
          <a:xfrm>
            <a:off x="4663440" y="3520440"/>
            <a:ext cx="4023360" cy="932688"/>
          </a:xfrm>
          <a:prstGeom prst="roundRect">
            <a:avLst>
              <a:gd name="adj" fmla="val 11765"/>
            </a:avLst>
          </a:prstGeom>
          <a:solidFill>
            <a:srgbClr val="EDE9FE"/>
          </a:solidFill>
          <a:ln w="12700">
            <a:solidFill>
              <a:srgbClr val="EDE9FE"/>
            </a:solidFill>
            <a:prstDash val="solid"/>
          </a:ln>
        </p:spPr>
      </p:sp>
      <p:sp>
        <p:nvSpPr>
          <p:cNvPr id="23" name="Shape 16"/>
          <p:cNvSpPr/>
          <p:nvPr/>
        </p:nvSpPr>
        <p:spPr>
          <a:xfrm>
            <a:off x="4846320" y="3758184"/>
            <a:ext cx="457200" cy="457200"/>
          </a:xfrm>
          <a:prstGeom prst="roundRect">
            <a:avLst>
              <a:gd name="adj" fmla="val 20000"/>
            </a:avLst>
          </a:prstGeom>
          <a:solidFill>
            <a:srgbClr val="7C3AED"/>
          </a:solidFill>
          <a:ln w="12700">
            <a:solidFill>
              <a:srgbClr val="7C3AED"/>
            </a:solidFill>
            <a:prstDash val="solid"/>
          </a:ln>
        </p:spPr>
      </p:sp>
      <p:pic>
        <p:nvPicPr>
          <p:cNvPr id="24" name="Image 3" descr="preencoded.png">    </p:cNvPr>
          <p:cNvPicPr>
            <a:picLocks noChangeAspect="1"/>
          </p:cNvPicPr>
          <p:nvPr/>
        </p:nvPicPr>
        <p:blipFill>
          <a:blip r:embed="rId5"/>
          <a:stretch>
            <a:fillRect/>
          </a:stretch>
        </p:blipFill>
        <p:spPr>
          <a:xfrm>
            <a:off x="4946904" y="3858768"/>
            <a:ext cx="256032" cy="256032"/>
          </a:xfrm>
          <a:prstGeom prst="rect">
            <a:avLst/>
          </a:prstGeom>
        </p:spPr>
      </p:pic>
      <p:sp>
        <p:nvSpPr>
          <p:cNvPr id="25" name="Text 17"/>
          <p:cNvSpPr txBox="1"/>
          <p:nvPr/>
        </p:nvSpPr>
        <p:spPr>
          <a:xfrm>
            <a:off x="5486400" y="3630168"/>
            <a:ext cx="3108960" cy="301752"/>
          </a:xfrm>
          <a:prstGeom prst="rect">
            <a:avLst/>
          </a:prstGeom>
          <a:noFill/>
          <a:ln/>
        </p:spPr>
        <p:txBody>
          <a:bodyPr wrap="square" lIns="0" tIns="0" rIns="0" bIns="0" rtlCol="0" anchor="t"/>
          <a:lstStyle/>
          <a:p>
            <a:pPr algn="l" indent="0" marL="0">
              <a:buNone/>
            </a:pPr>
            <a:r>
              <a:rPr lang="en-US" sz="1300" b="1" dirty="0">
                <a:solidFill>
                  <a:srgbClr val="1E1B3A"/>
                </a:solidFill>
                <a:latin typeface="Calibri" pitchFamily="34" charset="0"/>
                <a:ea typeface="Calibri" pitchFamily="34" charset="-122"/>
                <a:cs typeface="Calibri" pitchFamily="34" charset="-120"/>
              </a:rPr>
              <a:t>Light and dark themes</a:t>
            </a:r>
            <a:endParaRPr lang="en-US" sz="1300" dirty="0"/>
          </a:p>
        </p:txBody>
      </p:sp>
      <p:sp>
        <p:nvSpPr>
          <p:cNvPr id="26" name="Text 18"/>
          <p:cNvSpPr txBox="1"/>
          <p:nvPr/>
        </p:nvSpPr>
        <p:spPr>
          <a:xfrm>
            <a:off x="5486400" y="3922776"/>
            <a:ext cx="3063240" cy="54864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Theme preference is remembered per device for comfortable long practice sessions.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12</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System Architecture</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Three tiers plus a ring of external services</a:t>
            </a:r>
            <a:endParaRPr lang="en-US" sz="1300" dirty="0"/>
          </a:p>
        </p:txBody>
      </p:sp>
      <p:sp>
        <p:nvSpPr>
          <p:cNvPr id="7" name="Shape 4"/>
          <p:cNvSpPr/>
          <p:nvPr/>
        </p:nvSpPr>
        <p:spPr>
          <a:xfrm>
            <a:off x="457200" y="1371600"/>
            <a:ext cx="2560320" cy="1965960"/>
          </a:xfrm>
          <a:prstGeom prst="roundRect">
            <a:avLst>
              <a:gd name="adj" fmla="val 5581"/>
            </a:avLst>
          </a:prstGeom>
          <a:solidFill>
            <a:srgbClr val="F3F1FA"/>
          </a:solidFill>
          <a:ln w="12700">
            <a:solidFill>
              <a:srgbClr val="F3F1FA"/>
            </a:solidFill>
            <a:prstDash val="solid"/>
          </a:ln>
        </p:spPr>
      </p:sp>
      <p:sp>
        <p:nvSpPr>
          <p:cNvPr id="8" name="Shape 5"/>
          <p:cNvSpPr/>
          <p:nvPr/>
        </p:nvSpPr>
        <p:spPr>
          <a:xfrm>
            <a:off x="640080" y="1536192"/>
            <a:ext cx="411480" cy="411480"/>
          </a:xfrm>
          <a:prstGeom prst="roundRect">
            <a:avLst>
              <a:gd name="adj" fmla="val 22222"/>
            </a:avLst>
          </a:prstGeom>
          <a:solidFill>
            <a:srgbClr val="7C3AED"/>
          </a:solidFill>
          <a:ln w="12700">
            <a:solidFill>
              <a:srgbClr val="7C3AED"/>
            </a:solidFill>
            <a:prstDash val="solid"/>
          </a:ln>
        </p:spPr>
      </p:sp>
      <p:pic>
        <p:nvPicPr>
          <p:cNvPr id="9" name="Image 0" descr="preencoded.png">    </p:cNvPr>
          <p:cNvPicPr>
            <a:picLocks noChangeAspect="1"/>
          </p:cNvPicPr>
          <p:nvPr/>
        </p:nvPicPr>
        <p:blipFill>
          <a:blip r:embed="rId1"/>
          <a:stretch>
            <a:fillRect/>
          </a:stretch>
        </p:blipFill>
        <p:spPr>
          <a:xfrm>
            <a:off x="730606" y="1626718"/>
            <a:ext cx="230429" cy="230429"/>
          </a:xfrm>
          <a:prstGeom prst="rect">
            <a:avLst/>
          </a:prstGeom>
        </p:spPr>
      </p:pic>
      <p:sp>
        <p:nvSpPr>
          <p:cNvPr id="10" name="Text 6"/>
          <p:cNvSpPr txBox="1"/>
          <p:nvPr/>
        </p:nvSpPr>
        <p:spPr>
          <a:xfrm>
            <a:off x="1188720" y="1572768"/>
            <a:ext cx="1737360" cy="365760"/>
          </a:xfrm>
          <a:prstGeom prst="rect">
            <a:avLst/>
          </a:prstGeom>
          <a:noFill/>
          <a:ln/>
        </p:spPr>
        <p:txBody>
          <a:bodyPr wrap="square" lIns="0" tIns="0" rIns="0" bIns="0" rtlCol="0" anchor="t"/>
          <a:lstStyle/>
          <a:p>
            <a:pPr algn="l" indent="0" marL="0">
              <a:buNone/>
            </a:pPr>
            <a:r>
              <a:rPr lang="en-US" sz="1500" b="1" dirty="0">
                <a:solidFill>
                  <a:srgbClr val="1E1B3A"/>
                </a:solidFill>
                <a:latin typeface="Calibri" pitchFamily="34" charset="0"/>
                <a:ea typeface="Calibri" pitchFamily="34" charset="-122"/>
                <a:cs typeface="Calibri" pitchFamily="34" charset="-120"/>
              </a:rPr>
              <a:t>Frontend</a:t>
            </a:r>
            <a:endParaRPr lang="en-US" sz="1500" dirty="0"/>
          </a:p>
        </p:txBody>
      </p:sp>
      <p:sp>
        <p:nvSpPr>
          <p:cNvPr id="11" name="Text 7"/>
          <p:cNvSpPr txBox="1"/>
          <p:nvPr/>
        </p:nvSpPr>
        <p:spPr>
          <a:xfrm>
            <a:off x="640080" y="2057400"/>
            <a:ext cx="2240280" cy="128016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E1B3A"/>
                </a:solidFill>
                <a:latin typeface="Calibri" pitchFamily="34" charset="0"/>
                <a:ea typeface="Calibri" pitchFamily="34" charset="-122"/>
                <a:cs typeface="Calibri" pitchFamily="34" charset="-120"/>
              </a:rPr>
              <a:t>React 19, Vite, React Router 7</a:t>
            </a:r>
            <a:endParaRPr lang="en-US" sz="1050" dirty="0"/>
          </a:p>
          <a:p>
            <a:pPr marL="342900" indent="-342900">
              <a:spcAft>
                <a:spcPts val="200"/>
              </a:spcAft>
              <a:buSzPct val="100000"/>
              <a:buChar char="•"/>
            </a:pPr>
            <a:r>
              <a:rPr lang="en-US" sz="1050" dirty="0">
                <a:solidFill>
                  <a:srgbClr val="1E1B3A"/>
                </a:solidFill>
                <a:latin typeface="Calibri" pitchFamily="34" charset="0"/>
                <a:ea typeface="Calibri" pitchFamily="34" charset="-122"/>
                <a:cs typeface="Calibri" pitchFamily="34" charset="-120"/>
              </a:rPr>
              <a:t>SCSS design tokens, Recharts</a:t>
            </a:r>
            <a:endParaRPr lang="en-US" sz="1050" dirty="0"/>
          </a:p>
          <a:p>
            <a:pPr marL="342900" indent="-342900">
              <a:spcAft>
                <a:spcPts val="200"/>
              </a:spcAft>
              <a:buSzPct val="100000"/>
              <a:buChar char="•"/>
            </a:pPr>
            <a:r>
              <a:rPr lang="en-US" sz="1050" dirty="0">
                <a:solidFill>
                  <a:srgbClr val="1E1B3A"/>
                </a:solidFill>
                <a:latin typeface="Calibri" pitchFamily="34" charset="0"/>
                <a:ea typeface="Calibri" pitchFamily="34" charset="-122"/>
                <a:cs typeface="Calibri" pitchFamily="34" charset="-120"/>
              </a:rPr>
              <a:t>Monaco Editor, Axios</a:t>
            </a:r>
            <a:endParaRPr lang="en-US" sz="1050" dirty="0"/>
          </a:p>
          <a:p>
            <a:pPr marL="342900" indent="-342900">
              <a:spcAft>
                <a:spcPts val="200"/>
              </a:spcAft>
              <a:buSzPct val="100000"/>
              <a:buChar char="•"/>
            </a:pPr>
            <a:r>
              <a:rPr lang="en-US" sz="1050" dirty="0">
                <a:solidFill>
                  <a:srgbClr val="1E1B3A"/>
                </a:solidFill>
                <a:latin typeface="Calibri" pitchFamily="34" charset="0"/>
                <a:ea typeface="Calibri" pitchFamily="34" charset="-122"/>
                <a:cs typeface="Calibri" pitchFamily="34" charset="-120"/>
              </a:rPr>
              <a:t>Context API: auth, interview, theme</a:t>
            </a:r>
            <a:endParaRPr lang="en-US" sz="1050" dirty="0"/>
          </a:p>
        </p:txBody>
      </p:sp>
      <p:sp>
        <p:nvSpPr>
          <p:cNvPr id="12" name="Shape 8"/>
          <p:cNvSpPr/>
          <p:nvPr/>
        </p:nvSpPr>
        <p:spPr>
          <a:xfrm>
            <a:off x="3035808" y="2240280"/>
            <a:ext cx="237744" cy="274320"/>
          </a:xfrm>
          <a:prstGeom prst="rightArrow">
            <a:avLst/>
          </a:prstGeom>
          <a:solidFill>
            <a:srgbClr val="7C3AED"/>
          </a:solidFill>
          <a:ln w="12700">
            <a:solidFill>
              <a:srgbClr val="7C3AED"/>
            </a:solidFill>
            <a:prstDash val="solid"/>
          </a:ln>
        </p:spPr>
      </p:sp>
      <p:sp>
        <p:nvSpPr>
          <p:cNvPr id="13" name="Shape 9"/>
          <p:cNvSpPr/>
          <p:nvPr/>
        </p:nvSpPr>
        <p:spPr>
          <a:xfrm>
            <a:off x="3291840" y="1371600"/>
            <a:ext cx="2560320" cy="1965960"/>
          </a:xfrm>
          <a:prstGeom prst="roundRect">
            <a:avLst>
              <a:gd name="adj" fmla="val 5581"/>
            </a:avLst>
          </a:prstGeom>
          <a:solidFill>
            <a:srgbClr val="F3F1FA"/>
          </a:solidFill>
          <a:ln w="12700">
            <a:solidFill>
              <a:srgbClr val="F3F1FA"/>
            </a:solidFill>
            <a:prstDash val="solid"/>
          </a:ln>
        </p:spPr>
      </p:sp>
      <p:sp>
        <p:nvSpPr>
          <p:cNvPr id="14" name="Shape 10"/>
          <p:cNvSpPr/>
          <p:nvPr/>
        </p:nvSpPr>
        <p:spPr>
          <a:xfrm>
            <a:off x="3474720" y="1536192"/>
            <a:ext cx="411480" cy="411480"/>
          </a:xfrm>
          <a:prstGeom prst="roundRect">
            <a:avLst>
              <a:gd name="adj" fmla="val 22222"/>
            </a:avLst>
          </a:prstGeom>
          <a:solidFill>
            <a:srgbClr val="7C3AED"/>
          </a:solidFill>
          <a:ln w="12700">
            <a:solidFill>
              <a:srgbClr val="7C3AED"/>
            </a:solidFill>
            <a:prstDash val="solid"/>
          </a:ln>
        </p:spPr>
      </p:sp>
      <p:pic>
        <p:nvPicPr>
          <p:cNvPr id="15" name="Image 1" descr="preencoded.png">    </p:cNvPr>
          <p:cNvPicPr>
            <a:picLocks noChangeAspect="1"/>
          </p:cNvPicPr>
          <p:nvPr/>
        </p:nvPicPr>
        <p:blipFill>
          <a:blip r:embed="rId2"/>
          <a:stretch>
            <a:fillRect/>
          </a:stretch>
        </p:blipFill>
        <p:spPr>
          <a:xfrm>
            <a:off x="3565246" y="1626718"/>
            <a:ext cx="230429" cy="230429"/>
          </a:xfrm>
          <a:prstGeom prst="rect">
            <a:avLst/>
          </a:prstGeom>
        </p:spPr>
      </p:pic>
      <p:sp>
        <p:nvSpPr>
          <p:cNvPr id="16" name="Text 11"/>
          <p:cNvSpPr txBox="1"/>
          <p:nvPr/>
        </p:nvSpPr>
        <p:spPr>
          <a:xfrm>
            <a:off x="4023360" y="1572768"/>
            <a:ext cx="1737360" cy="365760"/>
          </a:xfrm>
          <a:prstGeom prst="rect">
            <a:avLst/>
          </a:prstGeom>
          <a:noFill/>
          <a:ln/>
        </p:spPr>
        <p:txBody>
          <a:bodyPr wrap="square" lIns="0" tIns="0" rIns="0" bIns="0" rtlCol="0" anchor="t"/>
          <a:lstStyle/>
          <a:p>
            <a:pPr algn="l" indent="0" marL="0">
              <a:buNone/>
            </a:pPr>
            <a:r>
              <a:rPr lang="en-US" sz="1500" b="1" dirty="0">
                <a:solidFill>
                  <a:srgbClr val="1E1B3A"/>
                </a:solidFill>
                <a:latin typeface="Calibri" pitchFamily="34" charset="0"/>
                <a:ea typeface="Calibri" pitchFamily="34" charset="-122"/>
                <a:cs typeface="Calibri" pitchFamily="34" charset="-120"/>
              </a:rPr>
              <a:t>Backend</a:t>
            </a:r>
            <a:endParaRPr lang="en-US" sz="1500" dirty="0"/>
          </a:p>
        </p:txBody>
      </p:sp>
      <p:sp>
        <p:nvSpPr>
          <p:cNvPr id="17" name="Text 12"/>
          <p:cNvSpPr txBox="1"/>
          <p:nvPr/>
        </p:nvSpPr>
        <p:spPr>
          <a:xfrm>
            <a:off x="3474720" y="2057400"/>
            <a:ext cx="2240280" cy="128016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E1B3A"/>
                </a:solidFill>
                <a:latin typeface="Calibri" pitchFamily="34" charset="0"/>
                <a:ea typeface="Calibri" pitchFamily="34" charset="-122"/>
                <a:cs typeface="Calibri" pitchFamily="34" charset="-120"/>
              </a:rPr>
              <a:t>Node.js, Express 5</a:t>
            </a:r>
            <a:endParaRPr lang="en-US" sz="1050" dirty="0"/>
          </a:p>
          <a:p>
            <a:pPr marL="342900" indent="-342900">
              <a:spcAft>
                <a:spcPts val="200"/>
              </a:spcAft>
              <a:buSzPct val="100000"/>
              <a:buChar char="•"/>
            </a:pPr>
            <a:r>
              <a:rPr lang="en-US" sz="1050" dirty="0">
                <a:solidFill>
                  <a:srgbClr val="1E1B3A"/>
                </a:solidFill>
                <a:latin typeface="Calibri" pitchFamily="34" charset="0"/>
                <a:ea typeface="Calibri" pitchFamily="34" charset="-122"/>
                <a:cs typeface="Calibri" pitchFamily="34" charset="-120"/>
              </a:rPr>
              <a:t>JWT in httpOnly cookies, token blacklist</a:t>
            </a:r>
            <a:endParaRPr lang="en-US" sz="1050" dirty="0"/>
          </a:p>
          <a:p>
            <a:pPr marL="342900" indent="-342900">
              <a:spcAft>
                <a:spcPts val="200"/>
              </a:spcAft>
              <a:buSzPct val="100000"/>
              <a:buChar char="•"/>
            </a:pPr>
            <a:r>
              <a:rPr lang="en-US" sz="1050" dirty="0">
                <a:solidFill>
                  <a:srgbClr val="1E1B3A"/>
                </a:solidFill>
                <a:latin typeface="Calibri" pitchFamily="34" charset="0"/>
                <a:ea typeface="Calibri" pitchFamily="34" charset="-122"/>
                <a:cs typeface="Calibri" pitchFamily="34" charset="-120"/>
              </a:rPr>
              <a:t>bcrypt, Multer uploads</a:t>
            </a:r>
            <a:endParaRPr lang="en-US" sz="1050" dirty="0"/>
          </a:p>
          <a:p>
            <a:pPr marL="342900" indent="-342900">
              <a:spcAft>
                <a:spcPts val="200"/>
              </a:spcAft>
              <a:buSzPct val="100000"/>
              <a:buChar char="•"/>
            </a:pPr>
            <a:r>
              <a:rPr lang="en-US" sz="1050" dirty="0">
                <a:solidFill>
                  <a:srgbClr val="1E1B3A"/>
                </a:solidFill>
                <a:latin typeface="Calibri" pitchFamily="34" charset="0"/>
                <a:ea typeface="Calibri" pitchFamily="34" charset="-122"/>
                <a:cs typeface="Calibri" pitchFamily="34" charset="-120"/>
              </a:rPr>
              <a:t>Zod validation of AI output</a:t>
            </a:r>
            <a:endParaRPr lang="en-US" sz="1050" dirty="0"/>
          </a:p>
        </p:txBody>
      </p:sp>
      <p:sp>
        <p:nvSpPr>
          <p:cNvPr id="18" name="Shape 13"/>
          <p:cNvSpPr/>
          <p:nvPr/>
        </p:nvSpPr>
        <p:spPr>
          <a:xfrm>
            <a:off x="5870448" y="2240280"/>
            <a:ext cx="237744" cy="274320"/>
          </a:xfrm>
          <a:prstGeom prst="rightArrow">
            <a:avLst/>
          </a:prstGeom>
          <a:solidFill>
            <a:srgbClr val="7C3AED"/>
          </a:solidFill>
          <a:ln w="12700">
            <a:solidFill>
              <a:srgbClr val="7C3AED"/>
            </a:solidFill>
            <a:prstDash val="solid"/>
          </a:ln>
        </p:spPr>
      </p:sp>
      <p:sp>
        <p:nvSpPr>
          <p:cNvPr id="19" name="Shape 14"/>
          <p:cNvSpPr/>
          <p:nvPr/>
        </p:nvSpPr>
        <p:spPr>
          <a:xfrm>
            <a:off x="6126480" y="1371600"/>
            <a:ext cx="2560320" cy="1965960"/>
          </a:xfrm>
          <a:prstGeom prst="roundRect">
            <a:avLst>
              <a:gd name="adj" fmla="val 5581"/>
            </a:avLst>
          </a:prstGeom>
          <a:solidFill>
            <a:srgbClr val="F3F1FA"/>
          </a:solidFill>
          <a:ln w="12700">
            <a:solidFill>
              <a:srgbClr val="F3F1FA"/>
            </a:solidFill>
            <a:prstDash val="solid"/>
          </a:ln>
        </p:spPr>
      </p:sp>
      <p:sp>
        <p:nvSpPr>
          <p:cNvPr id="20" name="Shape 15"/>
          <p:cNvSpPr/>
          <p:nvPr/>
        </p:nvSpPr>
        <p:spPr>
          <a:xfrm>
            <a:off x="6309360" y="1536192"/>
            <a:ext cx="411480" cy="411480"/>
          </a:xfrm>
          <a:prstGeom prst="roundRect">
            <a:avLst>
              <a:gd name="adj" fmla="val 22222"/>
            </a:avLst>
          </a:prstGeom>
          <a:solidFill>
            <a:srgbClr val="7C3AED"/>
          </a:solidFill>
          <a:ln w="12700">
            <a:solidFill>
              <a:srgbClr val="7C3AED"/>
            </a:solidFill>
            <a:prstDash val="solid"/>
          </a:ln>
        </p:spPr>
      </p:sp>
      <p:pic>
        <p:nvPicPr>
          <p:cNvPr id="21" name="Image 2" descr="preencoded.png">    </p:cNvPr>
          <p:cNvPicPr>
            <a:picLocks noChangeAspect="1"/>
          </p:cNvPicPr>
          <p:nvPr/>
        </p:nvPicPr>
        <p:blipFill>
          <a:blip r:embed="rId3"/>
          <a:stretch>
            <a:fillRect/>
          </a:stretch>
        </p:blipFill>
        <p:spPr>
          <a:xfrm>
            <a:off x="6399886" y="1626718"/>
            <a:ext cx="230429" cy="230429"/>
          </a:xfrm>
          <a:prstGeom prst="rect">
            <a:avLst/>
          </a:prstGeom>
        </p:spPr>
      </p:pic>
      <p:sp>
        <p:nvSpPr>
          <p:cNvPr id="22" name="Text 16"/>
          <p:cNvSpPr txBox="1"/>
          <p:nvPr/>
        </p:nvSpPr>
        <p:spPr>
          <a:xfrm>
            <a:off x="6858000" y="1572768"/>
            <a:ext cx="1737360" cy="365760"/>
          </a:xfrm>
          <a:prstGeom prst="rect">
            <a:avLst/>
          </a:prstGeom>
          <a:noFill/>
          <a:ln/>
        </p:spPr>
        <p:txBody>
          <a:bodyPr wrap="square" lIns="0" tIns="0" rIns="0" bIns="0" rtlCol="0" anchor="t"/>
          <a:lstStyle/>
          <a:p>
            <a:pPr algn="l" indent="0" marL="0">
              <a:buNone/>
            </a:pPr>
            <a:r>
              <a:rPr lang="en-US" sz="1500" b="1" dirty="0">
                <a:solidFill>
                  <a:srgbClr val="1E1B3A"/>
                </a:solidFill>
                <a:latin typeface="Calibri" pitchFamily="34" charset="0"/>
                <a:ea typeface="Calibri" pitchFamily="34" charset="-122"/>
                <a:cs typeface="Calibri" pitchFamily="34" charset="-120"/>
              </a:rPr>
              <a:t>Database</a:t>
            </a:r>
            <a:endParaRPr lang="en-US" sz="1500" dirty="0"/>
          </a:p>
        </p:txBody>
      </p:sp>
      <p:sp>
        <p:nvSpPr>
          <p:cNvPr id="23" name="Text 17"/>
          <p:cNvSpPr txBox="1"/>
          <p:nvPr/>
        </p:nvSpPr>
        <p:spPr>
          <a:xfrm>
            <a:off x="6309360" y="2057400"/>
            <a:ext cx="2240280" cy="128016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E1B3A"/>
                </a:solidFill>
                <a:latin typeface="Calibri" pitchFamily="34" charset="0"/>
                <a:ea typeface="Calibri" pitchFamily="34" charset="-122"/>
                <a:cs typeface="Calibri" pitchFamily="34" charset="-120"/>
              </a:rPr>
              <a:t>MongoDB with Mongoose</a:t>
            </a:r>
            <a:endParaRPr lang="en-US" sz="1050" dirty="0"/>
          </a:p>
          <a:p>
            <a:pPr marL="342900" indent="-342900">
              <a:spcAft>
                <a:spcPts val="200"/>
              </a:spcAft>
              <a:buSzPct val="100000"/>
              <a:buChar char="•"/>
            </a:pPr>
            <a:r>
              <a:rPr lang="en-US" sz="1050" dirty="0">
                <a:solidFill>
                  <a:srgbClr val="1E1B3A"/>
                </a:solidFill>
                <a:latin typeface="Calibri" pitchFamily="34" charset="0"/>
                <a:ea typeface="Calibri" pitchFamily="34" charset="-122"/>
                <a:cs typeface="Calibri" pitchFamily="34" charset="-120"/>
              </a:rPr>
              <a:t>Models: User, Resume,</a:t>
            </a:r>
            <a:endParaRPr lang="en-US" sz="1050" dirty="0"/>
          </a:p>
          <a:p>
            <a:pPr marL="342900" indent="-342900">
              <a:spcAft>
                <a:spcPts val="200"/>
              </a:spcAft>
              <a:buSzPct val="100000"/>
              <a:buChar char="•"/>
            </a:pPr>
            <a:r>
              <a:rPr lang="en-US" sz="1050" dirty="0">
                <a:solidFill>
                  <a:srgbClr val="1E1B3A"/>
                </a:solidFill>
                <a:latin typeface="Calibri" pitchFamily="34" charset="0"/>
                <a:ea typeface="Calibri" pitchFamily="34" charset="-122"/>
                <a:cs typeface="Calibri" pitchFamily="34" charset="-120"/>
              </a:rPr>
              <a:t>ATS Score, Interview Report,</a:t>
            </a:r>
            <a:endParaRPr lang="en-US" sz="1050" dirty="0"/>
          </a:p>
          <a:p>
            <a:pPr marL="342900" indent="-342900">
              <a:spcAft>
                <a:spcPts val="200"/>
              </a:spcAft>
              <a:buSzPct val="100000"/>
              <a:buChar char="•"/>
            </a:pPr>
            <a:r>
              <a:rPr lang="en-US" sz="1050" dirty="0">
                <a:solidFill>
                  <a:srgbClr val="1E1B3A"/>
                </a:solidFill>
                <a:latin typeface="Calibri" pitchFamily="34" charset="0"/>
                <a:ea typeface="Calibri" pitchFamily="34" charset="-122"/>
                <a:cs typeface="Calibri" pitchFamily="34" charset="-120"/>
              </a:rPr>
              <a:t>Blacklist</a:t>
            </a:r>
            <a:endParaRPr lang="en-US" sz="1050" dirty="0"/>
          </a:p>
        </p:txBody>
      </p:sp>
      <p:sp>
        <p:nvSpPr>
          <p:cNvPr id="24" name="Text 18"/>
          <p:cNvSpPr txBox="1"/>
          <p:nvPr/>
        </p:nvSpPr>
        <p:spPr>
          <a:xfrm>
            <a:off x="457200" y="3474720"/>
            <a:ext cx="2743200" cy="274320"/>
          </a:xfrm>
          <a:prstGeom prst="rect">
            <a:avLst/>
          </a:prstGeom>
          <a:noFill/>
          <a:ln/>
        </p:spPr>
        <p:txBody>
          <a:bodyPr wrap="square" lIns="0" tIns="0" rIns="0" bIns="0" rtlCol="0" anchor="t"/>
          <a:lstStyle/>
          <a:p>
            <a:pPr algn="l" indent="0" marL="0">
              <a:buNone/>
            </a:pPr>
            <a:r>
              <a:rPr lang="en-US" sz="1200" b="1" dirty="0">
                <a:solidFill>
                  <a:srgbClr val="0284C7"/>
                </a:solidFill>
                <a:latin typeface="Calibri" pitchFamily="34" charset="0"/>
                <a:ea typeface="Calibri" pitchFamily="34" charset="-122"/>
                <a:cs typeface="Calibri" pitchFamily="34" charset="-120"/>
              </a:rPr>
              <a:t>External services</a:t>
            </a:r>
            <a:endParaRPr lang="en-US" sz="1200" dirty="0"/>
          </a:p>
        </p:txBody>
      </p:sp>
      <p:sp>
        <p:nvSpPr>
          <p:cNvPr id="25" name="Shape 19"/>
          <p:cNvSpPr/>
          <p:nvPr/>
        </p:nvSpPr>
        <p:spPr>
          <a:xfrm>
            <a:off x="457200" y="3794760"/>
            <a:ext cx="1097280" cy="594360"/>
          </a:xfrm>
          <a:prstGeom prst="roundRect">
            <a:avLst>
              <a:gd name="adj" fmla="val 15385"/>
            </a:avLst>
          </a:prstGeom>
          <a:solidFill>
            <a:srgbClr val="5B21B6"/>
          </a:solidFill>
          <a:ln w="12700">
            <a:solidFill>
              <a:srgbClr val="5B21B6"/>
            </a:solidFill>
            <a:prstDash val="solid"/>
          </a:ln>
        </p:spPr>
      </p:sp>
      <p:sp>
        <p:nvSpPr>
          <p:cNvPr id="26" name="Text 20"/>
          <p:cNvSpPr txBox="1"/>
          <p:nvPr/>
        </p:nvSpPr>
        <p:spPr>
          <a:xfrm>
            <a:off x="502920" y="3794760"/>
            <a:ext cx="1005840" cy="59436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Gemini (model fallback)</a:t>
            </a:r>
            <a:endParaRPr lang="en-US" sz="950" dirty="0"/>
          </a:p>
        </p:txBody>
      </p:sp>
      <p:sp>
        <p:nvSpPr>
          <p:cNvPr id="27" name="Shape 21"/>
          <p:cNvSpPr/>
          <p:nvPr/>
        </p:nvSpPr>
        <p:spPr>
          <a:xfrm>
            <a:off x="1645920" y="3794760"/>
            <a:ext cx="1097280" cy="594360"/>
          </a:xfrm>
          <a:prstGeom prst="roundRect">
            <a:avLst>
              <a:gd name="adj" fmla="val 15385"/>
            </a:avLst>
          </a:prstGeom>
          <a:solidFill>
            <a:srgbClr val="5B21B6"/>
          </a:solidFill>
          <a:ln w="12700">
            <a:solidFill>
              <a:srgbClr val="5B21B6"/>
            </a:solidFill>
            <a:prstDash val="solid"/>
          </a:ln>
        </p:spPr>
      </p:sp>
      <p:sp>
        <p:nvSpPr>
          <p:cNvPr id="28" name="Text 22"/>
          <p:cNvSpPr txBox="1"/>
          <p:nvPr/>
        </p:nvSpPr>
        <p:spPr>
          <a:xfrm>
            <a:off x="1691640" y="3794760"/>
            <a:ext cx="1005840" cy="59436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GitHub REST</a:t>
            </a:r>
            <a:endParaRPr lang="en-US" sz="950" dirty="0"/>
          </a:p>
        </p:txBody>
      </p:sp>
      <p:sp>
        <p:nvSpPr>
          <p:cNvPr id="29" name="Shape 23"/>
          <p:cNvSpPr/>
          <p:nvPr/>
        </p:nvSpPr>
        <p:spPr>
          <a:xfrm>
            <a:off x="2834640" y="3794760"/>
            <a:ext cx="1097280" cy="594360"/>
          </a:xfrm>
          <a:prstGeom prst="roundRect">
            <a:avLst>
              <a:gd name="adj" fmla="val 15385"/>
            </a:avLst>
          </a:prstGeom>
          <a:solidFill>
            <a:srgbClr val="5B21B6"/>
          </a:solidFill>
          <a:ln w="12700">
            <a:solidFill>
              <a:srgbClr val="5B21B6"/>
            </a:solidFill>
            <a:prstDash val="solid"/>
          </a:ln>
        </p:spPr>
      </p:sp>
      <p:sp>
        <p:nvSpPr>
          <p:cNvPr id="30" name="Text 24"/>
          <p:cNvSpPr txBox="1"/>
          <p:nvPr/>
        </p:nvSpPr>
        <p:spPr>
          <a:xfrm>
            <a:off x="2880360" y="3794760"/>
            <a:ext cx="1005840" cy="59436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LeetCode GraphQL</a:t>
            </a:r>
            <a:endParaRPr lang="en-US" sz="950" dirty="0"/>
          </a:p>
        </p:txBody>
      </p:sp>
      <p:sp>
        <p:nvSpPr>
          <p:cNvPr id="31" name="Shape 25"/>
          <p:cNvSpPr/>
          <p:nvPr/>
        </p:nvSpPr>
        <p:spPr>
          <a:xfrm>
            <a:off x="4023360" y="3794760"/>
            <a:ext cx="1097280" cy="594360"/>
          </a:xfrm>
          <a:prstGeom prst="roundRect">
            <a:avLst>
              <a:gd name="adj" fmla="val 15385"/>
            </a:avLst>
          </a:prstGeom>
          <a:solidFill>
            <a:srgbClr val="5B21B6"/>
          </a:solidFill>
          <a:ln w="12700">
            <a:solidFill>
              <a:srgbClr val="5B21B6"/>
            </a:solidFill>
            <a:prstDash val="solid"/>
          </a:ln>
        </p:spPr>
      </p:sp>
      <p:sp>
        <p:nvSpPr>
          <p:cNvPr id="32" name="Text 26"/>
          <p:cNvSpPr txBox="1"/>
          <p:nvPr/>
        </p:nvSpPr>
        <p:spPr>
          <a:xfrm>
            <a:off x="4069080" y="3794760"/>
            <a:ext cx="1005840" cy="59436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Codeforces API</a:t>
            </a:r>
            <a:endParaRPr lang="en-US" sz="950" dirty="0"/>
          </a:p>
        </p:txBody>
      </p:sp>
      <p:sp>
        <p:nvSpPr>
          <p:cNvPr id="33" name="Shape 27"/>
          <p:cNvSpPr/>
          <p:nvPr/>
        </p:nvSpPr>
        <p:spPr>
          <a:xfrm>
            <a:off x="5212080" y="3794760"/>
            <a:ext cx="1097280" cy="594360"/>
          </a:xfrm>
          <a:prstGeom prst="roundRect">
            <a:avLst>
              <a:gd name="adj" fmla="val 15385"/>
            </a:avLst>
          </a:prstGeom>
          <a:solidFill>
            <a:srgbClr val="5B21B6"/>
          </a:solidFill>
          <a:ln w="12700">
            <a:solidFill>
              <a:srgbClr val="5B21B6"/>
            </a:solidFill>
            <a:prstDash val="solid"/>
          </a:ln>
        </p:spPr>
      </p:sp>
      <p:sp>
        <p:nvSpPr>
          <p:cNvPr id="34" name="Text 28"/>
          <p:cNvSpPr txBox="1"/>
          <p:nvPr/>
        </p:nvSpPr>
        <p:spPr>
          <a:xfrm>
            <a:off x="5257800" y="3794760"/>
            <a:ext cx="1005840" cy="59436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Judge0</a:t>
            </a:r>
            <a:endParaRPr lang="en-US" sz="950" dirty="0"/>
          </a:p>
        </p:txBody>
      </p:sp>
      <p:sp>
        <p:nvSpPr>
          <p:cNvPr id="35" name="Shape 29"/>
          <p:cNvSpPr/>
          <p:nvPr/>
        </p:nvSpPr>
        <p:spPr>
          <a:xfrm>
            <a:off x="6400800" y="3794760"/>
            <a:ext cx="1097280" cy="594360"/>
          </a:xfrm>
          <a:prstGeom prst="roundRect">
            <a:avLst>
              <a:gd name="adj" fmla="val 15385"/>
            </a:avLst>
          </a:prstGeom>
          <a:solidFill>
            <a:srgbClr val="5B21B6"/>
          </a:solidFill>
          <a:ln w="12700">
            <a:solidFill>
              <a:srgbClr val="5B21B6"/>
            </a:solidFill>
            <a:prstDash val="solid"/>
          </a:ln>
        </p:spPr>
      </p:sp>
      <p:sp>
        <p:nvSpPr>
          <p:cNvPr id="36" name="Text 30"/>
          <p:cNvSpPr txBox="1"/>
          <p:nvPr/>
        </p:nvSpPr>
        <p:spPr>
          <a:xfrm>
            <a:off x="6446520" y="3794760"/>
            <a:ext cx="1005840" cy="59436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LanguageTool</a:t>
            </a:r>
            <a:endParaRPr lang="en-US" sz="950" dirty="0"/>
          </a:p>
        </p:txBody>
      </p:sp>
      <p:sp>
        <p:nvSpPr>
          <p:cNvPr id="37" name="Shape 31"/>
          <p:cNvSpPr/>
          <p:nvPr/>
        </p:nvSpPr>
        <p:spPr>
          <a:xfrm>
            <a:off x="7589520" y="3794760"/>
            <a:ext cx="1097280" cy="594360"/>
          </a:xfrm>
          <a:prstGeom prst="roundRect">
            <a:avLst>
              <a:gd name="adj" fmla="val 15385"/>
            </a:avLst>
          </a:prstGeom>
          <a:solidFill>
            <a:srgbClr val="5B21B6"/>
          </a:solidFill>
          <a:ln w="12700">
            <a:solidFill>
              <a:srgbClr val="5B21B6"/>
            </a:solidFill>
            <a:prstDash val="solid"/>
          </a:ln>
        </p:spPr>
      </p:sp>
      <p:sp>
        <p:nvSpPr>
          <p:cNvPr id="38" name="Text 32"/>
          <p:cNvSpPr txBox="1"/>
          <p:nvPr/>
        </p:nvSpPr>
        <p:spPr>
          <a:xfrm>
            <a:off x="7635240" y="3794760"/>
            <a:ext cx="1005840" cy="59436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SMTP</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13</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AI Pipeline and Reliability</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Turning a probabilistic model into dependable JSON</a:t>
            </a:r>
            <a:endParaRPr lang="en-US" sz="1300" dirty="0"/>
          </a:p>
        </p:txBody>
      </p:sp>
      <p:sp>
        <p:nvSpPr>
          <p:cNvPr id="7" name="Shape 4"/>
          <p:cNvSpPr/>
          <p:nvPr/>
        </p:nvSpPr>
        <p:spPr>
          <a:xfrm>
            <a:off x="457200" y="1417320"/>
            <a:ext cx="1920240" cy="1188720"/>
          </a:xfrm>
          <a:prstGeom prst="roundRect">
            <a:avLst>
              <a:gd name="adj" fmla="val 9231"/>
            </a:avLst>
          </a:prstGeom>
          <a:solidFill>
            <a:srgbClr val="F3F1FA"/>
          </a:solidFill>
          <a:ln w="12700">
            <a:solidFill>
              <a:srgbClr val="F3F1FA"/>
            </a:solidFill>
            <a:prstDash val="solid"/>
          </a:ln>
        </p:spPr>
      </p:sp>
      <p:sp>
        <p:nvSpPr>
          <p:cNvPr id="8" name="Shape 5"/>
          <p:cNvSpPr/>
          <p:nvPr/>
        </p:nvSpPr>
        <p:spPr>
          <a:xfrm>
            <a:off x="621792" y="1581912"/>
            <a:ext cx="384048" cy="384048"/>
          </a:xfrm>
          <a:prstGeom prst="ellipse">
            <a:avLst/>
          </a:prstGeom>
          <a:solidFill>
            <a:srgbClr val="7C3AED"/>
          </a:solidFill>
          <a:ln w="12700">
            <a:solidFill>
              <a:srgbClr val="7C3AED"/>
            </a:solidFill>
            <a:prstDash val="solid"/>
          </a:ln>
        </p:spPr>
      </p:sp>
      <p:sp>
        <p:nvSpPr>
          <p:cNvPr id="9" name="Text 6"/>
          <p:cNvSpPr txBox="1"/>
          <p:nvPr/>
        </p:nvSpPr>
        <p:spPr>
          <a:xfrm>
            <a:off x="621792" y="1581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1115568" y="1600200"/>
            <a:ext cx="1188720" cy="365760"/>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Truncate inputs</a:t>
            </a:r>
            <a:endParaRPr lang="en-US" sz="1250" dirty="0"/>
          </a:p>
        </p:txBody>
      </p:sp>
      <p:sp>
        <p:nvSpPr>
          <p:cNvPr id="11" name="Text 8"/>
          <p:cNvSpPr txBox="1"/>
          <p:nvPr/>
        </p:nvSpPr>
        <p:spPr>
          <a:xfrm>
            <a:off x="621792" y="2057400"/>
            <a:ext cx="164592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Safe character limits per field</a:t>
            </a:r>
            <a:endParaRPr lang="en-US" sz="1000" dirty="0"/>
          </a:p>
        </p:txBody>
      </p:sp>
      <p:sp>
        <p:nvSpPr>
          <p:cNvPr id="12" name="Shape 9"/>
          <p:cNvSpPr/>
          <p:nvPr/>
        </p:nvSpPr>
        <p:spPr>
          <a:xfrm>
            <a:off x="2560320" y="1417320"/>
            <a:ext cx="1920240" cy="1188720"/>
          </a:xfrm>
          <a:prstGeom prst="roundRect">
            <a:avLst>
              <a:gd name="adj" fmla="val 9231"/>
            </a:avLst>
          </a:prstGeom>
          <a:solidFill>
            <a:srgbClr val="F3F1FA"/>
          </a:solidFill>
          <a:ln w="12700">
            <a:solidFill>
              <a:srgbClr val="F3F1FA"/>
            </a:solidFill>
            <a:prstDash val="solid"/>
          </a:ln>
        </p:spPr>
      </p:sp>
      <p:sp>
        <p:nvSpPr>
          <p:cNvPr id="13" name="Shape 10"/>
          <p:cNvSpPr/>
          <p:nvPr/>
        </p:nvSpPr>
        <p:spPr>
          <a:xfrm>
            <a:off x="2724912" y="1581912"/>
            <a:ext cx="384048" cy="384048"/>
          </a:xfrm>
          <a:prstGeom prst="ellipse">
            <a:avLst/>
          </a:prstGeom>
          <a:solidFill>
            <a:srgbClr val="7C3AED"/>
          </a:solidFill>
          <a:ln w="12700">
            <a:solidFill>
              <a:srgbClr val="7C3AED"/>
            </a:solidFill>
            <a:prstDash val="solid"/>
          </a:ln>
        </p:spPr>
      </p:sp>
      <p:sp>
        <p:nvSpPr>
          <p:cNvPr id="14" name="Text 11"/>
          <p:cNvSpPr txBox="1"/>
          <p:nvPr/>
        </p:nvSpPr>
        <p:spPr>
          <a:xfrm>
            <a:off x="2724912" y="1581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3218688" y="1600200"/>
            <a:ext cx="1188720" cy="365760"/>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Build prompt</a:t>
            </a:r>
            <a:endParaRPr lang="en-US" sz="1250" dirty="0"/>
          </a:p>
        </p:txBody>
      </p:sp>
      <p:sp>
        <p:nvSpPr>
          <p:cNvPr id="16" name="Text 13"/>
          <p:cNvSpPr txBox="1"/>
          <p:nvPr/>
        </p:nvSpPr>
        <p:spPr>
          <a:xfrm>
            <a:off x="2724912" y="2057400"/>
            <a:ext cx="164592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Schema, rules, company and profile context</a:t>
            </a:r>
            <a:endParaRPr lang="en-US" sz="1000" dirty="0"/>
          </a:p>
        </p:txBody>
      </p:sp>
      <p:sp>
        <p:nvSpPr>
          <p:cNvPr id="17" name="Shape 14"/>
          <p:cNvSpPr/>
          <p:nvPr/>
        </p:nvSpPr>
        <p:spPr>
          <a:xfrm>
            <a:off x="4663440" y="1417320"/>
            <a:ext cx="1920240" cy="1188720"/>
          </a:xfrm>
          <a:prstGeom prst="roundRect">
            <a:avLst>
              <a:gd name="adj" fmla="val 9231"/>
            </a:avLst>
          </a:prstGeom>
          <a:solidFill>
            <a:srgbClr val="F3F1FA"/>
          </a:solidFill>
          <a:ln w="12700">
            <a:solidFill>
              <a:srgbClr val="F3F1FA"/>
            </a:solidFill>
            <a:prstDash val="solid"/>
          </a:ln>
        </p:spPr>
      </p:sp>
      <p:sp>
        <p:nvSpPr>
          <p:cNvPr id="18" name="Shape 15"/>
          <p:cNvSpPr/>
          <p:nvPr/>
        </p:nvSpPr>
        <p:spPr>
          <a:xfrm>
            <a:off x="4828032" y="1581912"/>
            <a:ext cx="384048" cy="384048"/>
          </a:xfrm>
          <a:prstGeom prst="ellipse">
            <a:avLst/>
          </a:prstGeom>
          <a:solidFill>
            <a:srgbClr val="7C3AED"/>
          </a:solidFill>
          <a:ln w="12700">
            <a:solidFill>
              <a:srgbClr val="7C3AED"/>
            </a:solidFill>
            <a:prstDash val="solid"/>
          </a:ln>
        </p:spPr>
      </p:sp>
      <p:sp>
        <p:nvSpPr>
          <p:cNvPr id="19" name="Text 16"/>
          <p:cNvSpPr txBox="1"/>
          <p:nvPr/>
        </p:nvSpPr>
        <p:spPr>
          <a:xfrm>
            <a:off x="4828032" y="1581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5321808" y="1600200"/>
            <a:ext cx="1188720" cy="365760"/>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JSON mode</a:t>
            </a:r>
            <a:endParaRPr lang="en-US" sz="1250" dirty="0"/>
          </a:p>
        </p:txBody>
      </p:sp>
      <p:sp>
        <p:nvSpPr>
          <p:cNvPr id="21" name="Text 18"/>
          <p:cNvSpPr txBox="1"/>
          <p:nvPr/>
        </p:nvSpPr>
        <p:spPr>
          <a:xfrm>
            <a:off x="4828032" y="2057400"/>
            <a:ext cx="164592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Ask Gemini for application/json</a:t>
            </a:r>
            <a:endParaRPr lang="en-US" sz="1000" dirty="0"/>
          </a:p>
        </p:txBody>
      </p:sp>
      <p:sp>
        <p:nvSpPr>
          <p:cNvPr id="22" name="Shape 19"/>
          <p:cNvSpPr/>
          <p:nvPr/>
        </p:nvSpPr>
        <p:spPr>
          <a:xfrm>
            <a:off x="6766560" y="1417320"/>
            <a:ext cx="1920240" cy="1188720"/>
          </a:xfrm>
          <a:prstGeom prst="roundRect">
            <a:avLst>
              <a:gd name="adj" fmla="val 9231"/>
            </a:avLst>
          </a:prstGeom>
          <a:solidFill>
            <a:srgbClr val="F3F1FA"/>
          </a:solidFill>
          <a:ln w="12700">
            <a:solidFill>
              <a:srgbClr val="F3F1FA"/>
            </a:solidFill>
            <a:prstDash val="solid"/>
          </a:ln>
        </p:spPr>
      </p:sp>
      <p:sp>
        <p:nvSpPr>
          <p:cNvPr id="23" name="Shape 20"/>
          <p:cNvSpPr/>
          <p:nvPr/>
        </p:nvSpPr>
        <p:spPr>
          <a:xfrm>
            <a:off x="6931152" y="1581912"/>
            <a:ext cx="384048" cy="384048"/>
          </a:xfrm>
          <a:prstGeom prst="ellipse">
            <a:avLst/>
          </a:prstGeom>
          <a:solidFill>
            <a:srgbClr val="7C3AED"/>
          </a:solidFill>
          <a:ln w="12700">
            <a:solidFill>
              <a:srgbClr val="7C3AED"/>
            </a:solidFill>
            <a:prstDash val="solid"/>
          </a:ln>
        </p:spPr>
      </p:sp>
      <p:sp>
        <p:nvSpPr>
          <p:cNvPr id="24" name="Text 21"/>
          <p:cNvSpPr txBox="1"/>
          <p:nvPr/>
        </p:nvSpPr>
        <p:spPr>
          <a:xfrm>
            <a:off x="6931152" y="1581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2"/>
          <p:cNvSpPr txBox="1"/>
          <p:nvPr/>
        </p:nvSpPr>
        <p:spPr>
          <a:xfrm>
            <a:off x="7424928" y="1600200"/>
            <a:ext cx="1188720" cy="365760"/>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Strip fences</a:t>
            </a:r>
            <a:endParaRPr lang="en-US" sz="1250" dirty="0"/>
          </a:p>
        </p:txBody>
      </p:sp>
      <p:sp>
        <p:nvSpPr>
          <p:cNvPr id="26" name="Text 23"/>
          <p:cNvSpPr txBox="1"/>
          <p:nvPr/>
        </p:nvSpPr>
        <p:spPr>
          <a:xfrm>
            <a:off x="6931152" y="2057400"/>
            <a:ext cx="164592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Remove markdown wrappers</a:t>
            </a:r>
            <a:endParaRPr lang="en-US" sz="1000" dirty="0"/>
          </a:p>
        </p:txBody>
      </p:sp>
      <p:sp>
        <p:nvSpPr>
          <p:cNvPr id="27" name="Shape 24"/>
          <p:cNvSpPr/>
          <p:nvPr/>
        </p:nvSpPr>
        <p:spPr>
          <a:xfrm>
            <a:off x="457200" y="2788920"/>
            <a:ext cx="1920240" cy="1188720"/>
          </a:xfrm>
          <a:prstGeom prst="roundRect">
            <a:avLst>
              <a:gd name="adj" fmla="val 9231"/>
            </a:avLst>
          </a:prstGeom>
          <a:solidFill>
            <a:srgbClr val="F3F1FA"/>
          </a:solidFill>
          <a:ln w="12700">
            <a:solidFill>
              <a:srgbClr val="F3F1FA"/>
            </a:solidFill>
            <a:prstDash val="solid"/>
          </a:ln>
        </p:spPr>
      </p:sp>
      <p:sp>
        <p:nvSpPr>
          <p:cNvPr id="28" name="Shape 25"/>
          <p:cNvSpPr/>
          <p:nvPr/>
        </p:nvSpPr>
        <p:spPr>
          <a:xfrm>
            <a:off x="621792" y="2953512"/>
            <a:ext cx="384048" cy="384048"/>
          </a:xfrm>
          <a:prstGeom prst="ellipse">
            <a:avLst/>
          </a:prstGeom>
          <a:solidFill>
            <a:srgbClr val="7C3AED"/>
          </a:solidFill>
          <a:ln w="12700">
            <a:solidFill>
              <a:srgbClr val="7C3AED"/>
            </a:solidFill>
            <a:prstDash val="solid"/>
          </a:ln>
        </p:spPr>
      </p:sp>
      <p:sp>
        <p:nvSpPr>
          <p:cNvPr id="29" name="Text 26"/>
          <p:cNvSpPr txBox="1"/>
          <p:nvPr/>
        </p:nvSpPr>
        <p:spPr>
          <a:xfrm>
            <a:off x="621792" y="2953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7"/>
          <p:cNvSpPr txBox="1"/>
          <p:nvPr/>
        </p:nvSpPr>
        <p:spPr>
          <a:xfrm>
            <a:off x="1115568" y="2971800"/>
            <a:ext cx="1188720" cy="365760"/>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Extract and repair</a:t>
            </a:r>
            <a:endParaRPr lang="en-US" sz="1250" dirty="0"/>
          </a:p>
        </p:txBody>
      </p:sp>
      <p:sp>
        <p:nvSpPr>
          <p:cNvPr id="31" name="Text 28"/>
          <p:cNvSpPr txBox="1"/>
          <p:nvPr/>
        </p:nvSpPr>
        <p:spPr>
          <a:xfrm>
            <a:off x="621792" y="3429000"/>
            <a:ext cx="164592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Find the object, fix trailing commas</a:t>
            </a:r>
            <a:endParaRPr lang="en-US" sz="1000" dirty="0"/>
          </a:p>
        </p:txBody>
      </p:sp>
      <p:sp>
        <p:nvSpPr>
          <p:cNvPr id="32" name="Shape 29"/>
          <p:cNvSpPr/>
          <p:nvPr/>
        </p:nvSpPr>
        <p:spPr>
          <a:xfrm>
            <a:off x="2560320" y="2788920"/>
            <a:ext cx="1920240" cy="1188720"/>
          </a:xfrm>
          <a:prstGeom prst="roundRect">
            <a:avLst>
              <a:gd name="adj" fmla="val 9231"/>
            </a:avLst>
          </a:prstGeom>
          <a:solidFill>
            <a:srgbClr val="F3F1FA"/>
          </a:solidFill>
          <a:ln w="12700">
            <a:solidFill>
              <a:srgbClr val="F3F1FA"/>
            </a:solidFill>
            <a:prstDash val="solid"/>
          </a:ln>
        </p:spPr>
      </p:sp>
      <p:sp>
        <p:nvSpPr>
          <p:cNvPr id="33" name="Shape 30"/>
          <p:cNvSpPr/>
          <p:nvPr/>
        </p:nvSpPr>
        <p:spPr>
          <a:xfrm>
            <a:off x="2724912" y="2953512"/>
            <a:ext cx="384048" cy="384048"/>
          </a:xfrm>
          <a:prstGeom prst="ellipse">
            <a:avLst/>
          </a:prstGeom>
          <a:solidFill>
            <a:srgbClr val="7C3AED"/>
          </a:solidFill>
          <a:ln w="12700">
            <a:solidFill>
              <a:srgbClr val="7C3AED"/>
            </a:solidFill>
            <a:prstDash val="solid"/>
          </a:ln>
        </p:spPr>
      </p:sp>
      <p:sp>
        <p:nvSpPr>
          <p:cNvPr id="34" name="Text 31"/>
          <p:cNvSpPr txBox="1"/>
          <p:nvPr/>
        </p:nvSpPr>
        <p:spPr>
          <a:xfrm>
            <a:off x="2724912" y="2953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5" name="Text 32"/>
          <p:cNvSpPr txBox="1"/>
          <p:nvPr/>
        </p:nvSpPr>
        <p:spPr>
          <a:xfrm>
            <a:off x="3218688" y="2971800"/>
            <a:ext cx="1188720" cy="365760"/>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Validate</a:t>
            </a:r>
            <a:endParaRPr lang="en-US" sz="1250" dirty="0"/>
          </a:p>
        </p:txBody>
      </p:sp>
      <p:sp>
        <p:nvSpPr>
          <p:cNvPr id="36" name="Text 33"/>
          <p:cNvSpPr txBox="1"/>
          <p:nvPr/>
        </p:nvSpPr>
        <p:spPr>
          <a:xfrm>
            <a:off x="2724912" y="3429000"/>
            <a:ext cx="164592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Zod schema check</a:t>
            </a:r>
            <a:endParaRPr lang="en-US" sz="1000" dirty="0"/>
          </a:p>
        </p:txBody>
      </p:sp>
      <p:sp>
        <p:nvSpPr>
          <p:cNvPr id="37" name="Shape 34"/>
          <p:cNvSpPr/>
          <p:nvPr/>
        </p:nvSpPr>
        <p:spPr>
          <a:xfrm>
            <a:off x="4663440" y="2788920"/>
            <a:ext cx="1920240" cy="1188720"/>
          </a:xfrm>
          <a:prstGeom prst="roundRect">
            <a:avLst>
              <a:gd name="adj" fmla="val 9231"/>
            </a:avLst>
          </a:prstGeom>
          <a:solidFill>
            <a:srgbClr val="F3F1FA"/>
          </a:solidFill>
          <a:ln w="12700">
            <a:solidFill>
              <a:srgbClr val="F3F1FA"/>
            </a:solidFill>
            <a:prstDash val="solid"/>
          </a:ln>
        </p:spPr>
      </p:sp>
      <p:sp>
        <p:nvSpPr>
          <p:cNvPr id="38" name="Shape 35"/>
          <p:cNvSpPr/>
          <p:nvPr/>
        </p:nvSpPr>
        <p:spPr>
          <a:xfrm>
            <a:off x="4828032" y="2953512"/>
            <a:ext cx="384048" cy="384048"/>
          </a:xfrm>
          <a:prstGeom prst="ellipse">
            <a:avLst/>
          </a:prstGeom>
          <a:solidFill>
            <a:srgbClr val="7C3AED"/>
          </a:solidFill>
          <a:ln w="12700">
            <a:solidFill>
              <a:srgbClr val="7C3AED"/>
            </a:solidFill>
            <a:prstDash val="solid"/>
          </a:ln>
        </p:spPr>
      </p:sp>
      <p:sp>
        <p:nvSpPr>
          <p:cNvPr id="39" name="Text 36"/>
          <p:cNvSpPr txBox="1"/>
          <p:nvPr/>
        </p:nvSpPr>
        <p:spPr>
          <a:xfrm>
            <a:off x="4828032" y="2953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0" name="Text 37"/>
          <p:cNvSpPr txBox="1"/>
          <p:nvPr/>
        </p:nvSpPr>
        <p:spPr>
          <a:xfrm>
            <a:off x="5321808" y="2971800"/>
            <a:ext cx="1188720" cy="365760"/>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Normalise</a:t>
            </a:r>
            <a:endParaRPr lang="en-US" sz="1250" dirty="0"/>
          </a:p>
        </p:txBody>
      </p:sp>
      <p:sp>
        <p:nvSpPr>
          <p:cNvPr id="41" name="Text 38"/>
          <p:cNvSpPr txBox="1"/>
          <p:nvPr/>
        </p:nvSpPr>
        <p:spPr>
          <a:xfrm>
            <a:off x="4828032" y="3429000"/>
            <a:ext cx="164592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Map field name variants</a:t>
            </a:r>
            <a:endParaRPr lang="en-US" sz="1000" dirty="0"/>
          </a:p>
        </p:txBody>
      </p:sp>
      <p:sp>
        <p:nvSpPr>
          <p:cNvPr id="42" name="Shape 39"/>
          <p:cNvSpPr/>
          <p:nvPr/>
        </p:nvSpPr>
        <p:spPr>
          <a:xfrm>
            <a:off x="6766560" y="2788920"/>
            <a:ext cx="1920240" cy="1188720"/>
          </a:xfrm>
          <a:prstGeom prst="roundRect">
            <a:avLst>
              <a:gd name="adj" fmla="val 9231"/>
            </a:avLst>
          </a:prstGeom>
          <a:solidFill>
            <a:srgbClr val="F3F1FA"/>
          </a:solidFill>
          <a:ln w="12700">
            <a:solidFill>
              <a:srgbClr val="F3F1FA"/>
            </a:solidFill>
            <a:prstDash val="solid"/>
          </a:ln>
        </p:spPr>
      </p:sp>
      <p:sp>
        <p:nvSpPr>
          <p:cNvPr id="43" name="Shape 40"/>
          <p:cNvSpPr/>
          <p:nvPr/>
        </p:nvSpPr>
        <p:spPr>
          <a:xfrm>
            <a:off x="6931152" y="2953512"/>
            <a:ext cx="384048" cy="384048"/>
          </a:xfrm>
          <a:prstGeom prst="ellipse">
            <a:avLst/>
          </a:prstGeom>
          <a:solidFill>
            <a:srgbClr val="7C3AED"/>
          </a:solidFill>
          <a:ln w="12700">
            <a:solidFill>
              <a:srgbClr val="7C3AED"/>
            </a:solidFill>
            <a:prstDash val="solid"/>
          </a:ln>
        </p:spPr>
      </p:sp>
      <p:sp>
        <p:nvSpPr>
          <p:cNvPr id="44" name="Text 41"/>
          <p:cNvSpPr txBox="1"/>
          <p:nvPr/>
        </p:nvSpPr>
        <p:spPr>
          <a:xfrm>
            <a:off x="6931152" y="2953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5" name="Text 42"/>
          <p:cNvSpPr txBox="1"/>
          <p:nvPr/>
        </p:nvSpPr>
        <p:spPr>
          <a:xfrm>
            <a:off x="7424928" y="2971800"/>
            <a:ext cx="1188720" cy="365760"/>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Strict retry</a:t>
            </a:r>
            <a:endParaRPr lang="en-US" sz="1250" dirty="0"/>
          </a:p>
        </p:txBody>
      </p:sp>
      <p:sp>
        <p:nvSpPr>
          <p:cNvPr id="46" name="Text 43"/>
          <p:cNvSpPr txBox="1"/>
          <p:nvPr/>
        </p:nvSpPr>
        <p:spPr>
          <a:xfrm>
            <a:off x="6931152" y="3429000"/>
            <a:ext cx="1645920" cy="502920"/>
          </a:xfrm>
          <a:prstGeom prst="rect">
            <a:avLst/>
          </a:prstGeom>
          <a:noFill/>
          <a:ln/>
        </p:spPr>
        <p:txBody>
          <a:bodyPr wrap="square" lIns="0" tIns="0" rIns="0" bIns="0" rtlCol="0" anchor="t"/>
          <a:lstStyle/>
          <a:p>
            <a:pPr algn="l" indent="0" marL="0">
              <a:buNone/>
            </a:pPr>
            <a:r>
              <a:rPr lang="en-US" sz="1000" dirty="0">
                <a:solidFill>
                  <a:srgbClr val="5B5A72"/>
                </a:solidFill>
                <a:latin typeface="Calibri" pitchFamily="34" charset="0"/>
                <a:ea typeface="Calibri" pitchFamily="34" charset="-122"/>
                <a:cs typeface="Calibri" pitchFamily="34" charset="-120"/>
              </a:rPr>
              <a:t>One more attempt on invalid output</a:t>
            </a:r>
            <a:endParaRPr lang="en-US" sz="1000" dirty="0"/>
          </a:p>
        </p:txBody>
      </p:sp>
      <p:sp>
        <p:nvSpPr>
          <p:cNvPr id="47" name="Text 44"/>
          <p:cNvSpPr txBox="1"/>
          <p:nvPr/>
        </p:nvSpPr>
        <p:spPr>
          <a:xfrm>
            <a:off x="457200" y="4206240"/>
            <a:ext cx="8229600" cy="457200"/>
          </a:xfrm>
          <a:prstGeom prst="rect">
            <a:avLst/>
          </a:prstGeom>
          <a:noFill/>
          <a:ln/>
        </p:spPr>
        <p:txBody>
          <a:bodyPr wrap="square" lIns="0" tIns="0" rIns="0" bIns="0" rtlCol="0" anchor="t"/>
          <a:lstStyle/>
          <a:p>
            <a:pPr algn="l" indent="0" marL="0">
              <a:buNone/>
            </a:pPr>
            <a:r>
              <a:rPr lang="en-US" sz="1100" dirty="0">
                <a:solidFill>
                  <a:srgbClr val="0284C7"/>
                </a:solidFill>
                <a:latin typeface="Calibri" pitchFamily="34" charset="0"/>
                <a:ea typeface="Calibri" pitchFamily="34" charset="-122"/>
                <a:cs typeface="Calibri" pitchFamily="34" charset="-120"/>
              </a:rPr>
              <a:t>Model fallback: gemini-2.5-flash, gemini-2.0-flash, gemini-1.5-flash, gemini-1.5-pro. Quota and model errors become clear user messages.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14</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Tech Stack</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JavaScript end to end</a:t>
            </a:r>
            <a:endParaRPr lang="en-US" sz="1300" dirty="0"/>
          </a:p>
        </p:txBody>
      </p:sp>
      <p:sp>
        <p:nvSpPr>
          <p:cNvPr id="7" name="Shape 4"/>
          <p:cNvSpPr/>
          <p:nvPr/>
        </p:nvSpPr>
        <p:spPr>
          <a:xfrm>
            <a:off x="457200" y="1371600"/>
            <a:ext cx="2606040" cy="3108960"/>
          </a:xfrm>
          <a:prstGeom prst="roundRect">
            <a:avLst>
              <a:gd name="adj" fmla="val 4211"/>
            </a:avLst>
          </a:prstGeom>
          <a:solidFill>
            <a:srgbClr val="F3F1FA"/>
          </a:solidFill>
          <a:ln w="12700">
            <a:solidFill>
              <a:srgbClr val="F3F1FA"/>
            </a:solidFill>
            <a:prstDash val="solid"/>
          </a:ln>
        </p:spPr>
      </p:sp>
      <p:sp>
        <p:nvSpPr>
          <p:cNvPr id="8" name="Text 5"/>
          <p:cNvSpPr txBox="1"/>
          <p:nvPr/>
        </p:nvSpPr>
        <p:spPr>
          <a:xfrm>
            <a:off x="640080" y="1508760"/>
            <a:ext cx="2286000" cy="320040"/>
          </a:xfrm>
          <a:prstGeom prst="rect">
            <a:avLst/>
          </a:prstGeom>
          <a:noFill/>
          <a:ln/>
        </p:spPr>
        <p:txBody>
          <a:bodyPr wrap="square" lIns="0" tIns="0" rIns="0" bIns="0" rtlCol="0" anchor="t"/>
          <a:lstStyle/>
          <a:p>
            <a:pPr algn="l" indent="0" marL="0">
              <a:buNone/>
            </a:pPr>
            <a:r>
              <a:rPr lang="en-US" sz="1500" b="1" dirty="0">
                <a:solidFill>
                  <a:srgbClr val="0284C7"/>
                </a:solidFill>
                <a:latin typeface="Calibri" pitchFamily="34" charset="0"/>
                <a:ea typeface="Calibri" pitchFamily="34" charset="-122"/>
                <a:cs typeface="Calibri" pitchFamily="34" charset="-120"/>
              </a:rPr>
              <a:t>Frontend</a:t>
            </a:r>
            <a:endParaRPr lang="en-US" sz="1500" dirty="0"/>
          </a:p>
        </p:txBody>
      </p:sp>
      <p:sp>
        <p:nvSpPr>
          <p:cNvPr id="9" name="Shape 6"/>
          <p:cNvSpPr/>
          <p:nvPr/>
        </p:nvSpPr>
        <p:spPr>
          <a:xfrm>
            <a:off x="640080" y="1920240"/>
            <a:ext cx="1051560" cy="329184"/>
          </a:xfrm>
          <a:prstGeom prst="roundRect">
            <a:avLst>
              <a:gd name="adj" fmla="val 50000"/>
            </a:avLst>
          </a:prstGeom>
          <a:solidFill>
            <a:srgbClr val="5B21B6"/>
          </a:solidFill>
          <a:ln w="12700">
            <a:solidFill>
              <a:srgbClr val="5B21B6"/>
            </a:solidFill>
            <a:prstDash val="solid"/>
          </a:ln>
        </p:spPr>
      </p:sp>
      <p:sp>
        <p:nvSpPr>
          <p:cNvPr id="10" name="Text 7"/>
          <p:cNvSpPr txBox="1"/>
          <p:nvPr/>
        </p:nvSpPr>
        <p:spPr>
          <a:xfrm>
            <a:off x="640080" y="192024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React 19</a:t>
            </a:r>
            <a:endParaRPr lang="en-US" sz="950" dirty="0"/>
          </a:p>
        </p:txBody>
      </p:sp>
      <p:sp>
        <p:nvSpPr>
          <p:cNvPr id="11" name="Shape 8"/>
          <p:cNvSpPr/>
          <p:nvPr/>
        </p:nvSpPr>
        <p:spPr>
          <a:xfrm>
            <a:off x="1783080" y="1920240"/>
            <a:ext cx="1051560" cy="329184"/>
          </a:xfrm>
          <a:prstGeom prst="roundRect">
            <a:avLst>
              <a:gd name="adj" fmla="val 50000"/>
            </a:avLst>
          </a:prstGeom>
          <a:solidFill>
            <a:srgbClr val="5B21B6"/>
          </a:solidFill>
          <a:ln w="12700">
            <a:solidFill>
              <a:srgbClr val="5B21B6"/>
            </a:solidFill>
            <a:prstDash val="solid"/>
          </a:ln>
        </p:spPr>
      </p:sp>
      <p:sp>
        <p:nvSpPr>
          <p:cNvPr id="12" name="Text 9"/>
          <p:cNvSpPr txBox="1"/>
          <p:nvPr/>
        </p:nvSpPr>
        <p:spPr>
          <a:xfrm>
            <a:off x="1783080" y="192024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Vite</a:t>
            </a:r>
            <a:endParaRPr lang="en-US" sz="950" dirty="0"/>
          </a:p>
        </p:txBody>
      </p:sp>
      <p:sp>
        <p:nvSpPr>
          <p:cNvPr id="13" name="Shape 10"/>
          <p:cNvSpPr/>
          <p:nvPr/>
        </p:nvSpPr>
        <p:spPr>
          <a:xfrm>
            <a:off x="640080" y="2331720"/>
            <a:ext cx="1051560" cy="329184"/>
          </a:xfrm>
          <a:prstGeom prst="roundRect">
            <a:avLst>
              <a:gd name="adj" fmla="val 50000"/>
            </a:avLst>
          </a:prstGeom>
          <a:solidFill>
            <a:srgbClr val="5B21B6"/>
          </a:solidFill>
          <a:ln w="12700">
            <a:solidFill>
              <a:srgbClr val="5B21B6"/>
            </a:solidFill>
            <a:prstDash val="solid"/>
          </a:ln>
        </p:spPr>
      </p:sp>
      <p:sp>
        <p:nvSpPr>
          <p:cNvPr id="14" name="Text 11"/>
          <p:cNvSpPr txBox="1"/>
          <p:nvPr/>
        </p:nvSpPr>
        <p:spPr>
          <a:xfrm>
            <a:off x="640080" y="233172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React Router 7</a:t>
            </a:r>
            <a:endParaRPr lang="en-US" sz="950" dirty="0"/>
          </a:p>
        </p:txBody>
      </p:sp>
      <p:sp>
        <p:nvSpPr>
          <p:cNvPr id="15" name="Shape 12"/>
          <p:cNvSpPr/>
          <p:nvPr/>
        </p:nvSpPr>
        <p:spPr>
          <a:xfrm>
            <a:off x="1783080" y="2331720"/>
            <a:ext cx="1051560" cy="329184"/>
          </a:xfrm>
          <a:prstGeom prst="roundRect">
            <a:avLst>
              <a:gd name="adj" fmla="val 50000"/>
            </a:avLst>
          </a:prstGeom>
          <a:solidFill>
            <a:srgbClr val="5B21B6"/>
          </a:solidFill>
          <a:ln w="12700">
            <a:solidFill>
              <a:srgbClr val="5B21B6"/>
            </a:solidFill>
            <a:prstDash val="solid"/>
          </a:ln>
        </p:spPr>
      </p:sp>
      <p:sp>
        <p:nvSpPr>
          <p:cNvPr id="16" name="Text 13"/>
          <p:cNvSpPr txBox="1"/>
          <p:nvPr/>
        </p:nvSpPr>
        <p:spPr>
          <a:xfrm>
            <a:off x="1783080" y="233172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SCSS</a:t>
            </a:r>
            <a:endParaRPr lang="en-US" sz="950" dirty="0"/>
          </a:p>
        </p:txBody>
      </p:sp>
      <p:sp>
        <p:nvSpPr>
          <p:cNvPr id="17" name="Shape 14"/>
          <p:cNvSpPr/>
          <p:nvPr/>
        </p:nvSpPr>
        <p:spPr>
          <a:xfrm>
            <a:off x="640080" y="2743200"/>
            <a:ext cx="1051560" cy="329184"/>
          </a:xfrm>
          <a:prstGeom prst="roundRect">
            <a:avLst>
              <a:gd name="adj" fmla="val 50000"/>
            </a:avLst>
          </a:prstGeom>
          <a:solidFill>
            <a:srgbClr val="5B21B6"/>
          </a:solidFill>
          <a:ln w="12700">
            <a:solidFill>
              <a:srgbClr val="5B21B6"/>
            </a:solidFill>
            <a:prstDash val="solid"/>
          </a:ln>
        </p:spPr>
      </p:sp>
      <p:sp>
        <p:nvSpPr>
          <p:cNvPr id="18" name="Text 15"/>
          <p:cNvSpPr txBox="1"/>
          <p:nvPr/>
        </p:nvSpPr>
        <p:spPr>
          <a:xfrm>
            <a:off x="640080" y="274320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Recharts</a:t>
            </a:r>
            <a:endParaRPr lang="en-US" sz="950" dirty="0"/>
          </a:p>
        </p:txBody>
      </p:sp>
      <p:sp>
        <p:nvSpPr>
          <p:cNvPr id="19" name="Shape 16"/>
          <p:cNvSpPr/>
          <p:nvPr/>
        </p:nvSpPr>
        <p:spPr>
          <a:xfrm>
            <a:off x="1783080" y="2743200"/>
            <a:ext cx="1051560" cy="329184"/>
          </a:xfrm>
          <a:prstGeom prst="roundRect">
            <a:avLst>
              <a:gd name="adj" fmla="val 50000"/>
            </a:avLst>
          </a:prstGeom>
          <a:solidFill>
            <a:srgbClr val="5B21B6"/>
          </a:solidFill>
          <a:ln w="12700">
            <a:solidFill>
              <a:srgbClr val="5B21B6"/>
            </a:solidFill>
            <a:prstDash val="solid"/>
          </a:ln>
        </p:spPr>
      </p:sp>
      <p:sp>
        <p:nvSpPr>
          <p:cNvPr id="20" name="Text 17"/>
          <p:cNvSpPr txBox="1"/>
          <p:nvPr/>
        </p:nvSpPr>
        <p:spPr>
          <a:xfrm>
            <a:off x="1783080" y="274320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Monaco Editor</a:t>
            </a:r>
            <a:endParaRPr lang="en-US" sz="950" dirty="0"/>
          </a:p>
        </p:txBody>
      </p:sp>
      <p:sp>
        <p:nvSpPr>
          <p:cNvPr id="21" name="Shape 18"/>
          <p:cNvSpPr/>
          <p:nvPr/>
        </p:nvSpPr>
        <p:spPr>
          <a:xfrm>
            <a:off x="640080" y="3154680"/>
            <a:ext cx="1051560" cy="329184"/>
          </a:xfrm>
          <a:prstGeom prst="roundRect">
            <a:avLst>
              <a:gd name="adj" fmla="val 50000"/>
            </a:avLst>
          </a:prstGeom>
          <a:solidFill>
            <a:srgbClr val="5B21B6"/>
          </a:solidFill>
          <a:ln w="12700">
            <a:solidFill>
              <a:srgbClr val="5B21B6"/>
            </a:solidFill>
            <a:prstDash val="solid"/>
          </a:ln>
        </p:spPr>
      </p:sp>
      <p:sp>
        <p:nvSpPr>
          <p:cNvPr id="22" name="Text 19"/>
          <p:cNvSpPr txBox="1"/>
          <p:nvPr/>
        </p:nvSpPr>
        <p:spPr>
          <a:xfrm>
            <a:off x="640080" y="315468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Axios</a:t>
            </a:r>
            <a:endParaRPr lang="en-US" sz="950" dirty="0"/>
          </a:p>
        </p:txBody>
      </p:sp>
      <p:sp>
        <p:nvSpPr>
          <p:cNvPr id="23" name="Shape 20"/>
          <p:cNvSpPr/>
          <p:nvPr/>
        </p:nvSpPr>
        <p:spPr>
          <a:xfrm>
            <a:off x="3291840" y="1371600"/>
            <a:ext cx="2606040" cy="3108960"/>
          </a:xfrm>
          <a:prstGeom prst="roundRect">
            <a:avLst>
              <a:gd name="adj" fmla="val 4211"/>
            </a:avLst>
          </a:prstGeom>
          <a:solidFill>
            <a:srgbClr val="F3F1FA"/>
          </a:solidFill>
          <a:ln w="12700">
            <a:solidFill>
              <a:srgbClr val="F3F1FA"/>
            </a:solidFill>
            <a:prstDash val="solid"/>
          </a:ln>
        </p:spPr>
      </p:sp>
      <p:sp>
        <p:nvSpPr>
          <p:cNvPr id="24" name="Text 21"/>
          <p:cNvSpPr txBox="1"/>
          <p:nvPr/>
        </p:nvSpPr>
        <p:spPr>
          <a:xfrm>
            <a:off x="3474720" y="1508760"/>
            <a:ext cx="2286000" cy="320040"/>
          </a:xfrm>
          <a:prstGeom prst="rect">
            <a:avLst/>
          </a:prstGeom>
          <a:noFill/>
          <a:ln/>
        </p:spPr>
        <p:txBody>
          <a:bodyPr wrap="square" lIns="0" tIns="0" rIns="0" bIns="0" rtlCol="0" anchor="t"/>
          <a:lstStyle/>
          <a:p>
            <a:pPr algn="l" indent="0" marL="0">
              <a:buNone/>
            </a:pPr>
            <a:r>
              <a:rPr lang="en-US" sz="1500" b="1" dirty="0">
                <a:solidFill>
                  <a:srgbClr val="0284C7"/>
                </a:solidFill>
                <a:latin typeface="Calibri" pitchFamily="34" charset="0"/>
                <a:ea typeface="Calibri" pitchFamily="34" charset="-122"/>
                <a:cs typeface="Calibri" pitchFamily="34" charset="-120"/>
              </a:rPr>
              <a:t>Backend</a:t>
            </a:r>
            <a:endParaRPr lang="en-US" sz="1500" dirty="0"/>
          </a:p>
        </p:txBody>
      </p:sp>
      <p:sp>
        <p:nvSpPr>
          <p:cNvPr id="25" name="Shape 22"/>
          <p:cNvSpPr/>
          <p:nvPr/>
        </p:nvSpPr>
        <p:spPr>
          <a:xfrm>
            <a:off x="3474720" y="1920240"/>
            <a:ext cx="1051560" cy="329184"/>
          </a:xfrm>
          <a:prstGeom prst="roundRect">
            <a:avLst>
              <a:gd name="adj" fmla="val 50000"/>
            </a:avLst>
          </a:prstGeom>
          <a:solidFill>
            <a:srgbClr val="5B21B6"/>
          </a:solidFill>
          <a:ln w="12700">
            <a:solidFill>
              <a:srgbClr val="5B21B6"/>
            </a:solidFill>
            <a:prstDash val="solid"/>
          </a:ln>
        </p:spPr>
      </p:sp>
      <p:sp>
        <p:nvSpPr>
          <p:cNvPr id="26" name="Text 23"/>
          <p:cNvSpPr txBox="1"/>
          <p:nvPr/>
        </p:nvSpPr>
        <p:spPr>
          <a:xfrm>
            <a:off x="3474720" y="192024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Node.js</a:t>
            </a:r>
            <a:endParaRPr lang="en-US" sz="950" dirty="0"/>
          </a:p>
        </p:txBody>
      </p:sp>
      <p:sp>
        <p:nvSpPr>
          <p:cNvPr id="27" name="Shape 24"/>
          <p:cNvSpPr/>
          <p:nvPr/>
        </p:nvSpPr>
        <p:spPr>
          <a:xfrm>
            <a:off x="4617720" y="1920240"/>
            <a:ext cx="1051560" cy="329184"/>
          </a:xfrm>
          <a:prstGeom prst="roundRect">
            <a:avLst>
              <a:gd name="adj" fmla="val 50000"/>
            </a:avLst>
          </a:prstGeom>
          <a:solidFill>
            <a:srgbClr val="5B21B6"/>
          </a:solidFill>
          <a:ln w="12700">
            <a:solidFill>
              <a:srgbClr val="5B21B6"/>
            </a:solidFill>
            <a:prstDash val="solid"/>
          </a:ln>
        </p:spPr>
      </p:sp>
      <p:sp>
        <p:nvSpPr>
          <p:cNvPr id="28" name="Text 25"/>
          <p:cNvSpPr txBox="1"/>
          <p:nvPr/>
        </p:nvSpPr>
        <p:spPr>
          <a:xfrm>
            <a:off x="4617720" y="192024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Express 5</a:t>
            </a:r>
            <a:endParaRPr lang="en-US" sz="950" dirty="0"/>
          </a:p>
        </p:txBody>
      </p:sp>
      <p:sp>
        <p:nvSpPr>
          <p:cNvPr id="29" name="Shape 26"/>
          <p:cNvSpPr/>
          <p:nvPr/>
        </p:nvSpPr>
        <p:spPr>
          <a:xfrm>
            <a:off x="3474720" y="2331720"/>
            <a:ext cx="1051560" cy="329184"/>
          </a:xfrm>
          <a:prstGeom prst="roundRect">
            <a:avLst>
              <a:gd name="adj" fmla="val 50000"/>
            </a:avLst>
          </a:prstGeom>
          <a:solidFill>
            <a:srgbClr val="5B21B6"/>
          </a:solidFill>
          <a:ln w="12700">
            <a:solidFill>
              <a:srgbClr val="5B21B6"/>
            </a:solidFill>
            <a:prstDash val="solid"/>
          </a:ln>
        </p:spPr>
      </p:sp>
      <p:sp>
        <p:nvSpPr>
          <p:cNvPr id="30" name="Text 27"/>
          <p:cNvSpPr txBox="1"/>
          <p:nvPr/>
        </p:nvSpPr>
        <p:spPr>
          <a:xfrm>
            <a:off x="3474720" y="233172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MongoDB</a:t>
            </a:r>
            <a:endParaRPr lang="en-US" sz="950" dirty="0"/>
          </a:p>
        </p:txBody>
      </p:sp>
      <p:sp>
        <p:nvSpPr>
          <p:cNvPr id="31" name="Shape 28"/>
          <p:cNvSpPr/>
          <p:nvPr/>
        </p:nvSpPr>
        <p:spPr>
          <a:xfrm>
            <a:off x="4617720" y="2331720"/>
            <a:ext cx="1051560" cy="329184"/>
          </a:xfrm>
          <a:prstGeom prst="roundRect">
            <a:avLst>
              <a:gd name="adj" fmla="val 50000"/>
            </a:avLst>
          </a:prstGeom>
          <a:solidFill>
            <a:srgbClr val="5B21B6"/>
          </a:solidFill>
          <a:ln w="12700">
            <a:solidFill>
              <a:srgbClr val="5B21B6"/>
            </a:solidFill>
            <a:prstDash val="solid"/>
          </a:ln>
        </p:spPr>
      </p:sp>
      <p:sp>
        <p:nvSpPr>
          <p:cNvPr id="32" name="Text 29"/>
          <p:cNvSpPr txBox="1"/>
          <p:nvPr/>
        </p:nvSpPr>
        <p:spPr>
          <a:xfrm>
            <a:off x="4617720" y="233172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Mongoose</a:t>
            </a:r>
            <a:endParaRPr lang="en-US" sz="950" dirty="0"/>
          </a:p>
        </p:txBody>
      </p:sp>
      <p:sp>
        <p:nvSpPr>
          <p:cNvPr id="33" name="Shape 30"/>
          <p:cNvSpPr/>
          <p:nvPr/>
        </p:nvSpPr>
        <p:spPr>
          <a:xfrm>
            <a:off x="3474720" y="2743200"/>
            <a:ext cx="1051560" cy="329184"/>
          </a:xfrm>
          <a:prstGeom prst="roundRect">
            <a:avLst>
              <a:gd name="adj" fmla="val 50000"/>
            </a:avLst>
          </a:prstGeom>
          <a:solidFill>
            <a:srgbClr val="5B21B6"/>
          </a:solidFill>
          <a:ln w="12700">
            <a:solidFill>
              <a:srgbClr val="5B21B6"/>
            </a:solidFill>
            <a:prstDash val="solid"/>
          </a:ln>
        </p:spPr>
      </p:sp>
      <p:sp>
        <p:nvSpPr>
          <p:cNvPr id="34" name="Text 31"/>
          <p:cNvSpPr txBox="1"/>
          <p:nvPr/>
        </p:nvSpPr>
        <p:spPr>
          <a:xfrm>
            <a:off x="3474720" y="274320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JWT</a:t>
            </a:r>
            <a:endParaRPr lang="en-US" sz="950" dirty="0"/>
          </a:p>
        </p:txBody>
      </p:sp>
      <p:sp>
        <p:nvSpPr>
          <p:cNvPr id="35" name="Shape 32"/>
          <p:cNvSpPr/>
          <p:nvPr/>
        </p:nvSpPr>
        <p:spPr>
          <a:xfrm>
            <a:off x="4617720" y="2743200"/>
            <a:ext cx="1051560" cy="329184"/>
          </a:xfrm>
          <a:prstGeom prst="roundRect">
            <a:avLst>
              <a:gd name="adj" fmla="val 50000"/>
            </a:avLst>
          </a:prstGeom>
          <a:solidFill>
            <a:srgbClr val="5B21B6"/>
          </a:solidFill>
          <a:ln w="12700">
            <a:solidFill>
              <a:srgbClr val="5B21B6"/>
            </a:solidFill>
            <a:prstDash val="solid"/>
          </a:ln>
        </p:spPr>
      </p:sp>
      <p:sp>
        <p:nvSpPr>
          <p:cNvPr id="36" name="Text 33"/>
          <p:cNvSpPr txBox="1"/>
          <p:nvPr/>
        </p:nvSpPr>
        <p:spPr>
          <a:xfrm>
            <a:off x="4617720" y="274320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bcrypt</a:t>
            </a:r>
            <a:endParaRPr lang="en-US" sz="950" dirty="0"/>
          </a:p>
        </p:txBody>
      </p:sp>
      <p:sp>
        <p:nvSpPr>
          <p:cNvPr id="37" name="Shape 34"/>
          <p:cNvSpPr/>
          <p:nvPr/>
        </p:nvSpPr>
        <p:spPr>
          <a:xfrm>
            <a:off x="3474720" y="3154680"/>
            <a:ext cx="1051560" cy="329184"/>
          </a:xfrm>
          <a:prstGeom prst="roundRect">
            <a:avLst>
              <a:gd name="adj" fmla="val 50000"/>
            </a:avLst>
          </a:prstGeom>
          <a:solidFill>
            <a:srgbClr val="5B21B6"/>
          </a:solidFill>
          <a:ln w="12700">
            <a:solidFill>
              <a:srgbClr val="5B21B6"/>
            </a:solidFill>
            <a:prstDash val="solid"/>
          </a:ln>
        </p:spPr>
      </p:sp>
      <p:sp>
        <p:nvSpPr>
          <p:cNvPr id="38" name="Text 35"/>
          <p:cNvSpPr txBox="1"/>
          <p:nvPr/>
        </p:nvSpPr>
        <p:spPr>
          <a:xfrm>
            <a:off x="3474720" y="315468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Zod</a:t>
            </a:r>
            <a:endParaRPr lang="en-US" sz="950" dirty="0"/>
          </a:p>
        </p:txBody>
      </p:sp>
      <p:sp>
        <p:nvSpPr>
          <p:cNvPr id="39" name="Shape 36"/>
          <p:cNvSpPr/>
          <p:nvPr/>
        </p:nvSpPr>
        <p:spPr>
          <a:xfrm>
            <a:off x="4617720" y="3154680"/>
            <a:ext cx="1051560" cy="329184"/>
          </a:xfrm>
          <a:prstGeom prst="roundRect">
            <a:avLst>
              <a:gd name="adj" fmla="val 50000"/>
            </a:avLst>
          </a:prstGeom>
          <a:solidFill>
            <a:srgbClr val="5B21B6"/>
          </a:solidFill>
          <a:ln w="12700">
            <a:solidFill>
              <a:srgbClr val="5B21B6"/>
            </a:solidFill>
            <a:prstDash val="solid"/>
          </a:ln>
        </p:spPr>
      </p:sp>
      <p:sp>
        <p:nvSpPr>
          <p:cNvPr id="40" name="Text 37"/>
          <p:cNvSpPr txBox="1"/>
          <p:nvPr/>
        </p:nvSpPr>
        <p:spPr>
          <a:xfrm>
            <a:off x="4617720" y="315468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Multer</a:t>
            </a:r>
            <a:endParaRPr lang="en-US" sz="950" dirty="0"/>
          </a:p>
        </p:txBody>
      </p:sp>
      <p:sp>
        <p:nvSpPr>
          <p:cNvPr id="41" name="Shape 38"/>
          <p:cNvSpPr/>
          <p:nvPr/>
        </p:nvSpPr>
        <p:spPr>
          <a:xfrm>
            <a:off x="3474720" y="3566160"/>
            <a:ext cx="1051560" cy="329184"/>
          </a:xfrm>
          <a:prstGeom prst="roundRect">
            <a:avLst>
              <a:gd name="adj" fmla="val 50000"/>
            </a:avLst>
          </a:prstGeom>
          <a:solidFill>
            <a:srgbClr val="5B21B6"/>
          </a:solidFill>
          <a:ln w="12700">
            <a:solidFill>
              <a:srgbClr val="5B21B6"/>
            </a:solidFill>
            <a:prstDash val="solid"/>
          </a:ln>
        </p:spPr>
      </p:sp>
      <p:sp>
        <p:nvSpPr>
          <p:cNvPr id="42" name="Text 39"/>
          <p:cNvSpPr txBox="1"/>
          <p:nvPr/>
        </p:nvSpPr>
        <p:spPr>
          <a:xfrm>
            <a:off x="3474720" y="356616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Puppeteer</a:t>
            </a:r>
            <a:endParaRPr lang="en-US" sz="950" dirty="0"/>
          </a:p>
        </p:txBody>
      </p:sp>
      <p:sp>
        <p:nvSpPr>
          <p:cNvPr id="43" name="Shape 40"/>
          <p:cNvSpPr/>
          <p:nvPr/>
        </p:nvSpPr>
        <p:spPr>
          <a:xfrm>
            <a:off x="4617720" y="3566160"/>
            <a:ext cx="1051560" cy="329184"/>
          </a:xfrm>
          <a:prstGeom prst="roundRect">
            <a:avLst>
              <a:gd name="adj" fmla="val 50000"/>
            </a:avLst>
          </a:prstGeom>
          <a:solidFill>
            <a:srgbClr val="5B21B6"/>
          </a:solidFill>
          <a:ln w="12700">
            <a:solidFill>
              <a:srgbClr val="5B21B6"/>
            </a:solidFill>
            <a:prstDash val="solid"/>
          </a:ln>
        </p:spPr>
      </p:sp>
      <p:sp>
        <p:nvSpPr>
          <p:cNvPr id="44" name="Text 41"/>
          <p:cNvSpPr txBox="1"/>
          <p:nvPr/>
        </p:nvSpPr>
        <p:spPr>
          <a:xfrm>
            <a:off x="4617720" y="356616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node-cron</a:t>
            </a:r>
            <a:endParaRPr lang="en-US" sz="950" dirty="0"/>
          </a:p>
        </p:txBody>
      </p:sp>
      <p:sp>
        <p:nvSpPr>
          <p:cNvPr id="45" name="Shape 42"/>
          <p:cNvSpPr/>
          <p:nvPr/>
        </p:nvSpPr>
        <p:spPr>
          <a:xfrm>
            <a:off x="3474720" y="3977640"/>
            <a:ext cx="1051560" cy="329184"/>
          </a:xfrm>
          <a:prstGeom prst="roundRect">
            <a:avLst>
              <a:gd name="adj" fmla="val 50000"/>
            </a:avLst>
          </a:prstGeom>
          <a:solidFill>
            <a:srgbClr val="5B21B6"/>
          </a:solidFill>
          <a:ln w="12700">
            <a:solidFill>
              <a:srgbClr val="5B21B6"/>
            </a:solidFill>
            <a:prstDash val="solid"/>
          </a:ln>
        </p:spPr>
      </p:sp>
      <p:sp>
        <p:nvSpPr>
          <p:cNvPr id="46" name="Text 43"/>
          <p:cNvSpPr txBox="1"/>
          <p:nvPr/>
        </p:nvSpPr>
        <p:spPr>
          <a:xfrm>
            <a:off x="3474720" y="397764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Nodemailer</a:t>
            </a:r>
            <a:endParaRPr lang="en-US" sz="950" dirty="0"/>
          </a:p>
        </p:txBody>
      </p:sp>
      <p:sp>
        <p:nvSpPr>
          <p:cNvPr id="47" name="Shape 44"/>
          <p:cNvSpPr/>
          <p:nvPr/>
        </p:nvSpPr>
        <p:spPr>
          <a:xfrm>
            <a:off x="6126480" y="1371600"/>
            <a:ext cx="2606040" cy="3108960"/>
          </a:xfrm>
          <a:prstGeom prst="roundRect">
            <a:avLst>
              <a:gd name="adj" fmla="val 4211"/>
            </a:avLst>
          </a:prstGeom>
          <a:solidFill>
            <a:srgbClr val="F3F1FA"/>
          </a:solidFill>
          <a:ln w="12700">
            <a:solidFill>
              <a:srgbClr val="F3F1FA"/>
            </a:solidFill>
            <a:prstDash val="solid"/>
          </a:ln>
        </p:spPr>
      </p:sp>
      <p:sp>
        <p:nvSpPr>
          <p:cNvPr id="48" name="Text 45"/>
          <p:cNvSpPr txBox="1"/>
          <p:nvPr/>
        </p:nvSpPr>
        <p:spPr>
          <a:xfrm>
            <a:off x="6309360" y="1508760"/>
            <a:ext cx="2286000" cy="320040"/>
          </a:xfrm>
          <a:prstGeom prst="rect">
            <a:avLst/>
          </a:prstGeom>
          <a:noFill/>
          <a:ln/>
        </p:spPr>
        <p:txBody>
          <a:bodyPr wrap="square" lIns="0" tIns="0" rIns="0" bIns="0" rtlCol="0" anchor="t"/>
          <a:lstStyle/>
          <a:p>
            <a:pPr algn="l" indent="0" marL="0">
              <a:buNone/>
            </a:pPr>
            <a:r>
              <a:rPr lang="en-US" sz="1500" b="1" dirty="0">
                <a:solidFill>
                  <a:srgbClr val="0284C7"/>
                </a:solidFill>
                <a:latin typeface="Calibri" pitchFamily="34" charset="0"/>
                <a:ea typeface="Calibri" pitchFamily="34" charset="-122"/>
                <a:cs typeface="Calibri" pitchFamily="34" charset="-120"/>
              </a:rPr>
              <a:t>AI and APIs</a:t>
            </a:r>
            <a:endParaRPr lang="en-US" sz="1500" dirty="0"/>
          </a:p>
        </p:txBody>
      </p:sp>
      <p:sp>
        <p:nvSpPr>
          <p:cNvPr id="49" name="Shape 46"/>
          <p:cNvSpPr/>
          <p:nvPr/>
        </p:nvSpPr>
        <p:spPr>
          <a:xfrm>
            <a:off x="6309360" y="1920240"/>
            <a:ext cx="1051560" cy="329184"/>
          </a:xfrm>
          <a:prstGeom prst="roundRect">
            <a:avLst>
              <a:gd name="adj" fmla="val 50000"/>
            </a:avLst>
          </a:prstGeom>
          <a:solidFill>
            <a:srgbClr val="5B21B6"/>
          </a:solidFill>
          <a:ln w="12700">
            <a:solidFill>
              <a:srgbClr val="5B21B6"/>
            </a:solidFill>
            <a:prstDash val="solid"/>
          </a:ln>
        </p:spPr>
      </p:sp>
      <p:sp>
        <p:nvSpPr>
          <p:cNvPr id="50" name="Text 47"/>
          <p:cNvSpPr txBox="1"/>
          <p:nvPr/>
        </p:nvSpPr>
        <p:spPr>
          <a:xfrm>
            <a:off x="6309360" y="192024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Google Gemini</a:t>
            </a:r>
            <a:endParaRPr lang="en-US" sz="950" dirty="0"/>
          </a:p>
        </p:txBody>
      </p:sp>
      <p:sp>
        <p:nvSpPr>
          <p:cNvPr id="51" name="Shape 48"/>
          <p:cNvSpPr/>
          <p:nvPr/>
        </p:nvSpPr>
        <p:spPr>
          <a:xfrm>
            <a:off x="7452360" y="1920240"/>
            <a:ext cx="1051560" cy="329184"/>
          </a:xfrm>
          <a:prstGeom prst="roundRect">
            <a:avLst>
              <a:gd name="adj" fmla="val 50000"/>
            </a:avLst>
          </a:prstGeom>
          <a:solidFill>
            <a:srgbClr val="5B21B6"/>
          </a:solidFill>
          <a:ln w="12700">
            <a:solidFill>
              <a:srgbClr val="5B21B6"/>
            </a:solidFill>
            <a:prstDash val="solid"/>
          </a:ln>
        </p:spPr>
      </p:sp>
      <p:sp>
        <p:nvSpPr>
          <p:cNvPr id="52" name="Text 49"/>
          <p:cNvSpPr txBox="1"/>
          <p:nvPr/>
        </p:nvSpPr>
        <p:spPr>
          <a:xfrm>
            <a:off x="7452360" y="192024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GitHub API</a:t>
            </a:r>
            <a:endParaRPr lang="en-US" sz="950" dirty="0"/>
          </a:p>
        </p:txBody>
      </p:sp>
      <p:sp>
        <p:nvSpPr>
          <p:cNvPr id="53" name="Shape 50"/>
          <p:cNvSpPr/>
          <p:nvPr/>
        </p:nvSpPr>
        <p:spPr>
          <a:xfrm>
            <a:off x="6309360" y="2331720"/>
            <a:ext cx="1051560" cy="329184"/>
          </a:xfrm>
          <a:prstGeom prst="roundRect">
            <a:avLst>
              <a:gd name="adj" fmla="val 50000"/>
            </a:avLst>
          </a:prstGeom>
          <a:solidFill>
            <a:srgbClr val="5B21B6"/>
          </a:solidFill>
          <a:ln w="12700">
            <a:solidFill>
              <a:srgbClr val="5B21B6"/>
            </a:solidFill>
            <a:prstDash val="solid"/>
          </a:ln>
        </p:spPr>
      </p:sp>
      <p:sp>
        <p:nvSpPr>
          <p:cNvPr id="54" name="Text 51"/>
          <p:cNvSpPr txBox="1"/>
          <p:nvPr/>
        </p:nvSpPr>
        <p:spPr>
          <a:xfrm>
            <a:off x="6309360" y="233172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LeetCode GraphQL</a:t>
            </a:r>
            <a:endParaRPr lang="en-US" sz="950" dirty="0"/>
          </a:p>
        </p:txBody>
      </p:sp>
      <p:sp>
        <p:nvSpPr>
          <p:cNvPr id="55" name="Shape 52"/>
          <p:cNvSpPr/>
          <p:nvPr/>
        </p:nvSpPr>
        <p:spPr>
          <a:xfrm>
            <a:off x="7452360" y="2331720"/>
            <a:ext cx="1051560" cy="329184"/>
          </a:xfrm>
          <a:prstGeom prst="roundRect">
            <a:avLst>
              <a:gd name="adj" fmla="val 50000"/>
            </a:avLst>
          </a:prstGeom>
          <a:solidFill>
            <a:srgbClr val="5B21B6"/>
          </a:solidFill>
          <a:ln w="12700">
            <a:solidFill>
              <a:srgbClr val="5B21B6"/>
            </a:solidFill>
            <a:prstDash val="solid"/>
          </a:ln>
        </p:spPr>
      </p:sp>
      <p:sp>
        <p:nvSpPr>
          <p:cNvPr id="56" name="Text 53"/>
          <p:cNvSpPr txBox="1"/>
          <p:nvPr/>
        </p:nvSpPr>
        <p:spPr>
          <a:xfrm>
            <a:off x="7452360" y="233172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Codeforces API</a:t>
            </a:r>
            <a:endParaRPr lang="en-US" sz="950" dirty="0"/>
          </a:p>
        </p:txBody>
      </p:sp>
      <p:sp>
        <p:nvSpPr>
          <p:cNvPr id="57" name="Shape 54"/>
          <p:cNvSpPr/>
          <p:nvPr/>
        </p:nvSpPr>
        <p:spPr>
          <a:xfrm>
            <a:off x="6309360" y="2743200"/>
            <a:ext cx="1051560" cy="329184"/>
          </a:xfrm>
          <a:prstGeom prst="roundRect">
            <a:avLst>
              <a:gd name="adj" fmla="val 50000"/>
            </a:avLst>
          </a:prstGeom>
          <a:solidFill>
            <a:srgbClr val="5B21B6"/>
          </a:solidFill>
          <a:ln w="12700">
            <a:solidFill>
              <a:srgbClr val="5B21B6"/>
            </a:solidFill>
            <a:prstDash val="solid"/>
          </a:ln>
        </p:spPr>
      </p:sp>
      <p:sp>
        <p:nvSpPr>
          <p:cNvPr id="58" name="Text 55"/>
          <p:cNvSpPr txBox="1"/>
          <p:nvPr/>
        </p:nvSpPr>
        <p:spPr>
          <a:xfrm>
            <a:off x="6309360" y="274320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Judge0</a:t>
            </a:r>
            <a:endParaRPr lang="en-US" sz="950" dirty="0"/>
          </a:p>
        </p:txBody>
      </p:sp>
      <p:sp>
        <p:nvSpPr>
          <p:cNvPr id="59" name="Shape 56"/>
          <p:cNvSpPr/>
          <p:nvPr/>
        </p:nvSpPr>
        <p:spPr>
          <a:xfrm>
            <a:off x="7452360" y="2743200"/>
            <a:ext cx="1051560" cy="329184"/>
          </a:xfrm>
          <a:prstGeom prst="roundRect">
            <a:avLst>
              <a:gd name="adj" fmla="val 50000"/>
            </a:avLst>
          </a:prstGeom>
          <a:solidFill>
            <a:srgbClr val="5B21B6"/>
          </a:solidFill>
          <a:ln w="12700">
            <a:solidFill>
              <a:srgbClr val="5B21B6"/>
            </a:solidFill>
            <a:prstDash val="solid"/>
          </a:ln>
        </p:spPr>
      </p:sp>
      <p:sp>
        <p:nvSpPr>
          <p:cNvPr id="60" name="Text 57"/>
          <p:cNvSpPr txBox="1"/>
          <p:nvPr/>
        </p:nvSpPr>
        <p:spPr>
          <a:xfrm>
            <a:off x="7452360" y="274320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LanguageTool</a:t>
            </a:r>
            <a:endParaRPr lang="en-US" sz="950" dirty="0"/>
          </a:p>
        </p:txBody>
      </p:sp>
      <p:sp>
        <p:nvSpPr>
          <p:cNvPr id="61" name="Shape 58"/>
          <p:cNvSpPr/>
          <p:nvPr/>
        </p:nvSpPr>
        <p:spPr>
          <a:xfrm>
            <a:off x="6309360" y="3154680"/>
            <a:ext cx="1051560" cy="329184"/>
          </a:xfrm>
          <a:prstGeom prst="roundRect">
            <a:avLst>
              <a:gd name="adj" fmla="val 50000"/>
            </a:avLst>
          </a:prstGeom>
          <a:solidFill>
            <a:srgbClr val="5B21B6"/>
          </a:solidFill>
          <a:ln w="12700">
            <a:solidFill>
              <a:srgbClr val="5B21B6"/>
            </a:solidFill>
            <a:prstDash val="solid"/>
          </a:ln>
        </p:spPr>
      </p:sp>
      <p:sp>
        <p:nvSpPr>
          <p:cNvPr id="62" name="Text 59"/>
          <p:cNvSpPr txBox="1"/>
          <p:nvPr/>
        </p:nvSpPr>
        <p:spPr>
          <a:xfrm>
            <a:off x="6309360" y="3154680"/>
            <a:ext cx="1051560" cy="32918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Web Speech API</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15</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Demo Flow</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Nine steps from sign up to PDF</a:t>
            </a:r>
            <a:endParaRPr lang="en-US" sz="1300" dirty="0"/>
          </a:p>
        </p:txBody>
      </p:sp>
      <p:sp>
        <p:nvSpPr>
          <p:cNvPr id="7" name="Shape 4"/>
          <p:cNvSpPr/>
          <p:nvPr/>
        </p:nvSpPr>
        <p:spPr>
          <a:xfrm>
            <a:off x="457200" y="1371600"/>
            <a:ext cx="2606040" cy="914400"/>
          </a:xfrm>
          <a:prstGeom prst="roundRect">
            <a:avLst>
              <a:gd name="adj" fmla="val 12000"/>
            </a:avLst>
          </a:prstGeom>
          <a:solidFill>
            <a:srgbClr val="F3F1FA"/>
          </a:solidFill>
          <a:ln w="12700">
            <a:solidFill>
              <a:srgbClr val="F3F1FA"/>
            </a:solidFill>
            <a:prstDash val="solid"/>
          </a:ln>
        </p:spPr>
      </p:sp>
      <p:sp>
        <p:nvSpPr>
          <p:cNvPr id="8" name="Shape 5"/>
          <p:cNvSpPr/>
          <p:nvPr/>
        </p:nvSpPr>
        <p:spPr>
          <a:xfrm>
            <a:off x="621792" y="1600200"/>
            <a:ext cx="457200" cy="457200"/>
          </a:xfrm>
          <a:prstGeom prst="roundRect">
            <a:avLst>
              <a:gd name="adj" fmla="val 20000"/>
            </a:avLst>
          </a:prstGeom>
          <a:solidFill>
            <a:srgbClr val="7C3AED"/>
          </a:solidFill>
          <a:ln w="12700">
            <a:solidFill>
              <a:srgbClr val="7C3AED"/>
            </a:solidFill>
            <a:prstDash val="solid"/>
          </a:ln>
        </p:spPr>
      </p:sp>
      <p:pic>
        <p:nvPicPr>
          <p:cNvPr id="9" name="Image 0" descr="preencoded.png">    </p:cNvPr>
          <p:cNvPicPr>
            <a:picLocks noChangeAspect="1"/>
          </p:cNvPicPr>
          <p:nvPr/>
        </p:nvPicPr>
        <p:blipFill>
          <a:blip r:embed="rId1"/>
          <a:stretch>
            <a:fillRect/>
          </a:stretch>
        </p:blipFill>
        <p:spPr>
          <a:xfrm>
            <a:off x="722376" y="1700784"/>
            <a:ext cx="256032" cy="256032"/>
          </a:xfrm>
          <a:prstGeom prst="rect">
            <a:avLst/>
          </a:prstGeom>
        </p:spPr>
      </p:pic>
      <p:sp>
        <p:nvSpPr>
          <p:cNvPr id="10" name="Text 6"/>
          <p:cNvSpPr txBox="1"/>
          <p:nvPr/>
        </p:nvSpPr>
        <p:spPr>
          <a:xfrm>
            <a:off x="1188720" y="1508760"/>
            <a:ext cx="3657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1</a:t>
            </a:r>
            <a:endParaRPr lang="en-US" sz="1100" dirty="0"/>
          </a:p>
        </p:txBody>
      </p:sp>
      <p:sp>
        <p:nvSpPr>
          <p:cNvPr id="11" name="Text 7"/>
          <p:cNvSpPr txBox="1"/>
          <p:nvPr/>
        </p:nvSpPr>
        <p:spPr>
          <a:xfrm>
            <a:off x="1188720" y="1755648"/>
            <a:ext cx="1783080" cy="502920"/>
          </a:xfrm>
          <a:prstGeom prst="rect">
            <a:avLst/>
          </a:prstGeom>
          <a:noFill/>
          <a:ln/>
        </p:spPr>
        <p:txBody>
          <a:bodyPr wrap="square" lIns="0" tIns="0" rIns="0" bIns="0" rtlCol="0" anchor="t"/>
          <a:lstStyle/>
          <a:p>
            <a:pPr algn="l" indent="0" marL="0">
              <a:buNone/>
            </a:pPr>
            <a:r>
              <a:rPr lang="en-US" sz="1150" dirty="0">
                <a:solidFill>
                  <a:srgbClr val="1E1B3A"/>
                </a:solidFill>
                <a:latin typeface="Calibri" pitchFamily="34" charset="0"/>
                <a:ea typeface="Calibri" pitchFamily="34" charset="-122"/>
                <a:cs typeface="Calibri" pitchFamily="34" charset="-120"/>
              </a:rPr>
              <a:t>Register or log in</a:t>
            </a:r>
            <a:endParaRPr lang="en-US" sz="1150" dirty="0"/>
          </a:p>
        </p:txBody>
      </p:sp>
      <p:sp>
        <p:nvSpPr>
          <p:cNvPr id="12" name="Shape 8"/>
          <p:cNvSpPr/>
          <p:nvPr/>
        </p:nvSpPr>
        <p:spPr>
          <a:xfrm>
            <a:off x="3291840" y="1371600"/>
            <a:ext cx="2606040" cy="914400"/>
          </a:xfrm>
          <a:prstGeom prst="roundRect">
            <a:avLst>
              <a:gd name="adj" fmla="val 12000"/>
            </a:avLst>
          </a:prstGeom>
          <a:solidFill>
            <a:srgbClr val="F3F1FA"/>
          </a:solidFill>
          <a:ln w="12700">
            <a:solidFill>
              <a:srgbClr val="F3F1FA"/>
            </a:solidFill>
            <a:prstDash val="solid"/>
          </a:ln>
        </p:spPr>
      </p:sp>
      <p:sp>
        <p:nvSpPr>
          <p:cNvPr id="13" name="Shape 9"/>
          <p:cNvSpPr/>
          <p:nvPr/>
        </p:nvSpPr>
        <p:spPr>
          <a:xfrm>
            <a:off x="3456432" y="1600200"/>
            <a:ext cx="457200" cy="457200"/>
          </a:xfrm>
          <a:prstGeom prst="roundRect">
            <a:avLst>
              <a:gd name="adj" fmla="val 20000"/>
            </a:avLst>
          </a:prstGeom>
          <a:solidFill>
            <a:srgbClr val="7C3AED"/>
          </a:solidFill>
          <a:ln w="12700">
            <a:solidFill>
              <a:srgbClr val="7C3AED"/>
            </a:solidFill>
            <a:prstDash val="solid"/>
          </a:ln>
        </p:spPr>
      </p:sp>
      <p:pic>
        <p:nvPicPr>
          <p:cNvPr id="14" name="Image 1" descr="preencoded.png">    </p:cNvPr>
          <p:cNvPicPr>
            <a:picLocks noChangeAspect="1"/>
          </p:cNvPicPr>
          <p:nvPr/>
        </p:nvPicPr>
        <p:blipFill>
          <a:blip r:embed="rId2"/>
          <a:stretch>
            <a:fillRect/>
          </a:stretch>
        </p:blipFill>
        <p:spPr>
          <a:xfrm>
            <a:off x="3557016" y="1700784"/>
            <a:ext cx="256032" cy="256032"/>
          </a:xfrm>
          <a:prstGeom prst="rect">
            <a:avLst/>
          </a:prstGeom>
        </p:spPr>
      </p:pic>
      <p:sp>
        <p:nvSpPr>
          <p:cNvPr id="15" name="Text 10"/>
          <p:cNvSpPr txBox="1"/>
          <p:nvPr/>
        </p:nvSpPr>
        <p:spPr>
          <a:xfrm>
            <a:off x="4023360" y="1508760"/>
            <a:ext cx="3657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2</a:t>
            </a:r>
            <a:endParaRPr lang="en-US" sz="1100" dirty="0"/>
          </a:p>
        </p:txBody>
      </p:sp>
      <p:sp>
        <p:nvSpPr>
          <p:cNvPr id="16" name="Text 11"/>
          <p:cNvSpPr txBox="1"/>
          <p:nvPr/>
        </p:nvSpPr>
        <p:spPr>
          <a:xfrm>
            <a:off x="4023360" y="1755648"/>
            <a:ext cx="1783080" cy="502920"/>
          </a:xfrm>
          <a:prstGeom prst="rect">
            <a:avLst/>
          </a:prstGeom>
          <a:noFill/>
          <a:ln/>
        </p:spPr>
        <p:txBody>
          <a:bodyPr wrap="square" lIns="0" tIns="0" rIns="0" bIns="0" rtlCol="0" anchor="t"/>
          <a:lstStyle/>
          <a:p>
            <a:pPr algn="l" indent="0" marL="0">
              <a:buNone/>
            </a:pPr>
            <a:r>
              <a:rPr lang="en-US" sz="1150" dirty="0">
                <a:solidFill>
                  <a:srgbClr val="1E1B3A"/>
                </a:solidFill>
                <a:latin typeface="Calibri" pitchFamily="34" charset="0"/>
                <a:ea typeface="Calibri" pitchFamily="34" charset="-122"/>
                <a:cs typeface="Calibri" pitchFamily="34" charset="-120"/>
              </a:rPr>
              <a:t>Upload resume, paste job description</a:t>
            </a:r>
            <a:endParaRPr lang="en-US" sz="1150" dirty="0"/>
          </a:p>
        </p:txBody>
      </p:sp>
      <p:sp>
        <p:nvSpPr>
          <p:cNvPr id="17" name="Shape 12"/>
          <p:cNvSpPr/>
          <p:nvPr/>
        </p:nvSpPr>
        <p:spPr>
          <a:xfrm>
            <a:off x="6126480" y="1371600"/>
            <a:ext cx="2606040" cy="914400"/>
          </a:xfrm>
          <a:prstGeom prst="roundRect">
            <a:avLst>
              <a:gd name="adj" fmla="val 12000"/>
            </a:avLst>
          </a:prstGeom>
          <a:solidFill>
            <a:srgbClr val="F3F1FA"/>
          </a:solidFill>
          <a:ln w="12700">
            <a:solidFill>
              <a:srgbClr val="F3F1FA"/>
            </a:solidFill>
            <a:prstDash val="solid"/>
          </a:ln>
        </p:spPr>
      </p:sp>
      <p:sp>
        <p:nvSpPr>
          <p:cNvPr id="18" name="Shape 13"/>
          <p:cNvSpPr/>
          <p:nvPr/>
        </p:nvSpPr>
        <p:spPr>
          <a:xfrm>
            <a:off x="6291072" y="1600200"/>
            <a:ext cx="457200" cy="457200"/>
          </a:xfrm>
          <a:prstGeom prst="roundRect">
            <a:avLst>
              <a:gd name="adj" fmla="val 20000"/>
            </a:avLst>
          </a:prstGeom>
          <a:solidFill>
            <a:srgbClr val="7C3AED"/>
          </a:solidFill>
          <a:ln w="12700">
            <a:solidFill>
              <a:srgbClr val="7C3AED"/>
            </a:solidFill>
            <a:prstDash val="solid"/>
          </a:ln>
        </p:spPr>
      </p:sp>
      <p:pic>
        <p:nvPicPr>
          <p:cNvPr id="19" name="Image 2" descr="preencoded.png">    </p:cNvPr>
          <p:cNvPicPr>
            <a:picLocks noChangeAspect="1"/>
          </p:cNvPicPr>
          <p:nvPr/>
        </p:nvPicPr>
        <p:blipFill>
          <a:blip r:embed="rId3"/>
          <a:stretch>
            <a:fillRect/>
          </a:stretch>
        </p:blipFill>
        <p:spPr>
          <a:xfrm>
            <a:off x="6391656" y="1700784"/>
            <a:ext cx="256032" cy="256032"/>
          </a:xfrm>
          <a:prstGeom prst="rect">
            <a:avLst/>
          </a:prstGeom>
        </p:spPr>
      </p:pic>
      <p:sp>
        <p:nvSpPr>
          <p:cNvPr id="20" name="Text 14"/>
          <p:cNvSpPr txBox="1"/>
          <p:nvPr/>
        </p:nvSpPr>
        <p:spPr>
          <a:xfrm>
            <a:off x="6858000" y="1508760"/>
            <a:ext cx="3657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3</a:t>
            </a:r>
            <a:endParaRPr lang="en-US" sz="1100" dirty="0"/>
          </a:p>
        </p:txBody>
      </p:sp>
      <p:sp>
        <p:nvSpPr>
          <p:cNvPr id="21" name="Text 15"/>
          <p:cNvSpPr txBox="1"/>
          <p:nvPr/>
        </p:nvSpPr>
        <p:spPr>
          <a:xfrm>
            <a:off x="6858000" y="1755648"/>
            <a:ext cx="1783080" cy="502920"/>
          </a:xfrm>
          <a:prstGeom prst="rect">
            <a:avLst/>
          </a:prstGeom>
          <a:noFill/>
          <a:ln/>
        </p:spPr>
        <p:txBody>
          <a:bodyPr wrap="square" lIns="0" tIns="0" rIns="0" bIns="0" rtlCol="0" anchor="t"/>
          <a:lstStyle/>
          <a:p>
            <a:pPr algn="l" indent="0" marL="0">
              <a:buNone/>
            </a:pPr>
            <a:r>
              <a:rPr lang="en-US" sz="1150" dirty="0">
                <a:solidFill>
                  <a:srgbClr val="1E1B3A"/>
                </a:solidFill>
                <a:latin typeface="Calibri" pitchFamily="34" charset="0"/>
                <a:ea typeface="Calibri" pitchFamily="34" charset="-122"/>
                <a:cs typeface="Calibri" pitchFamily="34" charset="-120"/>
              </a:rPr>
              <a:t>Add GitHub, LeetCode, Codeforces handles</a:t>
            </a:r>
            <a:endParaRPr lang="en-US" sz="1150" dirty="0"/>
          </a:p>
        </p:txBody>
      </p:sp>
      <p:sp>
        <p:nvSpPr>
          <p:cNvPr id="22" name="Shape 16"/>
          <p:cNvSpPr/>
          <p:nvPr/>
        </p:nvSpPr>
        <p:spPr>
          <a:xfrm>
            <a:off x="457200" y="2423160"/>
            <a:ext cx="2606040" cy="914400"/>
          </a:xfrm>
          <a:prstGeom prst="roundRect">
            <a:avLst>
              <a:gd name="adj" fmla="val 12000"/>
            </a:avLst>
          </a:prstGeom>
          <a:solidFill>
            <a:srgbClr val="F3F1FA"/>
          </a:solidFill>
          <a:ln w="12700">
            <a:solidFill>
              <a:srgbClr val="F3F1FA"/>
            </a:solidFill>
            <a:prstDash val="solid"/>
          </a:ln>
        </p:spPr>
      </p:sp>
      <p:sp>
        <p:nvSpPr>
          <p:cNvPr id="23" name="Shape 17"/>
          <p:cNvSpPr/>
          <p:nvPr/>
        </p:nvSpPr>
        <p:spPr>
          <a:xfrm>
            <a:off x="621792" y="2651760"/>
            <a:ext cx="457200" cy="457200"/>
          </a:xfrm>
          <a:prstGeom prst="roundRect">
            <a:avLst>
              <a:gd name="adj" fmla="val 20000"/>
            </a:avLst>
          </a:prstGeom>
          <a:solidFill>
            <a:srgbClr val="7C3AED"/>
          </a:solidFill>
          <a:ln w="12700">
            <a:solidFill>
              <a:srgbClr val="7C3AED"/>
            </a:solidFill>
            <a:prstDash val="solid"/>
          </a:ln>
        </p:spPr>
      </p:sp>
      <p:pic>
        <p:nvPicPr>
          <p:cNvPr id="24" name="Image 3" descr="preencoded.png">    </p:cNvPr>
          <p:cNvPicPr>
            <a:picLocks noChangeAspect="1"/>
          </p:cNvPicPr>
          <p:nvPr/>
        </p:nvPicPr>
        <p:blipFill>
          <a:blip r:embed="rId4"/>
          <a:stretch>
            <a:fillRect/>
          </a:stretch>
        </p:blipFill>
        <p:spPr>
          <a:xfrm>
            <a:off x="722376" y="2752344"/>
            <a:ext cx="256032" cy="256032"/>
          </a:xfrm>
          <a:prstGeom prst="rect">
            <a:avLst/>
          </a:prstGeom>
        </p:spPr>
      </p:pic>
      <p:sp>
        <p:nvSpPr>
          <p:cNvPr id="25" name="Text 18"/>
          <p:cNvSpPr txBox="1"/>
          <p:nvPr/>
        </p:nvSpPr>
        <p:spPr>
          <a:xfrm>
            <a:off x="1188720" y="2560320"/>
            <a:ext cx="3657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4</a:t>
            </a:r>
            <a:endParaRPr lang="en-US" sz="1100" dirty="0"/>
          </a:p>
        </p:txBody>
      </p:sp>
      <p:sp>
        <p:nvSpPr>
          <p:cNvPr id="26" name="Text 19"/>
          <p:cNvSpPr txBox="1"/>
          <p:nvPr/>
        </p:nvSpPr>
        <p:spPr>
          <a:xfrm>
            <a:off x="1188720" y="2807208"/>
            <a:ext cx="1783080" cy="502920"/>
          </a:xfrm>
          <a:prstGeom prst="rect">
            <a:avLst/>
          </a:prstGeom>
          <a:noFill/>
          <a:ln/>
        </p:spPr>
        <p:txBody>
          <a:bodyPr wrap="square" lIns="0" tIns="0" rIns="0" bIns="0" rtlCol="0" anchor="t"/>
          <a:lstStyle/>
          <a:p>
            <a:pPr algn="l" indent="0" marL="0">
              <a:buNone/>
            </a:pPr>
            <a:r>
              <a:rPr lang="en-US" sz="1150" dirty="0">
                <a:solidFill>
                  <a:srgbClr val="1E1B3A"/>
                </a:solidFill>
                <a:latin typeface="Calibri" pitchFamily="34" charset="0"/>
                <a:ea typeface="Calibri" pitchFamily="34" charset="-122"/>
                <a:cs typeface="Calibri" pitchFamily="34" charset="-120"/>
              </a:rPr>
              <a:t>Generate the report</a:t>
            </a:r>
            <a:endParaRPr lang="en-US" sz="1150" dirty="0"/>
          </a:p>
        </p:txBody>
      </p:sp>
      <p:sp>
        <p:nvSpPr>
          <p:cNvPr id="27" name="Shape 20"/>
          <p:cNvSpPr/>
          <p:nvPr/>
        </p:nvSpPr>
        <p:spPr>
          <a:xfrm>
            <a:off x="3291840" y="2423160"/>
            <a:ext cx="2606040" cy="914400"/>
          </a:xfrm>
          <a:prstGeom prst="roundRect">
            <a:avLst>
              <a:gd name="adj" fmla="val 12000"/>
            </a:avLst>
          </a:prstGeom>
          <a:solidFill>
            <a:srgbClr val="F3F1FA"/>
          </a:solidFill>
          <a:ln w="12700">
            <a:solidFill>
              <a:srgbClr val="F3F1FA"/>
            </a:solidFill>
            <a:prstDash val="solid"/>
          </a:ln>
        </p:spPr>
      </p:sp>
      <p:sp>
        <p:nvSpPr>
          <p:cNvPr id="28" name="Shape 21"/>
          <p:cNvSpPr/>
          <p:nvPr/>
        </p:nvSpPr>
        <p:spPr>
          <a:xfrm>
            <a:off x="3456432" y="2651760"/>
            <a:ext cx="457200" cy="457200"/>
          </a:xfrm>
          <a:prstGeom prst="roundRect">
            <a:avLst>
              <a:gd name="adj" fmla="val 20000"/>
            </a:avLst>
          </a:prstGeom>
          <a:solidFill>
            <a:srgbClr val="7C3AED"/>
          </a:solidFill>
          <a:ln w="12700">
            <a:solidFill>
              <a:srgbClr val="7C3AED"/>
            </a:solidFill>
            <a:prstDash val="solid"/>
          </a:ln>
        </p:spPr>
      </p:sp>
      <p:pic>
        <p:nvPicPr>
          <p:cNvPr id="29" name="Image 4" descr="preencoded.png">    </p:cNvPr>
          <p:cNvPicPr>
            <a:picLocks noChangeAspect="1"/>
          </p:cNvPicPr>
          <p:nvPr/>
        </p:nvPicPr>
        <p:blipFill>
          <a:blip r:embed="rId5"/>
          <a:stretch>
            <a:fillRect/>
          </a:stretch>
        </p:blipFill>
        <p:spPr>
          <a:xfrm>
            <a:off x="3557016" y="2752344"/>
            <a:ext cx="256032" cy="256032"/>
          </a:xfrm>
          <a:prstGeom prst="rect">
            <a:avLst/>
          </a:prstGeom>
        </p:spPr>
      </p:pic>
      <p:sp>
        <p:nvSpPr>
          <p:cNvPr id="30" name="Text 22"/>
          <p:cNvSpPr txBox="1"/>
          <p:nvPr/>
        </p:nvSpPr>
        <p:spPr>
          <a:xfrm>
            <a:off x="4023360" y="2560320"/>
            <a:ext cx="3657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5</a:t>
            </a:r>
            <a:endParaRPr lang="en-US" sz="1100" dirty="0"/>
          </a:p>
        </p:txBody>
      </p:sp>
      <p:sp>
        <p:nvSpPr>
          <p:cNvPr id="31" name="Text 23"/>
          <p:cNvSpPr txBox="1"/>
          <p:nvPr/>
        </p:nvSpPr>
        <p:spPr>
          <a:xfrm>
            <a:off x="4023360" y="2807208"/>
            <a:ext cx="1783080" cy="502920"/>
          </a:xfrm>
          <a:prstGeom prst="rect">
            <a:avLst/>
          </a:prstGeom>
          <a:noFill/>
          <a:ln/>
        </p:spPr>
        <p:txBody>
          <a:bodyPr wrap="square" lIns="0" tIns="0" rIns="0" bIns="0" rtlCol="0" anchor="t"/>
          <a:lstStyle/>
          <a:p>
            <a:pPr algn="l" indent="0" marL="0">
              <a:buNone/>
            </a:pPr>
            <a:r>
              <a:rPr lang="en-US" sz="1150" dirty="0">
                <a:solidFill>
                  <a:srgbClr val="1E1B3A"/>
                </a:solidFill>
                <a:latin typeface="Calibri" pitchFamily="34" charset="0"/>
                <a:ea typeface="Calibri" pitchFamily="34" charset="-122"/>
                <a:cs typeface="Calibri" pitchFamily="34" charset="-120"/>
              </a:rPr>
              <a:t>Solve a coding question in the editor</a:t>
            </a:r>
            <a:endParaRPr lang="en-US" sz="1150" dirty="0"/>
          </a:p>
        </p:txBody>
      </p:sp>
      <p:sp>
        <p:nvSpPr>
          <p:cNvPr id="32" name="Shape 24"/>
          <p:cNvSpPr/>
          <p:nvPr/>
        </p:nvSpPr>
        <p:spPr>
          <a:xfrm>
            <a:off x="6126480" y="2423160"/>
            <a:ext cx="2606040" cy="914400"/>
          </a:xfrm>
          <a:prstGeom prst="roundRect">
            <a:avLst>
              <a:gd name="adj" fmla="val 12000"/>
            </a:avLst>
          </a:prstGeom>
          <a:solidFill>
            <a:srgbClr val="F3F1FA"/>
          </a:solidFill>
          <a:ln w="12700">
            <a:solidFill>
              <a:srgbClr val="F3F1FA"/>
            </a:solidFill>
            <a:prstDash val="solid"/>
          </a:ln>
        </p:spPr>
      </p:sp>
      <p:sp>
        <p:nvSpPr>
          <p:cNvPr id="33" name="Shape 25"/>
          <p:cNvSpPr/>
          <p:nvPr/>
        </p:nvSpPr>
        <p:spPr>
          <a:xfrm>
            <a:off x="6291072" y="2651760"/>
            <a:ext cx="457200" cy="457200"/>
          </a:xfrm>
          <a:prstGeom prst="roundRect">
            <a:avLst>
              <a:gd name="adj" fmla="val 20000"/>
            </a:avLst>
          </a:prstGeom>
          <a:solidFill>
            <a:srgbClr val="7C3AED"/>
          </a:solidFill>
          <a:ln w="12700">
            <a:solidFill>
              <a:srgbClr val="7C3AED"/>
            </a:solidFill>
            <a:prstDash val="solid"/>
          </a:ln>
        </p:spPr>
      </p:sp>
      <p:pic>
        <p:nvPicPr>
          <p:cNvPr id="34" name="Image 5" descr="preencoded.png">    </p:cNvPr>
          <p:cNvPicPr>
            <a:picLocks noChangeAspect="1"/>
          </p:cNvPicPr>
          <p:nvPr/>
        </p:nvPicPr>
        <p:blipFill>
          <a:blip r:embed="rId6"/>
          <a:stretch>
            <a:fillRect/>
          </a:stretch>
        </p:blipFill>
        <p:spPr>
          <a:xfrm>
            <a:off x="6391656" y="2752344"/>
            <a:ext cx="256032" cy="256032"/>
          </a:xfrm>
          <a:prstGeom prst="rect">
            <a:avLst/>
          </a:prstGeom>
        </p:spPr>
      </p:pic>
      <p:sp>
        <p:nvSpPr>
          <p:cNvPr id="35" name="Text 26"/>
          <p:cNvSpPr txBox="1"/>
          <p:nvPr/>
        </p:nvSpPr>
        <p:spPr>
          <a:xfrm>
            <a:off x="6858000" y="2560320"/>
            <a:ext cx="3657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6</a:t>
            </a:r>
            <a:endParaRPr lang="en-US" sz="1100" dirty="0"/>
          </a:p>
        </p:txBody>
      </p:sp>
      <p:sp>
        <p:nvSpPr>
          <p:cNvPr id="36" name="Text 27"/>
          <p:cNvSpPr txBox="1"/>
          <p:nvPr/>
        </p:nvSpPr>
        <p:spPr>
          <a:xfrm>
            <a:off x="6858000" y="2807208"/>
            <a:ext cx="1783080" cy="502920"/>
          </a:xfrm>
          <a:prstGeom prst="rect">
            <a:avLst/>
          </a:prstGeom>
          <a:noFill/>
          <a:ln/>
        </p:spPr>
        <p:txBody>
          <a:bodyPr wrap="square" lIns="0" tIns="0" rIns="0" bIns="0" rtlCol="0" anchor="t"/>
          <a:lstStyle/>
          <a:p>
            <a:pPr algn="l" indent="0" marL="0">
              <a:buNone/>
            </a:pPr>
            <a:r>
              <a:rPr lang="en-US" sz="1150" dirty="0">
                <a:solidFill>
                  <a:srgbClr val="1E1B3A"/>
                </a:solidFill>
                <a:latin typeface="Calibri" pitchFamily="34" charset="0"/>
                <a:ea typeface="Calibri" pitchFamily="34" charset="-122"/>
                <a:cs typeface="Calibri" pitchFamily="34" charset="-120"/>
              </a:rPr>
              <a:t>Run a voice mock interview</a:t>
            </a:r>
            <a:endParaRPr lang="en-US" sz="1150" dirty="0"/>
          </a:p>
        </p:txBody>
      </p:sp>
      <p:sp>
        <p:nvSpPr>
          <p:cNvPr id="37" name="Shape 28"/>
          <p:cNvSpPr/>
          <p:nvPr/>
        </p:nvSpPr>
        <p:spPr>
          <a:xfrm>
            <a:off x="457200" y="3474720"/>
            <a:ext cx="2606040" cy="914400"/>
          </a:xfrm>
          <a:prstGeom prst="roundRect">
            <a:avLst>
              <a:gd name="adj" fmla="val 12000"/>
            </a:avLst>
          </a:prstGeom>
          <a:solidFill>
            <a:srgbClr val="F3F1FA"/>
          </a:solidFill>
          <a:ln w="12700">
            <a:solidFill>
              <a:srgbClr val="F3F1FA"/>
            </a:solidFill>
            <a:prstDash val="solid"/>
          </a:ln>
        </p:spPr>
      </p:sp>
      <p:sp>
        <p:nvSpPr>
          <p:cNvPr id="38" name="Shape 29"/>
          <p:cNvSpPr/>
          <p:nvPr/>
        </p:nvSpPr>
        <p:spPr>
          <a:xfrm>
            <a:off x="621792" y="3703320"/>
            <a:ext cx="457200" cy="457200"/>
          </a:xfrm>
          <a:prstGeom prst="roundRect">
            <a:avLst>
              <a:gd name="adj" fmla="val 20000"/>
            </a:avLst>
          </a:prstGeom>
          <a:solidFill>
            <a:srgbClr val="7C3AED"/>
          </a:solidFill>
          <a:ln w="12700">
            <a:solidFill>
              <a:srgbClr val="7C3AED"/>
            </a:solidFill>
            <a:prstDash val="solid"/>
          </a:ln>
        </p:spPr>
      </p:sp>
      <p:pic>
        <p:nvPicPr>
          <p:cNvPr id="39" name="Image 6" descr="preencoded.png">    </p:cNvPr>
          <p:cNvPicPr>
            <a:picLocks noChangeAspect="1"/>
          </p:cNvPicPr>
          <p:nvPr/>
        </p:nvPicPr>
        <p:blipFill>
          <a:blip r:embed="rId7"/>
          <a:stretch>
            <a:fillRect/>
          </a:stretch>
        </p:blipFill>
        <p:spPr>
          <a:xfrm>
            <a:off x="722376" y="3803904"/>
            <a:ext cx="256032" cy="256032"/>
          </a:xfrm>
          <a:prstGeom prst="rect">
            <a:avLst/>
          </a:prstGeom>
        </p:spPr>
      </p:pic>
      <p:sp>
        <p:nvSpPr>
          <p:cNvPr id="40" name="Text 30"/>
          <p:cNvSpPr txBox="1"/>
          <p:nvPr/>
        </p:nvSpPr>
        <p:spPr>
          <a:xfrm>
            <a:off x="1188720" y="3611880"/>
            <a:ext cx="3657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7</a:t>
            </a:r>
            <a:endParaRPr lang="en-US" sz="1100" dirty="0"/>
          </a:p>
        </p:txBody>
      </p:sp>
      <p:sp>
        <p:nvSpPr>
          <p:cNvPr id="41" name="Text 31"/>
          <p:cNvSpPr txBox="1"/>
          <p:nvPr/>
        </p:nvSpPr>
        <p:spPr>
          <a:xfrm>
            <a:off x="1188720" y="3858768"/>
            <a:ext cx="1783080" cy="502920"/>
          </a:xfrm>
          <a:prstGeom prst="rect">
            <a:avLst/>
          </a:prstGeom>
          <a:noFill/>
          <a:ln/>
        </p:spPr>
        <p:txBody>
          <a:bodyPr wrap="square" lIns="0" tIns="0" rIns="0" bIns="0" rtlCol="0" anchor="t"/>
          <a:lstStyle/>
          <a:p>
            <a:pPr algn="l" indent="0" marL="0">
              <a:buNone/>
            </a:pPr>
            <a:r>
              <a:rPr lang="en-US" sz="1150" dirty="0">
                <a:solidFill>
                  <a:srgbClr val="1E1B3A"/>
                </a:solidFill>
                <a:latin typeface="Calibri" pitchFamily="34" charset="0"/>
                <a:ea typeface="Calibri" pitchFamily="34" charset="-122"/>
                <a:cs typeface="Calibri" pitchFamily="34" charset="-120"/>
              </a:rPr>
              <a:t>STAR check a behavioural answer</a:t>
            </a:r>
            <a:endParaRPr lang="en-US" sz="1150" dirty="0"/>
          </a:p>
        </p:txBody>
      </p:sp>
      <p:sp>
        <p:nvSpPr>
          <p:cNvPr id="42" name="Shape 32"/>
          <p:cNvSpPr/>
          <p:nvPr/>
        </p:nvSpPr>
        <p:spPr>
          <a:xfrm>
            <a:off x="3291840" y="3474720"/>
            <a:ext cx="2606040" cy="914400"/>
          </a:xfrm>
          <a:prstGeom prst="roundRect">
            <a:avLst>
              <a:gd name="adj" fmla="val 12000"/>
            </a:avLst>
          </a:prstGeom>
          <a:solidFill>
            <a:srgbClr val="F3F1FA"/>
          </a:solidFill>
          <a:ln w="12700">
            <a:solidFill>
              <a:srgbClr val="F3F1FA"/>
            </a:solidFill>
            <a:prstDash val="solid"/>
          </a:ln>
        </p:spPr>
      </p:sp>
      <p:sp>
        <p:nvSpPr>
          <p:cNvPr id="43" name="Shape 33"/>
          <p:cNvSpPr/>
          <p:nvPr/>
        </p:nvSpPr>
        <p:spPr>
          <a:xfrm>
            <a:off x="3456432" y="3703320"/>
            <a:ext cx="457200" cy="457200"/>
          </a:xfrm>
          <a:prstGeom prst="roundRect">
            <a:avLst>
              <a:gd name="adj" fmla="val 20000"/>
            </a:avLst>
          </a:prstGeom>
          <a:solidFill>
            <a:srgbClr val="7C3AED"/>
          </a:solidFill>
          <a:ln w="12700">
            <a:solidFill>
              <a:srgbClr val="7C3AED"/>
            </a:solidFill>
            <a:prstDash val="solid"/>
          </a:ln>
        </p:spPr>
      </p:sp>
      <p:pic>
        <p:nvPicPr>
          <p:cNvPr id="44" name="Image 7" descr="preencoded.png">    </p:cNvPr>
          <p:cNvPicPr>
            <a:picLocks noChangeAspect="1"/>
          </p:cNvPicPr>
          <p:nvPr/>
        </p:nvPicPr>
        <p:blipFill>
          <a:blip r:embed="rId8"/>
          <a:stretch>
            <a:fillRect/>
          </a:stretch>
        </p:blipFill>
        <p:spPr>
          <a:xfrm>
            <a:off x="3557016" y="3803904"/>
            <a:ext cx="256032" cy="256032"/>
          </a:xfrm>
          <a:prstGeom prst="rect">
            <a:avLst/>
          </a:prstGeom>
        </p:spPr>
      </p:pic>
      <p:sp>
        <p:nvSpPr>
          <p:cNvPr id="45" name="Text 34"/>
          <p:cNvSpPr txBox="1"/>
          <p:nvPr/>
        </p:nvSpPr>
        <p:spPr>
          <a:xfrm>
            <a:off x="4023360" y="3611880"/>
            <a:ext cx="3657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8</a:t>
            </a:r>
            <a:endParaRPr lang="en-US" sz="1100" dirty="0"/>
          </a:p>
        </p:txBody>
      </p:sp>
      <p:sp>
        <p:nvSpPr>
          <p:cNvPr id="46" name="Text 35"/>
          <p:cNvSpPr txBox="1"/>
          <p:nvPr/>
        </p:nvSpPr>
        <p:spPr>
          <a:xfrm>
            <a:off x="4023360" y="3858768"/>
            <a:ext cx="1783080" cy="502920"/>
          </a:xfrm>
          <a:prstGeom prst="rect">
            <a:avLst/>
          </a:prstGeom>
          <a:noFill/>
          <a:ln/>
        </p:spPr>
        <p:txBody>
          <a:bodyPr wrap="square" lIns="0" tIns="0" rIns="0" bIns="0" rtlCol="0" anchor="t"/>
          <a:lstStyle/>
          <a:p>
            <a:pPr algn="l" indent="0" marL="0">
              <a:buNone/>
            </a:pPr>
            <a:r>
              <a:rPr lang="en-US" sz="1150" dirty="0">
                <a:solidFill>
                  <a:srgbClr val="1E1B3A"/>
                </a:solidFill>
                <a:latin typeface="Calibri" pitchFamily="34" charset="0"/>
                <a:ea typeface="Calibri" pitchFamily="34" charset="-122"/>
                <a:cs typeface="Calibri" pitchFamily="34" charset="-120"/>
              </a:rPr>
              <a:t>Share the report with a mentor</a:t>
            </a:r>
            <a:endParaRPr lang="en-US" sz="1150" dirty="0"/>
          </a:p>
        </p:txBody>
      </p:sp>
      <p:sp>
        <p:nvSpPr>
          <p:cNvPr id="47" name="Shape 36"/>
          <p:cNvSpPr/>
          <p:nvPr/>
        </p:nvSpPr>
        <p:spPr>
          <a:xfrm>
            <a:off x="6126480" y="3474720"/>
            <a:ext cx="2606040" cy="914400"/>
          </a:xfrm>
          <a:prstGeom prst="roundRect">
            <a:avLst>
              <a:gd name="adj" fmla="val 12000"/>
            </a:avLst>
          </a:prstGeom>
          <a:solidFill>
            <a:srgbClr val="F3F1FA"/>
          </a:solidFill>
          <a:ln w="12700">
            <a:solidFill>
              <a:srgbClr val="F3F1FA"/>
            </a:solidFill>
            <a:prstDash val="solid"/>
          </a:ln>
        </p:spPr>
      </p:sp>
      <p:sp>
        <p:nvSpPr>
          <p:cNvPr id="48" name="Shape 37"/>
          <p:cNvSpPr/>
          <p:nvPr/>
        </p:nvSpPr>
        <p:spPr>
          <a:xfrm>
            <a:off x="6291072" y="3703320"/>
            <a:ext cx="457200" cy="457200"/>
          </a:xfrm>
          <a:prstGeom prst="roundRect">
            <a:avLst>
              <a:gd name="adj" fmla="val 20000"/>
            </a:avLst>
          </a:prstGeom>
          <a:solidFill>
            <a:srgbClr val="7C3AED"/>
          </a:solidFill>
          <a:ln w="12700">
            <a:solidFill>
              <a:srgbClr val="7C3AED"/>
            </a:solidFill>
            <a:prstDash val="solid"/>
          </a:ln>
        </p:spPr>
      </p:sp>
      <p:pic>
        <p:nvPicPr>
          <p:cNvPr id="49" name="Image 8" descr="preencoded.png">    </p:cNvPr>
          <p:cNvPicPr>
            <a:picLocks noChangeAspect="1"/>
          </p:cNvPicPr>
          <p:nvPr/>
        </p:nvPicPr>
        <p:blipFill>
          <a:blip r:embed="rId9"/>
          <a:stretch>
            <a:fillRect/>
          </a:stretch>
        </p:blipFill>
        <p:spPr>
          <a:xfrm>
            <a:off x="6391656" y="3803904"/>
            <a:ext cx="256032" cy="256032"/>
          </a:xfrm>
          <a:prstGeom prst="rect">
            <a:avLst/>
          </a:prstGeom>
        </p:spPr>
      </p:pic>
      <p:sp>
        <p:nvSpPr>
          <p:cNvPr id="50" name="Text 38"/>
          <p:cNvSpPr txBox="1"/>
          <p:nvPr/>
        </p:nvSpPr>
        <p:spPr>
          <a:xfrm>
            <a:off x="6858000" y="3611880"/>
            <a:ext cx="365760" cy="274320"/>
          </a:xfrm>
          <a:prstGeom prst="rect">
            <a:avLst/>
          </a:prstGeom>
          <a:noFill/>
          <a:ln/>
        </p:spPr>
        <p:txBody>
          <a:bodyPr wrap="square" lIns="0" tIns="0" rIns="0" bIns="0" rtlCol="0" anchor="t"/>
          <a:lstStyle/>
          <a:p>
            <a:pPr algn="l" indent="0" marL="0">
              <a:buNone/>
            </a:pPr>
            <a:r>
              <a:rPr lang="en-US" sz="1100" b="1" dirty="0">
                <a:solidFill>
                  <a:srgbClr val="0284C7"/>
                </a:solidFill>
                <a:latin typeface="Calibri" pitchFamily="34" charset="0"/>
                <a:ea typeface="Calibri" pitchFamily="34" charset="-122"/>
                <a:cs typeface="Calibri" pitchFamily="34" charset="-120"/>
              </a:rPr>
              <a:t>9</a:t>
            </a:r>
            <a:endParaRPr lang="en-US" sz="1100" dirty="0"/>
          </a:p>
        </p:txBody>
      </p:sp>
      <p:sp>
        <p:nvSpPr>
          <p:cNvPr id="51" name="Text 39"/>
          <p:cNvSpPr txBox="1"/>
          <p:nvPr/>
        </p:nvSpPr>
        <p:spPr>
          <a:xfrm>
            <a:off x="6858000" y="3858768"/>
            <a:ext cx="1783080" cy="502920"/>
          </a:xfrm>
          <a:prstGeom prst="rect">
            <a:avLst/>
          </a:prstGeom>
          <a:noFill/>
          <a:ln/>
        </p:spPr>
        <p:txBody>
          <a:bodyPr wrap="square" lIns="0" tIns="0" rIns="0" bIns="0" rtlCol="0" anchor="t"/>
          <a:lstStyle/>
          <a:p>
            <a:pPr algn="l" indent="0" marL="0">
              <a:buNone/>
            </a:pPr>
            <a:r>
              <a:rPr lang="en-US" sz="1150" dirty="0">
                <a:solidFill>
                  <a:srgbClr val="1E1B3A"/>
                </a:solidFill>
                <a:latin typeface="Calibri" pitchFamily="34" charset="0"/>
                <a:ea typeface="Calibri" pitchFamily="34" charset="-122"/>
                <a:cs typeface="Calibri" pitchFamily="34" charset="-120"/>
              </a:rPr>
              <a:t>Download the PDF</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16</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Future Scope</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Part 1 of 2: deeper, more human practice</a:t>
            </a:r>
            <a:endParaRPr lang="en-US" sz="1300" dirty="0"/>
          </a:p>
        </p:txBody>
      </p:sp>
      <p:sp>
        <p:nvSpPr>
          <p:cNvPr id="7" name="Shape 4"/>
          <p:cNvSpPr/>
          <p:nvPr/>
        </p:nvSpPr>
        <p:spPr>
          <a:xfrm>
            <a:off x="457200" y="1325880"/>
            <a:ext cx="8229600" cy="603504"/>
          </a:xfrm>
          <a:prstGeom prst="roundRect">
            <a:avLst>
              <a:gd name="adj" fmla="val 18182"/>
            </a:avLst>
          </a:prstGeom>
          <a:solidFill>
            <a:srgbClr val="F3F1FA"/>
          </a:solidFill>
          <a:ln w="12700">
            <a:solidFill>
              <a:srgbClr val="F3F1FA"/>
            </a:solidFill>
            <a:prstDash val="solid"/>
          </a:ln>
        </p:spPr>
      </p:sp>
      <p:sp>
        <p:nvSpPr>
          <p:cNvPr id="8" name="Shape 5"/>
          <p:cNvSpPr/>
          <p:nvPr/>
        </p:nvSpPr>
        <p:spPr>
          <a:xfrm>
            <a:off x="594360" y="1426464"/>
            <a:ext cx="402336" cy="402336"/>
          </a:xfrm>
          <a:prstGeom prst="roundRect">
            <a:avLst>
              <a:gd name="adj" fmla="val 22727"/>
            </a:avLst>
          </a:prstGeom>
          <a:solidFill>
            <a:srgbClr val="7C3AED"/>
          </a:solidFill>
          <a:ln w="12700">
            <a:solidFill>
              <a:srgbClr val="7C3AED"/>
            </a:solidFill>
            <a:prstDash val="solid"/>
          </a:ln>
        </p:spPr>
      </p:sp>
      <p:pic>
        <p:nvPicPr>
          <p:cNvPr id="9" name="Image 0" descr="preencoded.png">    </p:cNvPr>
          <p:cNvPicPr>
            <a:picLocks noChangeAspect="1"/>
          </p:cNvPicPr>
          <p:nvPr/>
        </p:nvPicPr>
        <p:blipFill>
          <a:blip r:embed="rId1"/>
          <a:stretch>
            <a:fillRect/>
          </a:stretch>
        </p:blipFill>
        <p:spPr>
          <a:xfrm>
            <a:off x="682874" y="1514978"/>
            <a:ext cx="225308" cy="225308"/>
          </a:xfrm>
          <a:prstGeom prst="rect">
            <a:avLst/>
          </a:prstGeom>
        </p:spPr>
      </p:pic>
      <p:sp>
        <p:nvSpPr>
          <p:cNvPr id="10" name="Text 6"/>
          <p:cNvSpPr txBox="1"/>
          <p:nvPr/>
        </p:nvSpPr>
        <p:spPr>
          <a:xfrm>
            <a:off x="1143000" y="1371600"/>
            <a:ext cx="2651760" cy="512064"/>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Multimodal AI emotion analysis</a:t>
            </a:r>
            <a:endParaRPr lang="en-US" sz="1250" dirty="0"/>
          </a:p>
        </p:txBody>
      </p:sp>
      <p:sp>
        <p:nvSpPr>
          <p:cNvPr id="11" name="Text 7"/>
          <p:cNvSpPr txBox="1"/>
          <p:nvPr/>
        </p:nvSpPr>
        <p:spPr>
          <a:xfrm>
            <a:off x="3794760" y="1362456"/>
            <a:ext cx="4800600" cy="548640"/>
          </a:xfrm>
          <a:prstGeom prst="rect">
            <a:avLst/>
          </a:prstGeom>
          <a:noFill/>
          <a:ln/>
        </p:spPr>
        <p:txBody>
          <a:bodyPr wrap="square" lIns="0" tIns="0" rIns="0" bIns="0" rtlCol="0" anchor="ctr"/>
          <a:lstStyle/>
          <a:p>
            <a:pPr algn="l" indent="0" marL="0">
              <a:buNone/>
            </a:pPr>
            <a:r>
              <a:rPr lang="en-US" sz="950" dirty="0">
                <a:solidFill>
                  <a:srgbClr val="5B5A72"/>
                </a:solidFill>
                <a:latin typeface="Calibri" pitchFamily="34" charset="0"/>
                <a:ea typeface="Calibri" pitchFamily="34" charset="-122"/>
                <a:cs typeface="Calibri" pitchFamily="34" charset="-120"/>
              </a:rPr>
              <a:t>Webcam based analysis of facial expressions, eye contact and posture, combined with voice tone, to score confidence and nervousness during voice interviews.</a:t>
            </a:r>
            <a:endParaRPr lang="en-US" sz="950" dirty="0"/>
          </a:p>
        </p:txBody>
      </p:sp>
      <p:sp>
        <p:nvSpPr>
          <p:cNvPr id="12" name="Shape 8"/>
          <p:cNvSpPr/>
          <p:nvPr/>
        </p:nvSpPr>
        <p:spPr>
          <a:xfrm>
            <a:off x="457200" y="2002536"/>
            <a:ext cx="8229600" cy="603504"/>
          </a:xfrm>
          <a:prstGeom prst="roundRect">
            <a:avLst>
              <a:gd name="adj" fmla="val 18182"/>
            </a:avLst>
          </a:prstGeom>
          <a:solidFill>
            <a:srgbClr val="F3F1FA"/>
          </a:solidFill>
          <a:ln w="12700">
            <a:solidFill>
              <a:srgbClr val="F3F1FA"/>
            </a:solidFill>
            <a:prstDash val="solid"/>
          </a:ln>
        </p:spPr>
      </p:sp>
      <p:sp>
        <p:nvSpPr>
          <p:cNvPr id="13" name="Shape 9"/>
          <p:cNvSpPr/>
          <p:nvPr/>
        </p:nvSpPr>
        <p:spPr>
          <a:xfrm>
            <a:off x="594360" y="2103120"/>
            <a:ext cx="402336" cy="402336"/>
          </a:xfrm>
          <a:prstGeom prst="roundRect">
            <a:avLst>
              <a:gd name="adj" fmla="val 22727"/>
            </a:avLst>
          </a:prstGeom>
          <a:solidFill>
            <a:srgbClr val="7C3AED"/>
          </a:solidFill>
          <a:ln w="12700">
            <a:solidFill>
              <a:srgbClr val="7C3AED"/>
            </a:solidFill>
            <a:prstDash val="solid"/>
          </a:ln>
        </p:spPr>
      </p:sp>
      <p:pic>
        <p:nvPicPr>
          <p:cNvPr id="14" name="Image 1" descr="preencoded.png">    </p:cNvPr>
          <p:cNvPicPr>
            <a:picLocks noChangeAspect="1"/>
          </p:cNvPicPr>
          <p:nvPr/>
        </p:nvPicPr>
        <p:blipFill>
          <a:blip r:embed="rId2"/>
          <a:stretch>
            <a:fillRect/>
          </a:stretch>
        </p:blipFill>
        <p:spPr>
          <a:xfrm>
            <a:off x="682874" y="2191634"/>
            <a:ext cx="225308" cy="225308"/>
          </a:xfrm>
          <a:prstGeom prst="rect">
            <a:avLst/>
          </a:prstGeom>
        </p:spPr>
      </p:pic>
      <p:sp>
        <p:nvSpPr>
          <p:cNvPr id="15" name="Text 10"/>
          <p:cNvSpPr txBox="1"/>
          <p:nvPr/>
        </p:nvSpPr>
        <p:spPr>
          <a:xfrm>
            <a:off x="1143000" y="2048256"/>
            <a:ext cx="2651760" cy="512064"/>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Gemini Live audio integration</a:t>
            </a:r>
            <a:endParaRPr lang="en-US" sz="1250" dirty="0"/>
          </a:p>
        </p:txBody>
      </p:sp>
      <p:sp>
        <p:nvSpPr>
          <p:cNvPr id="16" name="Text 11"/>
          <p:cNvSpPr txBox="1"/>
          <p:nvPr/>
        </p:nvSpPr>
        <p:spPr>
          <a:xfrm>
            <a:off x="3794760" y="2039112"/>
            <a:ext cx="4800600" cy="548640"/>
          </a:xfrm>
          <a:prstGeom prst="rect">
            <a:avLst/>
          </a:prstGeom>
          <a:noFill/>
          <a:ln/>
        </p:spPr>
        <p:txBody>
          <a:bodyPr wrap="square" lIns="0" tIns="0" rIns="0" bIns="0" rtlCol="0" anchor="ctr"/>
          <a:lstStyle/>
          <a:p>
            <a:pPr algn="l" indent="0" marL="0">
              <a:buNone/>
            </a:pPr>
            <a:r>
              <a:rPr lang="en-US" sz="950" dirty="0">
                <a:solidFill>
                  <a:srgbClr val="5B5A72"/>
                </a:solidFill>
                <a:latin typeface="Calibri" pitchFamily="34" charset="0"/>
                <a:ea typeface="Calibri" pitchFamily="34" charset="-122"/>
                <a:cs typeface="Calibri" pitchFamily="34" charset="-120"/>
              </a:rPr>
              <a:t>Replace browser speech APIs with Gemini's native real time audio so the AI interviewer can interrupt, follow up naturally and hold a fluid low latency conversation.</a:t>
            </a:r>
            <a:endParaRPr lang="en-US" sz="950" dirty="0"/>
          </a:p>
        </p:txBody>
      </p:sp>
      <p:sp>
        <p:nvSpPr>
          <p:cNvPr id="17" name="Shape 12"/>
          <p:cNvSpPr/>
          <p:nvPr/>
        </p:nvSpPr>
        <p:spPr>
          <a:xfrm>
            <a:off x="457200" y="2679192"/>
            <a:ext cx="8229600" cy="603504"/>
          </a:xfrm>
          <a:prstGeom prst="roundRect">
            <a:avLst>
              <a:gd name="adj" fmla="val 18182"/>
            </a:avLst>
          </a:prstGeom>
          <a:solidFill>
            <a:srgbClr val="F3F1FA"/>
          </a:solidFill>
          <a:ln w="12700">
            <a:solidFill>
              <a:srgbClr val="F3F1FA"/>
            </a:solidFill>
            <a:prstDash val="solid"/>
          </a:ln>
        </p:spPr>
      </p:sp>
      <p:sp>
        <p:nvSpPr>
          <p:cNvPr id="18" name="Shape 13"/>
          <p:cNvSpPr/>
          <p:nvPr/>
        </p:nvSpPr>
        <p:spPr>
          <a:xfrm>
            <a:off x="594360" y="2779776"/>
            <a:ext cx="402336" cy="402336"/>
          </a:xfrm>
          <a:prstGeom prst="roundRect">
            <a:avLst>
              <a:gd name="adj" fmla="val 22727"/>
            </a:avLst>
          </a:prstGeom>
          <a:solidFill>
            <a:srgbClr val="7C3AED"/>
          </a:solidFill>
          <a:ln w="12700">
            <a:solidFill>
              <a:srgbClr val="7C3AED"/>
            </a:solidFill>
            <a:prstDash val="solid"/>
          </a:ln>
        </p:spPr>
      </p:sp>
      <p:pic>
        <p:nvPicPr>
          <p:cNvPr id="19" name="Image 2" descr="preencoded.png">    </p:cNvPr>
          <p:cNvPicPr>
            <a:picLocks noChangeAspect="1"/>
          </p:cNvPicPr>
          <p:nvPr/>
        </p:nvPicPr>
        <p:blipFill>
          <a:blip r:embed="rId3"/>
          <a:stretch>
            <a:fillRect/>
          </a:stretch>
        </p:blipFill>
        <p:spPr>
          <a:xfrm>
            <a:off x="682874" y="2868290"/>
            <a:ext cx="225308" cy="225308"/>
          </a:xfrm>
          <a:prstGeom prst="rect">
            <a:avLst/>
          </a:prstGeom>
        </p:spPr>
      </p:pic>
      <p:sp>
        <p:nvSpPr>
          <p:cNvPr id="20" name="Text 14"/>
          <p:cNvSpPr txBox="1"/>
          <p:nvPr/>
        </p:nvSpPr>
        <p:spPr>
          <a:xfrm>
            <a:off x="1143000" y="2724912"/>
            <a:ext cx="2651760" cy="512064"/>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Peer-to-Peer interview rooms</a:t>
            </a:r>
            <a:endParaRPr lang="en-US" sz="1250" dirty="0"/>
          </a:p>
        </p:txBody>
      </p:sp>
      <p:sp>
        <p:nvSpPr>
          <p:cNvPr id="21" name="Text 15"/>
          <p:cNvSpPr txBox="1"/>
          <p:nvPr/>
        </p:nvSpPr>
        <p:spPr>
          <a:xfrm>
            <a:off x="3794760" y="2715768"/>
            <a:ext cx="4800600" cy="548640"/>
          </a:xfrm>
          <a:prstGeom prst="rect">
            <a:avLst/>
          </a:prstGeom>
          <a:noFill/>
          <a:ln/>
        </p:spPr>
        <p:txBody>
          <a:bodyPr wrap="square" lIns="0" tIns="0" rIns="0" bIns="0" rtlCol="0" anchor="ctr"/>
          <a:lstStyle/>
          <a:p>
            <a:pPr algn="l" indent="0" marL="0">
              <a:buNone/>
            </a:pPr>
            <a:r>
              <a:rPr lang="en-US" sz="950" dirty="0">
                <a:solidFill>
                  <a:srgbClr val="5B5A72"/>
                </a:solidFill>
                <a:latin typeface="Calibri" pitchFamily="34" charset="0"/>
                <a:ea typeface="Calibri" pitchFamily="34" charset="-122"/>
                <a:cs typeface="Calibri" pitchFamily="34" charset="-120"/>
              </a:rPr>
              <a:t>WebRTC rooms where two candidates interview each other with AI generated question sets, shared code, and an AI observer that scores both afterwards.</a:t>
            </a:r>
            <a:endParaRPr lang="en-US" sz="950" dirty="0"/>
          </a:p>
        </p:txBody>
      </p:sp>
      <p:sp>
        <p:nvSpPr>
          <p:cNvPr id="22" name="Shape 16"/>
          <p:cNvSpPr/>
          <p:nvPr/>
        </p:nvSpPr>
        <p:spPr>
          <a:xfrm>
            <a:off x="457200" y="3355848"/>
            <a:ext cx="8229600" cy="603504"/>
          </a:xfrm>
          <a:prstGeom prst="roundRect">
            <a:avLst>
              <a:gd name="adj" fmla="val 18182"/>
            </a:avLst>
          </a:prstGeom>
          <a:solidFill>
            <a:srgbClr val="F3F1FA"/>
          </a:solidFill>
          <a:ln w="12700">
            <a:solidFill>
              <a:srgbClr val="F3F1FA"/>
            </a:solidFill>
            <a:prstDash val="solid"/>
          </a:ln>
        </p:spPr>
      </p:sp>
      <p:sp>
        <p:nvSpPr>
          <p:cNvPr id="23" name="Shape 17"/>
          <p:cNvSpPr/>
          <p:nvPr/>
        </p:nvSpPr>
        <p:spPr>
          <a:xfrm>
            <a:off x="594360" y="3456432"/>
            <a:ext cx="402336" cy="402336"/>
          </a:xfrm>
          <a:prstGeom prst="roundRect">
            <a:avLst>
              <a:gd name="adj" fmla="val 22727"/>
            </a:avLst>
          </a:prstGeom>
          <a:solidFill>
            <a:srgbClr val="7C3AED"/>
          </a:solidFill>
          <a:ln w="12700">
            <a:solidFill>
              <a:srgbClr val="7C3AED"/>
            </a:solidFill>
            <a:prstDash val="solid"/>
          </a:ln>
        </p:spPr>
      </p:sp>
      <p:pic>
        <p:nvPicPr>
          <p:cNvPr id="24" name="Image 3" descr="preencoded.png">    </p:cNvPr>
          <p:cNvPicPr>
            <a:picLocks noChangeAspect="1"/>
          </p:cNvPicPr>
          <p:nvPr/>
        </p:nvPicPr>
        <p:blipFill>
          <a:blip r:embed="rId4"/>
          <a:stretch>
            <a:fillRect/>
          </a:stretch>
        </p:blipFill>
        <p:spPr>
          <a:xfrm>
            <a:off x="682874" y="3544946"/>
            <a:ext cx="225308" cy="225308"/>
          </a:xfrm>
          <a:prstGeom prst="rect">
            <a:avLst/>
          </a:prstGeom>
        </p:spPr>
      </p:pic>
      <p:sp>
        <p:nvSpPr>
          <p:cNvPr id="25" name="Text 18"/>
          <p:cNvSpPr txBox="1"/>
          <p:nvPr/>
        </p:nvSpPr>
        <p:spPr>
          <a:xfrm>
            <a:off x="1143000" y="3401568"/>
            <a:ext cx="2651760" cy="512064"/>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Whiteboard system design tool</a:t>
            </a:r>
            <a:endParaRPr lang="en-US" sz="1250" dirty="0"/>
          </a:p>
        </p:txBody>
      </p:sp>
      <p:sp>
        <p:nvSpPr>
          <p:cNvPr id="26" name="Text 19"/>
          <p:cNvSpPr txBox="1"/>
          <p:nvPr/>
        </p:nvSpPr>
        <p:spPr>
          <a:xfrm>
            <a:off x="3794760" y="3392424"/>
            <a:ext cx="4800600" cy="548640"/>
          </a:xfrm>
          <a:prstGeom prst="rect">
            <a:avLst/>
          </a:prstGeom>
          <a:noFill/>
          <a:ln/>
        </p:spPr>
        <p:txBody>
          <a:bodyPr wrap="square" lIns="0" tIns="0" rIns="0" bIns="0" rtlCol="0" anchor="ctr"/>
          <a:lstStyle/>
          <a:p>
            <a:pPr algn="l" indent="0" marL="0">
              <a:buNone/>
            </a:pPr>
            <a:r>
              <a:rPr lang="en-US" sz="950" dirty="0">
                <a:solidFill>
                  <a:srgbClr val="5B5A72"/>
                </a:solidFill>
                <a:latin typeface="Calibri" pitchFamily="34" charset="0"/>
                <a:ea typeface="Calibri" pitchFamily="34" charset="-122"/>
                <a:cs typeface="Calibri" pitchFamily="34" charset="-120"/>
              </a:rPr>
              <a:t>A collaborative canvas for system design rounds. The candidate draws the architecture and the AI reviews scalability, bottlenecks and trade offs.</a:t>
            </a:r>
            <a:endParaRPr lang="en-US" sz="950" dirty="0"/>
          </a:p>
        </p:txBody>
      </p:sp>
      <p:sp>
        <p:nvSpPr>
          <p:cNvPr id="27" name="Shape 20"/>
          <p:cNvSpPr/>
          <p:nvPr/>
        </p:nvSpPr>
        <p:spPr>
          <a:xfrm>
            <a:off x="457200" y="4032504"/>
            <a:ext cx="8229600" cy="603504"/>
          </a:xfrm>
          <a:prstGeom prst="roundRect">
            <a:avLst>
              <a:gd name="adj" fmla="val 18182"/>
            </a:avLst>
          </a:prstGeom>
          <a:solidFill>
            <a:srgbClr val="F3F1FA"/>
          </a:solidFill>
          <a:ln w="12700">
            <a:solidFill>
              <a:srgbClr val="F3F1FA"/>
            </a:solidFill>
            <a:prstDash val="solid"/>
          </a:ln>
        </p:spPr>
      </p:sp>
      <p:sp>
        <p:nvSpPr>
          <p:cNvPr id="28" name="Shape 21"/>
          <p:cNvSpPr/>
          <p:nvPr/>
        </p:nvSpPr>
        <p:spPr>
          <a:xfrm>
            <a:off x="594360" y="4133088"/>
            <a:ext cx="402336" cy="402336"/>
          </a:xfrm>
          <a:prstGeom prst="roundRect">
            <a:avLst>
              <a:gd name="adj" fmla="val 22727"/>
            </a:avLst>
          </a:prstGeom>
          <a:solidFill>
            <a:srgbClr val="7C3AED"/>
          </a:solidFill>
          <a:ln w="12700">
            <a:solidFill>
              <a:srgbClr val="7C3AED"/>
            </a:solidFill>
            <a:prstDash val="solid"/>
          </a:ln>
        </p:spPr>
      </p:sp>
      <p:pic>
        <p:nvPicPr>
          <p:cNvPr id="29" name="Image 4" descr="preencoded.png">    </p:cNvPr>
          <p:cNvPicPr>
            <a:picLocks noChangeAspect="1"/>
          </p:cNvPicPr>
          <p:nvPr/>
        </p:nvPicPr>
        <p:blipFill>
          <a:blip r:embed="rId5"/>
          <a:stretch>
            <a:fillRect/>
          </a:stretch>
        </p:blipFill>
        <p:spPr>
          <a:xfrm>
            <a:off x="682874" y="4221602"/>
            <a:ext cx="225308" cy="225308"/>
          </a:xfrm>
          <a:prstGeom prst="rect">
            <a:avLst/>
          </a:prstGeom>
        </p:spPr>
      </p:pic>
      <p:sp>
        <p:nvSpPr>
          <p:cNvPr id="30" name="Text 22"/>
          <p:cNvSpPr txBox="1"/>
          <p:nvPr/>
        </p:nvSpPr>
        <p:spPr>
          <a:xfrm>
            <a:off x="1143000" y="4078224"/>
            <a:ext cx="2651760" cy="512064"/>
          </a:xfrm>
          <a:prstGeom prst="rect">
            <a:avLst/>
          </a:prstGeom>
          <a:noFill/>
          <a:ln/>
        </p:spPr>
        <p:txBody>
          <a:bodyPr wrap="square" lIns="0" tIns="0" rIns="0" bIns="0" rtlCol="0" anchor="ctr"/>
          <a:lstStyle/>
          <a:p>
            <a:pPr algn="l" indent="0" marL="0">
              <a:buNone/>
            </a:pPr>
            <a:r>
              <a:rPr lang="en-US" sz="1250" b="1" dirty="0">
                <a:solidFill>
                  <a:srgbClr val="1E1B3A"/>
                </a:solidFill>
                <a:latin typeface="Calibri" pitchFamily="34" charset="0"/>
                <a:ea typeface="Calibri" pitchFamily="34" charset="-122"/>
                <a:cs typeface="Calibri" pitchFamily="34" charset="-120"/>
              </a:rPr>
              <a:t>LinkedIn and Portfolio crawler</a:t>
            </a:r>
            <a:endParaRPr lang="en-US" sz="1250" dirty="0"/>
          </a:p>
        </p:txBody>
      </p:sp>
      <p:sp>
        <p:nvSpPr>
          <p:cNvPr id="31" name="Text 23"/>
          <p:cNvSpPr txBox="1"/>
          <p:nvPr/>
        </p:nvSpPr>
        <p:spPr>
          <a:xfrm>
            <a:off x="3794760" y="4069080"/>
            <a:ext cx="4800600" cy="548640"/>
          </a:xfrm>
          <a:prstGeom prst="rect">
            <a:avLst/>
          </a:prstGeom>
          <a:noFill/>
          <a:ln/>
        </p:spPr>
        <p:txBody>
          <a:bodyPr wrap="square" lIns="0" tIns="0" rIns="0" bIns="0" rtlCol="0" anchor="ctr"/>
          <a:lstStyle/>
          <a:p>
            <a:pPr algn="l" indent="0" marL="0">
              <a:buNone/>
            </a:pPr>
            <a:r>
              <a:rPr lang="en-US" sz="950" dirty="0">
                <a:solidFill>
                  <a:srgbClr val="5B5A72"/>
                </a:solidFill>
                <a:latin typeface="Calibri" pitchFamily="34" charset="0"/>
                <a:ea typeface="Calibri" pitchFamily="34" charset="-122"/>
                <a:cs typeface="Calibri" pitchFamily="34" charset="-120"/>
              </a:rPr>
              <a:t>Automatically import experience, projects and endorsements from LinkedIn and personal portfolio sites, so no manual profile entry is needed.</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17</a:t>
            </a:r>
            <a:endParaRPr lang="en-US" sz="900" dirty="0"/>
          </a:p>
        </p:txBody>
      </p:sp>
      <p:sp>
        <p:nvSpPr>
          <p:cNvPr id="5" name="Text 2"/>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E1B3A"/>
                </a:solidFill>
                <a:latin typeface="Calibri" pitchFamily="34" charset="0"/>
                <a:ea typeface="Calibri" pitchFamily="34" charset="-122"/>
                <a:cs typeface="Calibri" pitchFamily="34" charset="-120"/>
              </a:rPr>
              <a:t>Future Scope</a:t>
            </a:r>
            <a:endParaRPr lang="en-US" sz="3000" dirty="0"/>
          </a:p>
        </p:txBody>
      </p:sp>
      <p:sp>
        <p:nvSpPr>
          <p:cNvPr id="6" name="Text 3"/>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5A72"/>
                </a:solidFill>
                <a:latin typeface="Calibri" pitchFamily="34" charset="0"/>
                <a:ea typeface="Calibri" pitchFamily="34" charset="-122"/>
                <a:cs typeface="Calibri" pitchFamily="34" charset="-120"/>
              </a:rPr>
              <a:t>Part 2 of 2: scale, reach and ecosystem</a:t>
            </a:r>
            <a:endParaRPr lang="en-US" sz="1300" dirty="0"/>
          </a:p>
        </p:txBody>
      </p:sp>
      <p:sp>
        <p:nvSpPr>
          <p:cNvPr id="7" name="Shape 4"/>
          <p:cNvSpPr/>
          <p:nvPr/>
        </p:nvSpPr>
        <p:spPr>
          <a:xfrm>
            <a:off x="457200" y="1325880"/>
            <a:ext cx="4023360" cy="603504"/>
          </a:xfrm>
          <a:prstGeom prst="roundRect">
            <a:avLst>
              <a:gd name="adj" fmla="val 18182"/>
            </a:avLst>
          </a:prstGeom>
          <a:solidFill>
            <a:srgbClr val="F3F1FA"/>
          </a:solidFill>
          <a:ln w="12700">
            <a:solidFill>
              <a:srgbClr val="F3F1FA"/>
            </a:solidFill>
            <a:prstDash val="solid"/>
          </a:ln>
        </p:spPr>
      </p:sp>
      <p:sp>
        <p:nvSpPr>
          <p:cNvPr id="8" name="Shape 5"/>
          <p:cNvSpPr/>
          <p:nvPr/>
        </p:nvSpPr>
        <p:spPr>
          <a:xfrm>
            <a:off x="594360" y="1426464"/>
            <a:ext cx="402336" cy="402336"/>
          </a:xfrm>
          <a:prstGeom prst="roundRect">
            <a:avLst>
              <a:gd name="adj" fmla="val 22727"/>
            </a:avLst>
          </a:prstGeom>
          <a:solidFill>
            <a:srgbClr val="7C3AED"/>
          </a:solidFill>
          <a:ln w="12700">
            <a:solidFill>
              <a:srgbClr val="7C3AED"/>
            </a:solidFill>
            <a:prstDash val="solid"/>
          </a:ln>
        </p:spPr>
      </p:sp>
      <p:pic>
        <p:nvPicPr>
          <p:cNvPr id="9" name="Image 0" descr="preencoded.png">    </p:cNvPr>
          <p:cNvPicPr>
            <a:picLocks noChangeAspect="1"/>
          </p:cNvPicPr>
          <p:nvPr/>
        </p:nvPicPr>
        <p:blipFill>
          <a:blip r:embed="rId1"/>
          <a:stretch>
            <a:fillRect/>
          </a:stretch>
        </p:blipFill>
        <p:spPr>
          <a:xfrm>
            <a:off x="682874" y="1514978"/>
            <a:ext cx="225308" cy="225308"/>
          </a:xfrm>
          <a:prstGeom prst="rect">
            <a:avLst/>
          </a:prstGeom>
        </p:spPr>
      </p:pic>
      <p:sp>
        <p:nvSpPr>
          <p:cNvPr id="10" name="Text 6"/>
          <p:cNvSpPr txBox="1"/>
          <p:nvPr/>
        </p:nvSpPr>
        <p:spPr>
          <a:xfrm>
            <a:off x="1115568" y="1380744"/>
            <a:ext cx="3291840" cy="274320"/>
          </a:xfrm>
          <a:prstGeom prst="rect">
            <a:avLst/>
          </a:prstGeom>
          <a:noFill/>
          <a:ln/>
        </p:spPr>
        <p:txBody>
          <a:bodyPr wrap="square" lIns="0" tIns="0" rIns="0" bIns="0" rtlCol="0" anchor="t"/>
          <a:lstStyle/>
          <a:p>
            <a:pPr algn="l" indent="0" marL="0">
              <a:buNone/>
            </a:pPr>
            <a:r>
              <a:rPr lang="en-US" sz="1150" b="1" dirty="0">
                <a:solidFill>
                  <a:srgbClr val="1E1B3A"/>
                </a:solidFill>
                <a:latin typeface="Calibri" pitchFamily="34" charset="0"/>
                <a:ea typeface="Calibri" pitchFamily="34" charset="-122"/>
                <a:cs typeface="Calibri" pitchFamily="34" charset="-120"/>
              </a:rPr>
              <a:t>Enterprise recruiter portal</a:t>
            </a:r>
            <a:endParaRPr lang="en-US" sz="1150" dirty="0"/>
          </a:p>
        </p:txBody>
      </p:sp>
      <p:sp>
        <p:nvSpPr>
          <p:cNvPr id="11" name="Text 7"/>
          <p:cNvSpPr txBox="1"/>
          <p:nvPr/>
        </p:nvSpPr>
        <p:spPr>
          <a:xfrm>
            <a:off x="1115568" y="1636776"/>
            <a:ext cx="3291840" cy="292608"/>
          </a:xfrm>
          <a:prstGeom prst="rect">
            <a:avLst/>
          </a:prstGeom>
          <a:noFill/>
          <a:ln/>
        </p:spPr>
        <p:txBody>
          <a:bodyPr wrap="square" lIns="0" tIns="0" rIns="0" bIns="0" rtlCol="0" anchor="t"/>
          <a:lstStyle/>
          <a:p>
            <a:pPr algn="l" indent="0" marL="0">
              <a:buNone/>
            </a:pPr>
            <a:r>
              <a:rPr lang="en-US" sz="850" dirty="0">
                <a:solidFill>
                  <a:srgbClr val="5B5A72"/>
                </a:solidFill>
                <a:latin typeface="Calibri" pitchFamily="34" charset="0"/>
                <a:ea typeface="Calibri" pitchFamily="34" charset="-122"/>
                <a:cs typeface="Calibri" pitchFamily="34" charset="-120"/>
              </a:rPr>
              <a:t>Job postings, invited candidates, standardised AI screening and ranked dashboards with anti cheating signals.</a:t>
            </a:r>
            <a:endParaRPr lang="en-US" sz="850" dirty="0"/>
          </a:p>
        </p:txBody>
      </p:sp>
      <p:sp>
        <p:nvSpPr>
          <p:cNvPr id="12" name="Shape 8"/>
          <p:cNvSpPr/>
          <p:nvPr/>
        </p:nvSpPr>
        <p:spPr>
          <a:xfrm>
            <a:off x="4663440" y="1325880"/>
            <a:ext cx="4023360" cy="603504"/>
          </a:xfrm>
          <a:prstGeom prst="roundRect">
            <a:avLst>
              <a:gd name="adj" fmla="val 18182"/>
            </a:avLst>
          </a:prstGeom>
          <a:solidFill>
            <a:srgbClr val="F3F1FA"/>
          </a:solidFill>
          <a:ln w="12700">
            <a:solidFill>
              <a:srgbClr val="F3F1FA"/>
            </a:solidFill>
            <a:prstDash val="solid"/>
          </a:ln>
        </p:spPr>
      </p:sp>
      <p:sp>
        <p:nvSpPr>
          <p:cNvPr id="13" name="Shape 9"/>
          <p:cNvSpPr/>
          <p:nvPr/>
        </p:nvSpPr>
        <p:spPr>
          <a:xfrm>
            <a:off x="4800600" y="1426464"/>
            <a:ext cx="402336" cy="402336"/>
          </a:xfrm>
          <a:prstGeom prst="roundRect">
            <a:avLst>
              <a:gd name="adj" fmla="val 22727"/>
            </a:avLst>
          </a:prstGeom>
          <a:solidFill>
            <a:srgbClr val="7C3AED"/>
          </a:solidFill>
          <a:ln w="12700">
            <a:solidFill>
              <a:srgbClr val="7C3AED"/>
            </a:solidFill>
            <a:prstDash val="solid"/>
          </a:ln>
        </p:spPr>
      </p:sp>
      <p:pic>
        <p:nvPicPr>
          <p:cNvPr id="14" name="Image 1" descr="preencoded.png">    </p:cNvPr>
          <p:cNvPicPr>
            <a:picLocks noChangeAspect="1"/>
          </p:cNvPicPr>
          <p:nvPr/>
        </p:nvPicPr>
        <p:blipFill>
          <a:blip r:embed="rId2"/>
          <a:stretch>
            <a:fillRect/>
          </a:stretch>
        </p:blipFill>
        <p:spPr>
          <a:xfrm>
            <a:off x="4889114" y="1514978"/>
            <a:ext cx="225308" cy="225308"/>
          </a:xfrm>
          <a:prstGeom prst="rect">
            <a:avLst/>
          </a:prstGeom>
        </p:spPr>
      </p:pic>
      <p:sp>
        <p:nvSpPr>
          <p:cNvPr id="15" name="Text 10"/>
          <p:cNvSpPr txBox="1"/>
          <p:nvPr/>
        </p:nvSpPr>
        <p:spPr>
          <a:xfrm>
            <a:off x="5321808" y="1380744"/>
            <a:ext cx="3291840" cy="274320"/>
          </a:xfrm>
          <a:prstGeom prst="rect">
            <a:avLst/>
          </a:prstGeom>
          <a:noFill/>
          <a:ln/>
        </p:spPr>
        <p:txBody>
          <a:bodyPr wrap="square" lIns="0" tIns="0" rIns="0" bIns="0" rtlCol="0" anchor="t"/>
          <a:lstStyle/>
          <a:p>
            <a:pPr algn="l" indent="0" marL="0">
              <a:buNone/>
            </a:pPr>
            <a:r>
              <a:rPr lang="en-US" sz="1150" b="1" dirty="0">
                <a:solidFill>
                  <a:srgbClr val="1E1B3A"/>
                </a:solidFill>
                <a:latin typeface="Calibri" pitchFamily="34" charset="0"/>
                <a:ea typeface="Calibri" pitchFamily="34" charset="-122"/>
                <a:cs typeface="Calibri" pitchFamily="34" charset="-120"/>
              </a:rPr>
              <a:t>React Native mobile app</a:t>
            </a:r>
            <a:endParaRPr lang="en-US" sz="1150" dirty="0"/>
          </a:p>
        </p:txBody>
      </p:sp>
      <p:sp>
        <p:nvSpPr>
          <p:cNvPr id="16" name="Text 11"/>
          <p:cNvSpPr txBox="1"/>
          <p:nvPr/>
        </p:nvSpPr>
        <p:spPr>
          <a:xfrm>
            <a:off x="5321808" y="1636776"/>
            <a:ext cx="3291840" cy="292608"/>
          </a:xfrm>
          <a:prstGeom prst="rect">
            <a:avLst/>
          </a:prstGeom>
          <a:noFill/>
          <a:ln/>
        </p:spPr>
        <p:txBody>
          <a:bodyPr wrap="square" lIns="0" tIns="0" rIns="0" bIns="0" rtlCol="0" anchor="t"/>
          <a:lstStyle/>
          <a:p>
            <a:pPr algn="l" indent="0" marL="0">
              <a:buNone/>
            </a:pPr>
            <a:r>
              <a:rPr lang="en-US" sz="850" dirty="0">
                <a:solidFill>
                  <a:srgbClr val="5B5A72"/>
                </a:solidFill>
                <a:latin typeface="Calibri" pitchFamily="34" charset="0"/>
                <a:ea typeface="Calibri" pitchFamily="34" charset="-122"/>
                <a:cs typeface="Calibri" pitchFamily="34" charset="-120"/>
              </a:rPr>
              <a:t>Push notification reminders, offline preparation plans and on the go voice practice.</a:t>
            </a:r>
            <a:endParaRPr lang="en-US" sz="850" dirty="0"/>
          </a:p>
        </p:txBody>
      </p:sp>
      <p:sp>
        <p:nvSpPr>
          <p:cNvPr id="17" name="Shape 12"/>
          <p:cNvSpPr/>
          <p:nvPr/>
        </p:nvSpPr>
        <p:spPr>
          <a:xfrm>
            <a:off x="457200" y="2002536"/>
            <a:ext cx="4023360" cy="603504"/>
          </a:xfrm>
          <a:prstGeom prst="roundRect">
            <a:avLst>
              <a:gd name="adj" fmla="val 18182"/>
            </a:avLst>
          </a:prstGeom>
          <a:solidFill>
            <a:srgbClr val="F3F1FA"/>
          </a:solidFill>
          <a:ln w="12700">
            <a:solidFill>
              <a:srgbClr val="F3F1FA"/>
            </a:solidFill>
            <a:prstDash val="solid"/>
          </a:ln>
        </p:spPr>
      </p:sp>
      <p:sp>
        <p:nvSpPr>
          <p:cNvPr id="18" name="Shape 13"/>
          <p:cNvSpPr/>
          <p:nvPr/>
        </p:nvSpPr>
        <p:spPr>
          <a:xfrm>
            <a:off x="594360" y="2103120"/>
            <a:ext cx="402336" cy="402336"/>
          </a:xfrm>
          <a:prstGeom prst="roundRect">
            <a:avLst>
              <a:gd name="adj" fmla="val 22727"/>
            </a:avLst>
          </a:prstGeom>
          <a:solidFill>
            <a:srgbClr val="7C3AED"/>
          </a:solidFill>
          <a:ln w="12700">
            <a:solidFill>
              <a:srgbClr val="7C3AED"/>
            </a:solidFill>
            <a:prstDash val="solid"/>
          </a:ln>
        </p:spPr>
      </p:sp>
      <p:pic>
        <p:nvPicPr>
          <p:cNvPr id="19" name="Image 2" descr="preencoded.png">    </p:cNvPr>
          <p:cNvPicPr>
            <a:picLocks noChangeAspect="1"/>
          </p:cNvPicPr>
          <p:nvPr/>
        </p:nvPicPr>
        <p:blipFill>
          <a:blip r:embed="rId3"/>
          <a:stretch>
            <a:fillRect/>
          </a:stretch>
        </p:blipFill>
        <p:spPr>
          <a:xfrm>
            <a:off x="682874" y="2191634"/>
            <a:ext cx="225308" cy="225308"/>
          </a:xfrm>
          <a:prstGeom prst="rect">
            <a:avLst/>
          </a:prstGeom>
        </p:spPr>
      </p:pic>
      <p:sp>
        <p:nvSpPr>
          <p:cNvPr id="20" name="Text 14"/>
          <p:cNvSpPr txBox="1"/>
          <p:nvPr/>
        </p:nvSpPr>
        <p:spPr>
          <a:xfrm>
            <a:off x="1115568" y="2057400"/>
            <a:ext cx="3291840" cy="274320"/>
          </a:xfrm>
          <a:prstGeom prst="rect">
            <a:avLst/>
          </a:prstGeom>
          <a:noFill/>
          <a:ln/>
        </p:spPr>
        <p:txBody>
          <a:bodyPr wrap="square" lIns="0" tIns="0" rIns="0" bIns="0" rtlCol="0" anchor="t"/>
          <a:lstStyle/>
          <a:p>
            <a:pPr algn="l" indent="0" marL="0">
              <a:buNone/>
            </a:pPr>
            <a:r>
              <a:rPr lang="en-US" sz="1150" b="1" dirty="0">
                <a:solidFill>
                  <a:srgbClr val="1E1B3A"/>
                </a:solidFill>
                <a:latin typeface="Calibri" pitchFamily="34" charset="0"/>
                <a:ea typeface="Calibri" pitchFamily="34" charset="-122"/>
                <a:cs typeface="Calibri" pitchFamily="34" charset="-120"/>
              </a:rPr>
              <a:t>AI resume builder and rewriter</a:t>
            </a:r>
            <a:endParaRPr lang="en-US" sz="1150" dirty="0"/>
          </a:p>
        </p:txBody>
      </p:sp>
      <p:sp>
        <p:nvSpPr>
          <p:cNvPr id="21" name="Text 15"/>
          <p:cNvSpPr txBox="1"/>
          <p:nvPr/>
        </p:nvSpPr>
        <p:spPr>
          <a:xfrm>
            <a:off x="1115568" y="2313432"/>
            <a:ext cx="3291840" cy="292608"/>
          </a:xfrm>
          <a:prstGeom prst="rect">
            <a:avLst/>
          </a:prstGeom>
          <a:noFill/>
          <a:ln/>
        </p:spPr>
        <p:txBody>
          <a:bodyPr wrap="square" lIns="0" tIns="0" rIns="0" bIns="0" rtlCol="0" anchor="t"/>
          <a:lstStyle/>
          <a:p>
            <a:pPr algn="l" indent="0" marL="0">
              <a:buNone/>
            </a:pPr>
            <a:r>
              <a:rPr lang="en-US" sz="850" dirty="0">
                <a:solidFill>
                  <a:srgbClr val="5B5A72"/>
                </a:solidFill>
                <a:latin typeface="Calibri" pitchFamily="34" charset="0"/>
                <a:ea typeface="Calibri" pitchFamily="34" charset="-122"/>
                <a:cs typeface="Calibri" pitchFamily="34" charset="-120"/>
              </a:rPr>
              <a:t>Rewrite bullet points for a target job using the ATS breakdown as the guide.</a:t>
            </a:r>
            <a:endParaRPr lang="en-US" sz="850" dirty="0"/>
          </a:p>
        </p:txBody>
      </p:sp>
      <p:sp>
        <p:nvSpPr>
          <p:cNvPr id="22" name="Shape 16"/>
          <p:cNvSpPr/>
          <p:nvPr/>
        </p:nvSpPr>
        <p:spPr>
          <a:xfrm>
            <a:off x="4663440" y="2002536"/>
            <a:ext cx="4023360" cy="603504"/>
          </a:xfrm>
          <a:prstGeom prst="roundRect">
            <a:avLst>
              <a:gd name="adj" fmla="val 18182"/>
            </a:avLst>
          </a:prstGeom>
          <a:solidFill>
            <a:srgbClr val="F3F1FA"/>
          </a:solidFill>
          <a:ln w="12700">
            <a:solidFill>
              <a:srgbClr val="F3F1FA"/>
            </a:solidFill>
            <a:prstDash val="solid"/>
          </a:ln>
        </p:spPr>
      </p:sp>
      <p:sp>
        <p:nvSpPr>
          <p:cNvPr id="23" name="Shape 17"/>
          <p:cNvSpPr/>
          <p:nvPr/>
        </p:nvSpPr>
        <p:spPr>
          <a:xfrm>
            <a:off x="4800600" y="2103120"/>
            <a:ext cx="402336" cy="402336"/>
          </a:xfrm>
          <a:prstGeom prst="roundRect">
            <a:avLst>
              <a:gd name="adj" fmla="val 22727"/>
            </a:avLst>
          </a:prstGeom>
          <a:solidFill>
            <a:srgbClr val="7C3AED"/>
          </a:solidFill>
          <a:ln w="12700">
            <a:solidFill>
              <a:srgbClr val="7C3AED"/>
            </a:solidFill>
            <a:prstDash val="solid"/>
          </a:ln>
        </p:spPr>
      </p:sp>
      <p:pic>
        <p:nvPicPr>
          <p:cNvPr id="24" name="Image 3" descr="preencoded.png">    </p:cNvPr>
          <p:cNvPicPr>
            <a:picLocks noChangeAspect="1"/>
          </p:cNvPicPr>
          <p:nvPr/>
        </p:nvPicPr>
        <p:blipFill>
          <a:blip r:embed="rId4"/>
          <a:stretch>
            <a:fillRect/>
          </a:stretch>
        </p:blipFill>
        <p:spPr>
          <a:xfrm>
            <a:off x="4889114" y="2191634"/>
            <a:ext cx="225308" cy="225308"/>
          </a:xfrm>
          <a:prstGeom prst="rect">
            <a:avLst/>
          </a:prstGeom>
        </p:spPr>
      </p:pic>
      <p:sp>
        <p:nvSpPr>
          <p:cNvPr id="25" name="Text 18"/>
          <p:cNvSpPr txBox="1"/>
          <p:nvPr/>
        </p:nvSpPr>
        <p:spPr>
          <a:xfrm>
            <a:off x="5321808" y="2057400"/>
            <a:ext cx="3291840" cy="274320"/>
          </a:xfrm>
          <a:prstGeom prst="rect">
            <a:avLst/>
          </a:prstGeom>
          <a:noFill/>
          <a:ln/>
        </p:spPr>
        <p:txBody>
          <a:bodyPr wrap="square" lIns="0" tIns="0" rIns="0" bIns="0" rtlCol="0" anchor="t"/>
          <a:lstStyle/>
          <a:p>
            <a:pPr algn="l" indent="0" marL="0">
              <a:buNone/>
            </a:pPr>
            <a:r>
              <a:rPr lang="en-US" sz="1150" b="1" dirty="0">
                <a:solidFill>
                  <a:srgbClr val="1E1B3A"/>
                </a:solidFill>
                <a:latin typeface="Calibri" pitchFamily="34" charset="0"/>
                <a:ea typeface="Calibri" pitchFamily="34" charset="-122"/>
                <a:cs typeface="Calibri" pitchFamily="34" charset="-120"/>
              </a:rPr>
              <a:t>Company specific question banks</a:t>
            </a:r>
            <a:endParaRPr lang="en-US" sz="1150" dirty="0"/>
          </a:p>
        </p:txBody>
      </p:sp>
      <p:sp>
        <p:nvSpPr>
          <p:cNvPr id="26" name="Text 19"/>
          <p:cNvSpPr txBox="1"/>
          <p:nvPr/>
        </p:nvSpPr>
        <p:spPr>
          <a:xfrm>
            <a:off x="5321808" y="2313432"/>
            <a:ext cx="3291840" cy="292608"/>
          </a:xfrm>
          <a:prstGeom prst="rect">
            <a:avLst/>
          </a:prstGeom>
          <a:noFill/>
          <a:ln/>
        </p:spPr>
        <p:txBody>
          <a:bodyPr wrap="square" lIns="0" tIns="0" rIns="0" bIns="0" rtlCol="0" anchor="t"/>
          <a:lstStyle/>
          <a:p>
            <a:pPr algn="l" indent="0" marL="0">
              <a:buNone/>
            </a:pPr>
            <a:r>
              <a:rPr lang="en-US" sz="850" dirty="0">
                <a:solidFill>
                  <a:srgbClr val="5B5A72"/>
                </a:solidFill>
                <a:latin typeface="Calibri" pitchFamily="34" charset="0"/>
                <a:ea typeface="Calibri" pitchFamily="34" charset="-122"/>
                <a:cs typeface="Calibri" pitchFamily="34" charset="-120"/>
              </a:rPr>
              <a:t>Continuously updated sets per company and role, crowdsourced and community verified.</a:t>
            </a:r>
            <a:endParaRPr lang="en-US" sz="850" dirty="0"/>
          </a:p>
        </p:txBody>
      </p:sp>
      <p:sp>
        <p:nvSpPr>
          <p:cNvPr id="27" name="Shape 20"/>
          <p:cNvSpPr/>
          <p:nvPr/>
        </p:nvSpPr>
        <p:spPr>
          <a:xfrm>
            <a:off x="457200" y="2679192"/>
            <a:ext cx="4023360" cy="603504"/>
          </a:xfrm>
          <a:prstGeom prst="roundRect">
            <a:avLst>
              <a:gd name="adj" fmla="val 18182"/>
            </a:avLst>
          </a:prstGeom>
          <a:solidFill>
            <a:srgbClr val="F3F1FA"/>
          </a:solidFill>
          <a:ln w="12700">
            <a:solidFill>
              <a:srgbClr val="F3F1FA"/>
            </a:solidFill>
            <a:prstDash val="solid"/>
          </a:ln>
        </p:spPr>
      </p:sp>
      <p:sp>
        <p:nvSpPr>
          <p:cNvPr id="28" name="Shape 21"/>
          <p:cNvSpPr/>
          <p:nvPr/>
        </p:nvSpPr>
        <p:spPr>
          <a:xfrm>
            <a:off x="594360" y="2779776"/>
            <a:ext cx="402336" cy="402336"/>
          </a:xfrm>
          <a:prstGeom prst="roundRect">
            <a:avLst>
              <a:gd name="adj" fmla="val 22727"/>
            </a:avLst>
          </a:prstGeom>
          <a:solidFill>
            <a:srgbClr val="7C3AED"/>
          </a:solidFill>
          <a:ln w="12700">
            <a:solidFill>
              <a:srgbClr val="7C3AED"/>
            </a:solidFill>
            <a:prstDash val="solid"/>
          </a:ln>
        </p:spPr>
      </p:sp>
      <p:pic>
        <p:nvPicPr>
          <p:cNvPr id="29" name="Image 4" descr="preencoded.png">    </p:cNvPr>
          <p:cNvPicPr>
            <a:picLocks noChangeAspect="1"/>
          </p:cNvPicPr>
          <p:nvPr/>
        </p:nvPicPr>
        <p:blipFill>
          <a:blip r:embed="rId5"/>
          <a:stretch>
            <a:fillRect/>
          </a:stretch>
        </p:blipFill>
        <p:spPr>
          <a:xfrm>
            <a:off x="682874" y="2868290"/>
            <a:ext cx="225308" cy="225308"/>
          </a:xfrm>
          <a:prstGeom prst="rect">
            <a:avLst/>
          </a:prstGeom>
        </p:spPr>
      </p:pic>
      <p:sp>
        <p:nvSpPr>
          <p:cNvPr id="30" name="Text 22"/>
          <p:cNvSpPr txBox="1"/>
          <p:nvPr/>
        </p:nvSpPr>
        <p:spPr>
          <a:xfrm>
            <a:off x="1115568" y="2734056"/>
            <a:ext cx="3291840" cy="274320"/>
          </a:xfrm>
          <a:prstGeom prst="rect">
            <a:avLst/>
          </a:prstGeom>
          <a:noFill/>
          <a:ln/>
        </p:spPr>
        <p:txBody>
          <a:bodyPr wrap="square" lIns="0" tIns="0" rIns="0" bIns="0" rtlCol="0" anchor="t"/>
          <a:lstStyle/>
          <a:p>
            <a:pPr algn="l" indent="0" marL="0">
              <a:buNone/>
            </a:pPr>
            <a:r>
              <a:rPr lang="en-US" sz="1150" b="1" dirty="0">
                <a:solidFill>
                  <a:srgbClr val="1E1B3A"/>
                </a:solidFill>
                <a:latin typeface="Calibri" pitchFamily="34" charset="0"/>
                <a:ea typeface="Calibri" pitchFamily="34" charset="-122"/>
                <a:cs typeface="Calibri" pitchFamily="34" charset="-120"/>
              </a:rPr>
              <a:t>Multi language expansion</a:t>
            </a:r>
            <a:endParaRPr lang="en-US" sz="1150" dirty="0"/>
          </a:p>
        </p:txBody>
      </p:sp>
      <p:sp>
        <p:nvSpPr>
          <p:cNvPr id="31" name="Text 23"/>
          <p:cNvSpPr txBox="1"/>
          <p:nvPr/>
        </p:nvSpPr>
        <p:spPr>
          <a:xfrm>
            <a:off x="1115568" y="2990088"/>
            <a:ext cx="3291840" cy="292608"/>
          </a:xfrm>
          <a:prstGeom prst="rect">
            <a:avLst/>
          </a:prstGeom>
          <a:noFill/>
          <a:ln/>
        </p:spPr>
        <p:txBody>
          <a:bodyPr wrap="square" lIns="0" tIns="0" rIns="0" bIns="0" rtlCol="0" anchor="t"/>
          <a:lstStyle/>
          <a:p>
            <a:pPr algn="l" indent="0" marL="0">
              <a:buNone/>
            </a:pPr>
            <a:r>
              <a:rPr lang="en-US" sz="850" dirty="0">
                <a:solidFill>
                  <a:srgbClr val="5B5A72"/>
                </a:solidFill>
                <a:latin typeface="Calibri" pitchFamily="34" charset="0"/>
                <a:ea typeface="Calibri" pitchFamily="34" charset="-122"/>
                <a:cs typeface="Calibri" pitchFamily="34" charset="-120"/>
              </a:rPr>
              <a:t>Regional and global languages with localised voice models beyond English, Hindi and Hinglish.</a:t>
            </a:r>
            <a:endParaRPr lang="en-US" sz="850" dirty="0"/>
          </a:p>
        </p:txBody>
      </p:sp>
      <p:sp>
        <p:nvSpPr>
          <p:cNvPr id="32" name="Shape 24"/>
          <p:cNvSpPr/>
          <p:nvPr/>
        </p:nvSpPr>
        <p:spPr>
          <a:xfrm>
            <a:off x="4663440" y="2679192"/>
            <a:ext cx="4023360" cy="603504"/>
          </a:xfrm>
          <a:prstGeom prst="roundRect">
            <a:avLst>
              <a:gd name="adj" fmla="val 18182"/>
            </a:avLst>
          </a:prstGeom>
          <a:solidFill>
            <a:srgbClr val="F3F1FA"/>
          </a:solidFill>
          <a:ln w="12700">
            <a:solidFill>
              <a:srgbClr val="F3F1FA"/>
            </a:solidFill>
            <a:prstDash val="solid"/>
          </a:ln>
        </p:spPr>
      </p:sp>
      <p:sp>
        <p:nvSpPr>
          <p:cNvPr id="33" name="Shape 25"/>
          <p:cNvSpPr/>
          <p:nvPr/>
        </p:nvSpPr>
        <p:spPr>
          <a:xfrm>
            <a:off x="4800600" y="2779776"/>
            <a:ext cx="402336" cy="402336"/>
          </a:xfrm>
          <a:prstGeom prst="roundRect">
            <a:avLst>
              <a:gd name="adj" fmla="val 22727"/>
            </a:avLst>
          </a:prstGeom>
          <a:solidFill>
            <a:srgbClr val="7C3AED"/>
          </a:solidFill>
          <a:ln w="12700">
            <a:solidFill>
              <a:srgbClr val="7C3AED"/>
            </a:solidFill>
            <a:prstDash val="solid"/>
          </a:ln>
        </p:spPr>
      </p:sp>
      <p:pic>
        <p:nvPicPr>
          <p:cNvPr id="34" name="Image 5" descr="preencoded.png">    </p:cNvPr>
          <p:cNvPicPr>
            <a:picLocks noChangeAspect="1"/>
          </p:cNvPicPr>
          <p:nvPr/>
        </p:nvPicPr>
        <p:blipFill>
          <a:blip r:embed="rId6"/>
          <a:stretch>
            <a:fillRect/>
          </a:stretch>
        </p:blipFill>
        <p:spPr>
          <a:xfrm>
            <a:off x="4889114" y="2868290"/>
            <a:ext cx="225308" cy="225308"/>
          </a:xfrm>
          <a:prstGeom prst="rect">
            <a:avLst/>
          </a:prstGeom>
        </p:spPr>
      </p:pic>
      <p:sp>
        <p:nvSpPr>
          <p:cNvPr id="35" name="Text 26"/>
          <p:cNvSpPr txBox="1"/>
          <p:nvPr/>
        </p:nvSpPr>
        <p:spPr>
          <a:xfrm>
            <a:off x="5321808" y="2734056"/>
            <a:ext cx="3291840" cy="274320"/>
          </a:xfrm>
          <a:prstGeom prst="rect">
            <a:avLst/>
          </a:prstGeom>
          <a:noFill/>
          <a:ln/>
        </p:spPr>
        <p:txBody>
          <a:bodyPr wrap="square" lIns="0" tIns="0" rIns="0" bIns="0" rtlCol="0" anchor="t"/>
          <a:lstStyle/>
          <a:p>
            <a:pPr algn="l" indent="0" marL="0">
              <a:buNone/>
            </a:pPr>
            <a:r>
              <a:rPr lang="en-US" sz="1150" b="1" dirty="0">
                <a:solidFill>
                  <a:srgbClr val="1E1B3A"/>
                </a:solidFill>
                <a:latin typeface="Calibri" pitchFamily="34" charset="0"/>
                <a:ea typeface="Calibri" pitchFamily="34" charset="-122"/>
                <a:cs typeface="Calibri" pitchFamily="34" charset="-120"/>
              </a:rPr>
              <a:t>Gamification and streaks</a:t>
            </a:r>
            <a:endParaRPr lang="en-US" sz="1150" dirty="0"/>
          </a:p>
        </p:txBody>
      </p:sp>
      <p:sp>
        <p:nvSpPr>
          <p:cNvPr id="36" name="Text 27"/>
          <p:cNvSpPr txBox="1"/>
          <p:nvPr/>
        </p:nvSpPr>
        <p:spPr>
          <a:xfrm>
            <a:off x="5321808" y="2990088"/>
            <a:ext cx="3291840" cy="292608"/>
          </a:xfrm>
          <a:prstGeom prst="rect">
            <a:avLst/>
          </a:prstGeom>
          <a:noFill/>
          <a:ln/>
        </p:spPr>
        <p:txBody>
          <a:bodyPr wrap="square" lIns="0" tIns="0" rIns="0" bIns="0" rtlCol="0" anchor="t"/>
          <a:lstStyle/>
          <a:p>
            <a:pPr algn="l" indent="0" marL="0">
              <a:buNone/>
            </a:pPr>
            <a:r>
              <a:rPr lang="en-US" sz="850" dirty="0">
                <a:solidFill>
                  <a:srgbClr val="5B5A72"/>
                </a:solidFill>
                <a:latin typeface="Calibri" pitchFamily="34" charset="0"/>
                <a:ea typeface="Calibri" pitchFamily="34" charset="-122"/>
                <a:cs typeface="Calibri" pitchFamily="34" charset="-120"/>
              </a:rPr>
              <a:t>Daily streaks, badges, friend leaderboards and progress milestones.</a:t>
            </a:r>
            <a:endParaRPr lang="en-US" sz="850" dirty="0"/>
          </a:p>
        </p:txBody>
      </p:sp>
      <p:sp>
        <p:nvSpPr>
          <p:cNvPr id="37" name="Shape 28"/>
          <p:cNvSpPr/>
          <p:nvPr/>
        </p:nvSpPr>
        <p:spPr>
          <a:xfrm>
            <a:off x="457200" y="3355848"/>
            <a:ext cx="4023360" cy="603504"/>
          </a:xfrm>
          <a:prstGeom prst="roundRect">
            <a:avLst>
              <a:gd name="adj" fmla="val 18182"/>
            </a:avLst>
          </a:prstGeom>
          <a:solidFill>
            <a:srgbClr val="F3F1FA"/>
          </a:solidFill>
          <a:ln w="12700">
            <a:solidFill>
              <a:srgbClr val="F3F1FA"/>
            </a:solidFill>
            <a:prstDash val="solid"/>
          </a:ln>
        </p:spPr>
      </p:sp>
      <p:sp>
        <p:nvSpPr>
          <p:cNvPr id="38" name="Shape 29"/>
          <p:cNvSpPr/>
          <p:nvPr/>
        </p:nvSpPr>
        <p:spPr>
          <a:xfrm>
            <a:off x="594360" y="3456432"/>
            <a:ext cx="402336" cy="402336"/>
          </a:xfrm>
          <a:prstGeom prst="roundRect">
            <a:avLst>
              <a:gd name="adj" fmla="val 22727"/>
            </a:avLst>
          </a:prstGeom>
          <a:solidFill>
            <a:srgbClr val="7C3AED"/>
          </a:solidFill>
          <a:ln w="12700">
            <a:solidFill>
              <a:srgbClr val="7C3AED"/>
            </a:solidFill>
            <a:prstDash val="solid"/>
          </a:ln>
        </p:spPr>
      </p:sp>
      <p:pic>
        <p:nvPicPr>
          <p:cNvPr id="39" name="Image 6" descr="preencoded.png">    </p:cNvPr>
          <p:cNvPicPr>
            <a:picLocks noChangeAspect="1"/>
          </p:cNvPicPr>
          <p:nvPr/>
        </p:nvPicPr>
        <p:blipFill>
          <a:blip r:embed="rId7"/>
          <a:stretch>
            <a:fillRect/>
          </a:stretch>
        </p:blipFill>
        <p:spPr>
          <a:xfrm>
            <a:off x="682874" y="3544946"/>
            <a:ext cx="225308" cy="225308"/>
          </a:xfrm>
          <a:prstGeom prst="rect">
            <a:avLst/>
          </a:prstGeom>
        </p:spPr>
      </p:pic>
      <p:sp>
        <p:nvSpPr>
          <p:cNvPr id="40" name="Text 30"/>
          <p:cNvSpPr txBox="1"/>
          <p:nvPr/>
        </p:nvSpPr>
        <p:spPr>
          <a:xfrm>
            <a:off x="1115568" y="3410712"/>
            <a:ext cx="3291840" cy="274320"/>
          </a:xfrm>
          <a:prstGeom prst="rect">
            <a:avLst/>
          </a:prstGeom>
          <a:noFill/>
          <a:ln/>
        </p:spPr>
        <p:txBody>
          <a:bodyPr wrap="square" lIns="0" tIns="0" rIns="0" bIns="0" rtlCol="0" anchor="t"/>
          <a:lstStyle/>
          <a:p>
            <a:pPr algn="l" indent="0" marL="0">
              <a:buNone/>
            </a:pPr>
            <a:r>
              <a:rPr lang="en-US" sz="1150" b="1" dirty="0">
                <a:solidFill>
                  <a:srgbClr val="1E1B3A"/>
                </a:solidFill>
                <a:latin typeface="Calibri" pitchFamily="34" charset="0"/>
                <a:ea typeface="Calibri" pitchFamily="34" charset="-122"/>
                <a:cs typeface="Calibri" pitchFamily="34" charset="-120"/>
              </a:rPr>
              <a:t>Plagiarism and AI answer detection</a:t>
            </a:r>
            <a:endParaRPr lang="en-US" sz="1150" dirty="0"/>
          </a:p>
        </p:txBody>
      </p:sp>
      <p:sp>
        <p:nvSpPr>
          <p:cNvPr id="41" name="Text 31"/>
          <p:cNvSpPr txBox="1"/>
          <p:nvPr/>
        </p:nvSpPr>
        <p:spPr>
          <a:xfrm>
            <a:off x="1115568" y="3666744"/>
            <a:ext cx="3291840" cy="292608"/>
          </a:xfrm>
          <a:prstGeom prst="rect">
            <a:avLst/>
          </a:prstGeom>
          <a:noFill/>
          <a:ln/>
        </p:spPr>
        <p:txBody>
          <a:bodyPr wrap="square" lIns="0" tIns="0" rIns="0" bIns="0" rtlCol="0" anchor="t"/>
          <a:lstStyle/>
          <a:p>
            <a:pPr algn="l" indent="0" marL="0">
              <a:buNone/>
            </a:pPr>
            <a:r>
              <a:rPr lang="en-US" sz="850" dirty="0">
                <a:solidFill>
                  <a:srgbClr val="5B5A72"/>
                </a:solidFill>
                <a:latin typeface="Calibri" pitchFamily="34" charset="0"/>
                <a:ea typeface="Calibri" pitchFamily="34" charset="-122"/>
                <a:cs typeface="Calibri" pitchFamily="34" charset="-120"/>
              </a:rPr>
              <a:t>Flag copied or AI generated answers during timed practice sessions.</a:t>
            </a:r>
            <a:endParaRPr lang="en-US" sz="850" dirty="0"/>
          </a:p>
        </p:txBody>
      </p:sp>
      <p:sp>
        <p:nvSpPr>
          <p:cNvPr id="42" name="Shape 32"/>
          <p:cNvSpPr/>
          <p:nvPr/>
        </p:nvSpPr>
        <p:spPr>
          <a:xfrm>
            <a:off x="4663440" y="3355848"/>
            <a:ext cx="4023360" cy="603504"/>
          </a:xfrm>
          <a:prstGeom prst="roundRect">
            <a:avLst>
              <a:gd name="adj" fmla="val 18182"/>
            </a:avLst>
          </a:prstGeom>
          <a:solidFill>
            <a:srgbClr val="F3F1FA"/>
          </a:solidFill>
          <a:ln w="12700">
            <a:solidFill>
              <a:srgbClr val="F3F1FA"/>
            </a:solidFill>
            <a:prstDash val="solid"/>
          </a:ln>
        </p:spPr>
      </p:sp>
      <p:sp>
        <p:nvSpPr>
          <p:cNvPr id="43" name="Shape 33"/>
          <p:cNvSpPr/>
          <p:nvPr/>
        </p:nvSpPr>
        <p:spPr>
          <a:xfrm>
            <a:off x="4800600" y="3456432"/>
            <a:ext cx="402336" cy="402336"/>
          </a:xfrm>
          <a:prstGeom prst="roundRect">
            <a:avLst>
              <a:gd name="adj" fmla="val 22727"/>
            </a:avLst>
          </a:prstGeom>
          <a:solidFill>
            <a:srgbClr val="7C3AED"/>
          </a:solidFill>
          <a:ln w="12700">
            <a:solidFill>
              <a:srgbClr val="7C3AED"/>
            </a:solidFill>
            <a:prstDash val="solid"/>
          </a:ln>
        </p:spPr>
      </p:sp>
      <p:pic>
        <p:nvPicPr>
          <p:cNvPr id="44" name="Image 7" descr="preencoded.png">    </p:cNvPr>
          <p:cNvPicPr>
            <a:picLocks noChangeAspect="1"/>
          </p:cNvPicPr>
          <p:nvPr/>
        </p:nvPicPr>
        <p:blipFill>
          <a:blip r:embed="rId8"/>
          <a:stretch>
            <a:fillRect/>
          </a:stretch>
        </p:blipFill>
        <p:spPr>
          <a:xfrm>
            <a:off x="4889114" y="3544946"/>
            <a:ext cx="225308" cy="225308"/>
          </a:xfrm>
          <a:prstGeom prst="rect">
            <a:avLst/>
          </a:prstGeom>
        </p:spPr>
      </p:pic>
      <p:sp>
        <p:nvSpPr>
          <p:cNvPr id="45" name="Text 34"/>
          <p:cNvSpPr txBox="1"/>
          <p:nvPr/>
        </p:nvSpPr>
        <p:spPr>
          <a:xfrm>
            <a:off x="5321808" y="3410712"/>
            <a:ext cx="3291840" cy="274320"/>
          </a:xfrm>
          <a:prstGeom prst="rect">
            <a:avLst/>
          </a:prstGeom>
          <a:noFill/>
          <a:ln/>
        </p:spPr>
        <p:txBody>
          <a:bodyPr wrap="square" lIns="0" tIns="0" rIns="0" bIns="0" rtlCol="0" anchor="t"/>
          <a:lstStyle/>
          <a:p>
            <a:pPr algn="l" indent="0" marL="0">
              <a:buNone/>
            </a:pPr>
            <a:r>
              <a:rPr lang="en-US" sz="1150" b="1" dirty="0">
                <a:solidFill>
                  <a:srgbClr val="1E1B3A"/>
                </a:solidFill>
                <a:latin typeface="Calibri" pitchFamily="34" charset="0"/>
                <a:ea typeface="Calibri" pitchFamily="34" charset="-122"/>
                <a:cs typeface="Calibri" pitchFamily="34" charset="-120"/>
              </a:rPr>
              <a:t>Browser extension</a:t>
            </a:r>
            <a:endParaRPr lang="en-US" sz="1150" dirty="0"/>
          </a:p>
        </p:txBody>
      </p:sp>
      <p:sp>
        <p:nvSpPr>
          <p:cNvPr id="46" name="Text 35"/>
          <p:cNvSpPr txBox="1"/>
          <p:nvPr/>
        </p:nvSpPr>
        <p:spPr>
          <a:xfrm>
            <a:off x="5321808" y="3666744"/>
            <a:ext cx="3291840" cy="292608"/>
          </a:xfrm>
          <a:prstGeom prst="rect">
            <a:avLst/>
          </a:prstGeom>
          <a:noFill/>
          <a:ln/>
        </p:spPr>
        <p:txBody>
          <a:bodyPr wrap="square" lIns="0" tIns="0" rIns="0" bIns="0" rtlCol="0" anchor="t"/>
          <a:lstStyle/>
          <a:p>
            <a:pPr algn="l" indent="0" marL="0">
              <a:buNone/>
            </a:pPr>
            <a:r>
              <a:rPr lang="en-US" sz="850" dirty="0">
                <a:solidFill>
                  <a:srgbClr val="5B5A72"/>
                </a:solidFill>
                <a:latin typeface="Calibri" pitchFamily="34" charset="0"/>
                <a:ea typeface="Calibri" pitchFamily="34" charset="-122"/>
                <a:cs typeface="Calibri" pitchFamily="34" charset="-120"/>
              </a:rPr>
              <a:t>One click "Prepare for this job" on LinkedIn, Naukri and Indeed job pages.</a:t>
            </a:r>
            <a:endParaRPr lang="en-US" sz="850" dirty="0"/>
          </a:p>
        </p:txBody>
      </p:sp>
      <p:sp>
        <p:nvSpPr>
          <p:cNvPr id="47" name="Shape 36"/>
          <p:cNvSpPr/>
          <p:nvPr/>
        </p:nvSpPr>
        <p:spPr>
          <a:xfrm>
            <a:off x="457200" y="4032504"/>
            <a:ext cx="4023360" cy="603504"/>
          </a:xfrm>
          <a:prstGeom prst="roundRect">
            <a:avLst>
              <a:gd name="adj" fmla="val 18182"/>
            </a:avLst>
          </a:prstGeom>
          <a:solidFill>
            <a:srgbClr val="F3F1FA"/>
          </a:solidFill>
          <a:ln w="12700">
            <a:solidFill>
              <a:srgbClr val="F3F1FA"/>
            </a:solidFill>
            <a:prstDash val="solid"/>
          </a:ln>
        </p:spPr>
      </p:sp>
      <p:sp>
        <p:nvSpPr>
          <p:cNvPr id="48" name="Shape 37"/>
          <p:cNvSpPr/>
          <p:nvPr/>
        </p:nvSpPr>
        <p:spPr>
          <a:xfrm>
            <a:off x="594360" y="4133088"/>
            <a:ext cx="402336" cy="402336"/>
          </a:xfrm>
          <a:prstGeom prst="roundRect">
            <a:avLst>
              <a:gd name="adj" fmla="val 22727"/>
            </a:avLst>
          </a:prstGeom>
          <a:solidFill>
            <a:srgbClr val="7C3AED"/>
          </a:solidFill>
          <a:ln w="12700">
            <a:solidFill>
              <a:srgbClr val="7C3AED"/>
            </a:solidFill>
            <a:prstDash val="solid"/>
          </a:ln>
        </p:spPr>
      </p:sp>
      <p:pic>
        <p:nvPicPr>
          <p:cNvPr id="49" name="Image 8" descr="preencoded.png">    </p:cNvPr>
          <p:cNvPicPr>
            <a:picLocks noChangeAspect="1"/>
          </p:cNvPicPr>
          <p:nvPr/>
        </p:nvPicPr>
        <p:blipFill>
          <a:blip r:embed="rId9"/>
          <a:stretch>
            <a:fillRect/>
          </a:stretch>
        </p:blipFill>
        <p:spPr>
          <a:xfrm>
            <a:off x="682874" y="4221602"/>
            <a:ext cx="225308" cy="225308"/>
          </a:xfrm>
          <a:prstGeom prst="rect">
            <a:avLst/>
          </a:prstGeom>
        </p:spPr>
      </p:pic>
      <p:sp>
        <p:nvSpPr>
          <p:cNvPr id="50" name="Text 38"/>
          <p:cNvSpPr txBox="1"/>
          <p:nvPr/>
        </p:nvSpPr>
        <p:spPr>
          <a:xfrm>
            <a:off x="1115568" y="4087368"/>
            <a:ext cx="3291840" cy="274320"/>
          </a:xfrm>
          <a:prstGeom prst="rect">
            <a:avLst/>
          </a:prstGeom>
          <a:noFill/>
          <a:ln/>
        </p:spPr>
        <p:txBody>
          <a:bodyPr wrap="square" lIns="0" tIns="0" rIns="0" bIns="0" rtlCol="0" anchor="t"/>
          <a:lstStyle/>
          <a:p>
            <a:pPr algn="l" indent="0" marL="0">
              <a:buNone/>
            </a:pPr>
            <a:r>
              <a:rPr lang="en-US" sz="1150" b="1" dirty="0">
                <a:solidFill>
                  <a:srgbClr val="1E1B3A"/>
                </a:solidFill>
                <a:latin typeface="Calibri" pitchFamily="34" charset="0"/>
                <a:ea typeface="Calibri" pitchFamily="34" charset="-122"/>
                <a:cs typeface="Calibri" pitchFamily="34" charset="-120"/>
              </a:rPr>
              <a:t>Analytics for mentors</a:t>
            </a:r>
            <a:endParaRPr lang="en-US" sz="1150" dirty="0"/>
          </a:p>
        </p:txBody>
      </p:sp>
      <p:sp>
        <p:nvSpPr>
          <p:cNvPr id="51" name="Text 39"/>
          <p:cNvSpPr txBox="1"/>
          <p:nvPr/>
        </p:nvSpPr>
        <p:spPr>
          <a:xfrm>
            <a:off x="1115568" y="4343400"/>
            <a:ext cx="3291840" cy="292608"/>
          </a:xfrm>
          <a:prstGeom prst="rect">
            <a:avLst/>
          </a:prstGeom>
          <a:noFill/>
          <a:ln/>
        </p:spPr>
        <p:txBody>
          <a:bodyPr wrap="square" lIns="0" tIns="0" rIns="0" bIns="0" rtlCol="0" anchor="t"/>
          <a:lstStyle/>
          <a:p>
            <a:pPr algn="l" indent="0" marL="0">
              <a:buNone/>
            </a:pPr>
            <a:r>
              <a:rPr lang="en-US" sz="850" dirty="0">
                <a:solidFill>
                  <a:srgbClr val="5B5A72"/>
                </a:solidFill>
                <a:latin typeface="Calibri" pitchFamily="34" charset="0"/>
                <a:ea typeface="Calibri" pitchFamily="34" charset="-122"/>
                <a:cs typeface="Calibri" pitchFamily="34" charset="-120"/>
              </a:rPr>
              <a:t>Mentor accounts with dashboards that track many mentees over time.</a:t>
            </a:r>
            <a:endParaRPr lang="en-US" sz="850" dirty="0"/>
          </a:p>
        </p:txBody>
      </p:sp>
      <p:sp>
        <p:nvSpPr>
          <p:cNvPr id="52" name="Shape 40"/>
          <p:cNvSpPr/>
          <p:nvPr/>
        </p:nvSpPr>
        <p:spPr>
          <a:xfrm>
            <a:off x="4663440" y="4032504"/>
            <a:ext cx="4023360" cy="603504"/>
          </a:xfrm>
          <a:prstGeom prst="roundRect">
            <a:avLst>
              <a:gd name="adj" fmla="val 18182"/>
            </a:avLst>
          </a:prstGeom>
          <a:solidFill>
            <a:srgbClr val="F3F1FA"/>
          </a:solidFill>
          <a:ln w="12700">
            <a:solidFill>
              <a:srgbClr val="F3F1FA"/>
            </a:solidFill>
            <a:prstDash val="solid"/>
          </a:ln>
        </p:spPr>
      </p:sp>
      <p:sp>
        <p:nvSpPr>
          <p:cNvPr id="53" name="Shape 41"/>
          <p:cNvSpPr/>
          <p:nvPr/>
        </p:nvSpPr>
        <p:spPr>
          <a:xfrm>
            <a:off x="4800600" y="4133088"/>
            <a:ext cx="402336" cy="402336"/>
          </a:xfrm>
          <a:prstGeom prst="roundRect">
            <a:avLst>
              <a:gd name="adj" fmla="val 22727"/>
            </a:avLst>
          </a:prstGeom>
          <a:solidFill>
            <a:srgbClr val="7C3AED"/>
          </a:solidFill>
          <a:ln w="12700">
            <a:solidFill>
              <a:srgbClr val="7C3AED"/>
            </a:solidFill>
            <a:prstDash val="solid"/>
          </a:ln>
        </p:spPr>
      </p:sp>
      <p:pic>
        <p:nvPicPr>
          <p:cNvPr id="54" name="Image 9" descr="preencoded.png">    </p:cNvPr>
          <p:cNvPicPr>
            <a:picLocks noChangeAspect="1"/>
          </p:cNvPicPr>
          <p:nvPr/>
        </p:nvPicPr>
        <p:blipFill>
          <a:blip r:embed="rId10"/>
          <a:stretch>
            <a:fillRect/>
          </a:stretch>
        </p:blipFill>
        <p:spPr>
          <a:xfrm>
            <a:off x="4889114" y="4221602"/>
            <a:ext cx="225308" cy="225308"/>
          </a:xfrm>
          <a:prstGeom prst="rect">
            <a:avLst/>
          </a:prstGeom>
        </p:spPr>
      </p:pic>
      <p:sp>
        <p:nvSpPr>
          <p:cNvPr id="55" name="Text 42"/>
          <p:cNvSpPr txBox="1"/>
          <p:nvPr/>
        </p:nvSpPr>
        <p:spPr>
          <a:xfrm>
            <a:off x="5321808" y="4087368"/>
            <a:ext cx="3291840" cy="274320"/>
          </a:xfrm>
          <a:prstGeom prst="rect">
            <a:avLst/>
          </a:prstGeom>
          <a:noFill/>
          <a:ln/>
        </p:spPr>
        <p:txBody>
          <a:bodyPr wrap="square" lIns="0" tIns="0" rIns="0" bIns="0" rtlCol="0" anchor="t"/>
          <a:lstStyle/>
          <a:p>
            <a:pPr algn="l" indent="0" marL="0">
              <a:buNone/>
            </a:pPr>
            <a:r>
              <a:rPr lang="en-US" sz="1150" b="1" dirty="0">
                <a:solidFill>
                  <a:srgbClr val="1E1B3A"/>
                </a:solidFill>
                <a:latin typeface="Calibri" pitchFamily="34" charset="0"/>
                <a:ea typeface="Calibri" pitchFamily="34" charset="-122"/>
                <a:cs typeface="Calibri" pitchFamily="34" charset="-120"/>
              </a:rPr>
              <a:t>Scalability upgrades</a:t>
            </a:r>
            <a:endParaRPr lang="en-US" sz="1150" dirty="0"/>
          </a:p>
        </p:txBody>
      </p:sp>
      <p:sp>
        <p:nvSpPr>
          <p:cNvPr id="56" name="Text 43"/>
          <p:cNvSpPr txBox="1"/>
          <p:nvPr/>
        </p:nvSpPr>
        <p:spPr>
          <a:xfrm>
            <a:off x="5321808" y="4343400"/>
            <a:ext cx="3291840" cy="292608"/>
          </a:xfrm>
          <a:prstGeom prst="rect">
            <a:avLst/>
          </a:prstGeom>
          <a:noFill/>
          <a:ln/>
        </p:spPr>
        <p:txBody>
          <a:bodyPr wrap="square" lIns="0" tIns="0" rIns="0" bIns="0" rtlCol="0" anchor="t"/>
          <a:lstStyle/>
          <a:p>
            <a:pPr algn="l" indent="0" marL="0">
              <a:buNone/>
            </a:pPr>
            <a:r>
              <a:rPr lang="en-US" sz="850" dirty="0">
                <a:solidFill>
                  <a:srgbClr val="5B5A72"/>
                </a:solidFill>
                <a:latin typeface="Calibri" pitchFamily="34" charset="0"/>
                <a:ea typeface="Calibri" pitchFamily="34" charset="-122"/>
                <a:cs typeface="Calibri" pitchFamily="34" charset="-120"/>
              </a:rPr>
              <a:t>Redis caching, a job queue for report generation and WebSocket progress updates.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1828800" cy="274320"/>
          </a:xfrm>
          <a:prstGeom prst="rect">
            <a:avLst/>
          </a:prstGeom>
          <a:noFill/>
          <a:ln/>
        </p:spPr>
        <p:txBody>
          <a:bodyPr wrap="square" lIns="0" tIns="0" rIns="0" bIns="0" rtlCol="0" anchor="ctr"/>
          <a:lstStyle/>
          <a:p>
            <a:pPr indent="0" marL="0">
              <a:buNone/>
            </a:pPr>
            <a:r>
              <a:rPr lang="en-US" sz="900" dirty="0">
                <a:solidFill>
                  <a:srgbClr val="5B5A72"/>
                </a:solidFill>
                <a:latin typeface="Calibri" pitchFamily="34" charset="0"/>
                <a:ea typeface="Calibri" pitchFamily="34" charset="-122"/>
                <a:cs typeface="Calibri" pitchFamily="34" charset="-120"/>
              </a:rPr>
              <a:t>SkillMirror</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5B5A72"/>
                </a:solidFill>
                <a:latin typeface="Calibri" pitchFamily="34" charset="0"/>
                <a:ea typeface="Calibri" pitchFamily="34" charset="-122"/>
                <a:cs typeface="Calibri" pitchFamily="34" charset="-120"/>
              </a:rPr>
              <a:t>18</a:t>
            </a:r>
            <a:endParaRPr lang="en-US" sz="900" dirty="0"/>
          </a:p>
        </p:txBody>
      </p:sp>
      <p:sp>
        <p:nvSpPr>
          <p:cNvPr id="5" name="Shape 2"/>
          <p:cNvSpPr/>
          <p:nvPr/>
        </p:nvSpPr>
        <p:spPr>
          <a:xfrm>
            <a:off x="548640" y="713232"/>
            <a:ext cx="685800" cy="685800"/>
          </a:xfrm>
          <a:prstGeom prst="roundRect">
            <a:avLst>
              <a:gd name="adj" fmla="val 13333"/>
            </a:avLst>
          </a:prstGeom>
          <a:solidFill>
            <a:srgbClr val="7C3AED"/>
          </a:solidFill>
          <a:ln w="12700">
            <a:solidFill>
              <a:srgbClr val="7C3AED"/>
            </a:solidFill>
            <a:prstDash val="solid"/>
          </a:ln>
        </p:spPr>
      </p:sp>
      <p:pic>
        <p:nvPicPr>
          <p:cNvPr id="6" name="Image 0" descr="preencoded.png">    </p:cNvPr>
          <p:cNvPicPr>
            <a:picLocks noChangeAspect="1"/>
          </p:cNvPicPr>
          <p:nvPr/>
        </p:nvPicPr>
        <p:blipFill>
          <a:blip r:embed="rId1"/>
          <a:stretch>
            <a:fillRect/>
          </a:stretch>
        </p:blipFill>
        <p:spPr>
          <a:xfrm>
            <a:off x="699516" y="864108"/>
            <a:ext cx="384048" cy="384048"/>
          </a:xfrm>
          <a:prstGeom prst="rect">
            <a:avLst/>
          </a:prstGeom>
        </p:spPr>
      </p:pic>
      <p:sp>
        <p:nvSpPr>
          <p:cNvPr id="7" name="Text 3"/>
          <p:cNvSpPr txBox="1"/>
          <p:nvPr/>
        </p:nvSpPr>
        <p:spPr>
          <a:xfrm>
            <a:off x="1417320" y="640080"/>
            <a:ext cx="4572000" cy="822960"/>
          </a:xfrm>
          <a:prstGeom prst="rect">
            <a:avLst/>
          </a:prstGeom>
          <a:noFill/>
          <a:ln/>
        </p:spPr>
        <p:txBody>
          <a:bodyPr wrap="square" lIns="0" tIns="0" rIns="0" bIns="0" rtlCol="0" anchor="ctr"/>
          <a:lstStyle/>
          <a:p>
            <a:pPr indent="0" marL="0">
              <a:buNone/>
            </a:pPr>
            <a:r>
              <a:rPr lang="en-US" sz="4400" b="1" dirty="0">
                <a:solidFill>
                  <a:srgbClr val="1E1B3A"/>
                </a:solidFill>
                <a:latin typeface="Calibri" pitchFamily="34" charset="0"/>
                <a:ea typeface="Calibri" pitchFamily="34" charset="-122"/>
                <a:cs typeface="Calibri" pitchFamily="34" charset="-120"/>
              </a:rPr>
              <a:t>Thank You</a:t>
            </a:r>
            <a:endParaRPr lang="en-US" sz="4400" dirty="0"/>
          </a:p>
        </p:txBody>
      </p:sp>
      <p:sp>
        <p:nvSpPr>
          <p:cNvPr id="8" name="Text 4"/>
          <p:cNvSpPr txBox="1"/>
          <p:nvPr/>
        </p:nvSpPr>
        <p:spPr>
          <a:xfrm>
            <a:off x="548640" y="1645920"/>
            <a:ext cx="1828800" cy="365760"/>
          </a:xfrm>
          <a:prstGeom prst="rect">
            <a:avLst/>
          </a:prstGeom>
          <a:noFill/>
          <a:ln/>
        </p:spPr>
        <p:txBody>
          <a:bodyPr wrap="square" lIns="0" tIns="0" rIns="0" bIns="0" rtlCol="0" anchor="t"/>
          <a:lstStyle/>
          <a:p>
            <a:pPr algn="l" indent="0" marL="0">
              <a:buNone/>
            </a:pPr>
            <a:r>
              <a:rPr lang="en-US" sz="1800" b="1" dirty="0">
                <a:solidFill>
                  <a:srgbClr val="0284C7"/>
                </a:solidFill>
                <a:latin typeface="Calibri" pitchFamily="34" charset="0"/>
                <a:ea typeface="Calibri" pitchFamily="34" charset="-122"/>
                <a:cs typeface="Calibri" pitchFamily="34" charset="-120"/>
              </a:rPr>
              <a:t>Personalised</a:t>
            </a:r>
            <a:endParaRPr lang="en-US" sz="1800" dirty="0"/>
          </a:p>
        </p:txBody>
      </p:sp>
      <p:sp>
        <p:nvSpPr>
          <p:cNvPr id="9" name="Text 5"/>
          <p:cNvSpPr txBox="1"/>
          <p:nvPr/>
        </p:nvSpPr>
        <p:spPr>
          <a:xfrm>
            <a:off x="548640" y="1993392"/>
            <a:ext cx="4937760" cy="411480"/>
          </a:xfrm>
          <a:prstGeom prst="rect">
            <a:avLst/>
          </a:prstGeom>
          <a:noFill/>
          <a:ln/>
        </p:spPr>
        <p:txBody>
          <a:bodyPr wrap="square" lIns="0" tIns="0" rIns="0" bIns="0" rtlCol="0" anchor="t"/>
          <a:lstStyle/>
          <a:p>
            <a:pPr algn="l" indent="0" marL="0">
              <a:buNone/>
            </a:pPr>
            <a:r>
              <a:rPr lang="en-US" sz="1200" dirty="0">
                <a:solidFill>
                  <a:srgbClr val="5B5A72"/>
                </a:solidFill>
                <a:latin typeface="Calibri" pitchFamily="34" charset="0"/>
                <a:ea typeface="Calibri" pitchFamily="34" charset="-122"/>
                <a:cs typeface="Calibri" pitchFamily="34" charset="-120"/>
              </a:rPr>
              <a:t>Every question comes from your resume, repositories and target company.</a:t>
            </a:r>
            <a:endParaRPr lang="en-US" sz="1200" dirty="0"/>
          </a:p>
        </p:txBody>
      </p:sp>
      <p:sp>
        <p:nvSpPr>
          <p:cNvPr id="10" name="Text 6"/>
          <p:cNvSpPr txBox="1"/>
          <p:nvPr/>
        </p:nvSpPr>
        <p:spPr>
          <a:xfrm>
            <a:off x="548640" y="2423160"/>
            <a:ext cx="1828800" cy="365760"/>
          </a:xfrm>
          <a:prstGeom prst="rect">
            <a:avLst/>
          </a:prstGeom>
          <a:noFill/>
          <a:ln/>
        </p:spPr>
        <p:txBody>
          <a:bodyPr wrap="square" lIns="0" tIns="0" rIns="0" bIns="0" rtlCol="0" anchor="t"/>
          <a:lstStyle/>
          <a:p>
            <a:pPr algn="l" indent="0" marL="0">
              <a:buNone/>
            </a:pPr>
            <a:r>
              <a:rPr lang="en-US" sz="1800" b="1" dirty="0">
                <a:solidFill>
                  <a:srgbClr val="0284C7"/>
                </a:solidFill>
                <a:latin typeface="Calibri" pitchFamily="34" charset="0"/>
                <a:ea typeface="Calibri" pitchFamily="34" charset="-122"/>
                <a:cs typeface="Calibri" pitchFamily="34" charset="-120"/>
              </a:rPr>
              <a:t>Practical</a:t>
            </a:r>
            <a:endParaRPr lang="en-US" sz="1800" dirty="0"/>
          </a:p>
        </p:txBody>
      </p:sp>
      <p:sp>
        <p:nvSpPr>
          <p:cNvPr id="11" name="Text 7"/>
          <p:cNvSpPr txBox="1"/>
          <p:nvPr/>
        </p:nvSpPr>
        <p:spPr>
          <a:xfrm>
            <a:off x="548640" y="2770632"/>
            <a:ext cx="4937760" cy="411480"/>
          </a:xfrm>
          <a:prstGeom prst="rect">
            <a:avLst/>
          </a:prstGeom>
          <a:noFill/>
          <a:ln/>
        </p:spPr>
        <p:txBody>
          <a:bodyPr wrap="square" lIns="0" tIns="0" rIns="0" bIns="0" rtlCol="0" anchor="t"/>
          <a:lstStyle/>
          <a:p>
            <a:pPr algn="l" indent="0" marL="0">
              <a:buNone/>
            </a:pPr>
            <a:r>
              <a:rPr lang="en-US" sz="1200" dirty="0">
                <a:solidFill>
                  <a:srgbClr val="5B5A72"/>
                </a:solidFill>
                <a:latin typeface="Calibri" pitchFamily="34" charset="0"/>
                <a:ea typeface="Calibri" pitchFamily="34" charset="-122"/>
                <a:cs typeface="Calibri" pitchFamily="34" charset="-120"/>
              </a:rPr>
              <a:t>Code, speak and structure answers inside the report itself.</a:t>
            </a:r>
            <a:endParaRPr lang="en-US" sz="1200" dirty="0"/>
          </a:p>
        </p:txBody>
      </p:sp>
      <p:sp>
        <p:nvSpPr>
          <p:cNvPr id="12" name="Text 8"/>
          <p:cNvSpPr txBox="1"/>
          <p:nvPr/>
        </p:nvSpPr>
        <p:spPr>
          <a:xfrm>
            <a:off x="548640" y="3200400"/>
            <a:ext cx="1828800" cy="365760"/>
          </a:xfrm>
          <a:prstGeom prst="rect">
            <a:avLst/>
          </a:prstGeom>
          <a:noFill/>
          <a:ln/>
        </p:spPr>
        <p:txBody>
          <a:bodyPr wrap="square" lIns="0" tIns="0" rIns="0" bIns="0" rtlCol="0" anchor="t"/>
          <a:lstStyle/>
          <a:p>
            <a:pPr algn="l" indent="0" marL="0">
              <a:buNone/>
            </a:pPr>
            <a:r>
              <a:rPr lang="en-US" sz="1800" b="1" dirty="0">
                <a:solidFill>
                  <a:srgbClr val="0284C7"/>
                </a:solidFill>
                <a:latin typeface="Calibri" pitchFamily="34" charset="0"/>
                <a:ea typeface="Calibri" pitchFamily="34" charset="-122"/>
                <a:cs typeface="Calibri" pitchFamily="34" charset="-120"/>
              </a:rPr>
              <a:t>Measurable</a:t>
            </a:r>
            <a:endParaRPr lang="en-US" sz="1800" dirty="0"/>
          </a:p>
        </p:txBody>
      </p:sp>
      <p:sp>
        <p:nvSpPr>
          <p:cNvPr id="13" name="Text 9"/>
          <p:cNvSpPr txBox="1"/>
          <p:nvPr/>
        </p:nvSpPr>
        <p:spPr>
          <a:xfrm>
            <a:off x="548640" y="3547872"/>
            <a:ext cx="4937760" cy="411480"/>
          </a:xfrm>
          <a:prstGeom prst="rect">
            <a:avLst/>
          </a:prstGeom>
          <a:noFill/>
          <a:ln/>
        </p:spPr>
        <p:txBody>
          <a:bodyPr wrap="square" lIns="0" tIns="0" rIns="0" bIns="0" rtlCol="0" anchor="t"/>
          <a:lstStyle/>
          <a:p>
            <a:pPr algn="l" indent="0" marL="0">
              <a:buNone/>
            </a:pPr>
            <a:r>
              <a:rPr lang="en-US" sz="1200" dirty="0">
                <a:solidFill>
                  <a:srgbClr val="5B5A72"/>
                </a:solidFill>
                <a:latin typeface="Calibri" pitchFamily="34" charset="0"/>
                <a:ea typeface="Calibri" pitchFamily="34" charset="-122"/>
                <a:cs typeface="Calibri" pitchFamily="34" charset="-120"/>
              </a:rPr>
              <a:t>Scores, gaps and trends tracked across every attempt.</a:t>
            </a:r>
            <a:endParaRPr lang="en-US" sz="1200" dirty="0"/>
          </a:p>
        </p:txBody>
      </p:sp>
      <p:sp>
        <p:nvSpPr>
          <p:cNvPr id="14" name="Shape 10"/>
          <p:cNvSpPr/>
          <p:nvPr/>
        </p:nvSpPr>
        <p:spPr>
          <a:xfrm>
            <a:off x="6400800" y="914400"/>
            <a:ext cx="2194560" cy="2194560"/>
          </a:xfrm>
          <a:prstGeom prst="roundRect">
            <a:avLst>
              <a:gd name="adj" fmla="val 4167"/>
            </a:avLst>
          </a:prstGeom>
          <a:solidFill>
            <a:srgbClr val="EDE9FE"/>
          </a:solidFill>
          <a:ln w="19050">
            <a:solidFill>
              <a:srgbClr val="7C3AED"/>
            </a:solidFill>
            <a:prstDash val="solid"/>
          </a:ln>
        </p:spPr>
      </p:sp>
      <p:sp>
        <p:nvSpPr>
          <p:cNvPr id="15" name="Text 11"/>
          <p:cNvSpPr txBox="1"/>
          <p:nvPr/>
        </p:nvSpPr>
        <p:spPr>
          <a:xfrm>
            <a:off x="6492240" y="1737360"/>
            <a:ext cx="2011680" cy="548640"/>
          </a:xfrm>
          <a:prstGeom prst="rect">
            <a:avLst/>
          </a:prstGeom>
          <a:noFill/>
          <a:ln/>
        </p:spPr>
        <p:txBody>
          <a:bodyPr wrap="square" lIns="0" tIns="0" rIns="0" bIns="0" rtlCol="0" anchor="ctr"/>
          <a:lstStyle/>
          <a:p>
            <a:pPr algn="ctr" indent="0" marL="0">
              <a:buNone/>
            </a:pPr>
            <a:r>
              <a:rPr lang="en-US" sz="1100" dirty="0">
                <a:solidFill>
                  <a:srgbClr val="1E1B3A"/>
                </a:solidFill>
                <a:latin typeface="Calibri" pitchFamily="34" charset="0"/>
                <a:ea typeface="Calibri" pitchFamily="34" charset="-122"/>
                <a:cs typeface="Calibri" pitchFamily="34" charset="-120"/>
              </a:rPr>
              <a:t>QR code to GitHub repository</a:t>
            </a:r>
            <a:endParaRPr lang="en-US" sz="1100" dirty="0"/>
          </a:p>
        </p:txBody>
      </p:sp>
      <p:sp>
        <p:nvSpPr>
          <p:cNvPr id="16" name="Text 12"/>
          <p:cNvSpPr txBox="1"/>
          <p:nvPr/>
        </p:nvSpPr>
        <p:spPr>
          <a:xfrm>
            <a:off x="6400800" y="3246120"/>
            <a:ext cx="2194560" cy="320040"/>
          </a:xfrm>
          <a:prstGeom prst="rect">
            <a:avLst/>
          </a:prstGeom>
          <a:noFill/>
          <a:ln/>
        </p:spPr>
        <p:txBody>
          <a:bodyPr wrap="square" lIns="0" tIns="0" rIns="0" bIns="0" rtlCol="0" anchor="t"/>
          <a:lstStyle/>
          <a:p>
            <a:pPr algn="ctr" indent="0" marL="0">
              <a:buNone/>
            </a:pPr>
            <a:r>
              <a:rPr lang="en-US" sz="1400" b="1" dirty="0">
                <a:solidFill>
                  <a:srgbClr val="1E1B3A"/>
                </a:solidFill>
                <a:latin typeface="Calibri" pitchFamily="34" charset="0"/>
                <a:ea typeface="Calibri" pitchFamily="34" charset="-122"/>
                <a:cs typeface="Calibri" pitchFamily="34" charset="-120"/>
              </a:rPr>
              <a:t>Try the demo</a:t>
            </a:r>
            <a:endParaRPr lang="en-US" sz="1400" dirty="0"/>
          </a:p>
        </p:txBody>
      </p:sp>
      <p:sp>
        <p:nvSpPr>
          <p:cNvPr id="17" name="Text 13"/>
          <p:cNvSpPr txBox="1"/>
          <p:nvPr/>
        </p:nvSpPr>
        <p:spPr>
          <a:xfrm>
            <a:off x="6400800" y="3566160"/>
            <a:ext cx="2194560" cy="548640"/>
          </a:xfrm>
          <a:prstGeom prst="rect">
            <a:avLst/>
          </a:prstGeom>
          <a:noFill/>
          <a:ln/>
        </p:spPr>
        <p:txBody>
          <a:bodyPr wrap="square" lIns="0" tIns="0" rIns="0" bIns="0" rtlCol="0" anchor="t"/>
          <a:lstStyle/>
          <a:p>
            <a:pPr algn="ctr" indent="0" marL="0">
              <a:buNone/>
            </a:pPr>
            <a:r>
              <a:rPr lang="en-US" sz="1100" dirty="0">
                <a:solidFill>
                  <a:srgbClr val="5B5A72"/>
                </a:solidFill>
                <a:latin typeface="Calibri" pitchFamily="34" charset="0"/>
                <a:ea typeface="Calibri" pitchFamily="34" charset="-122"/>
                <a:cs typeface="Calibri" pitchFamily="34" charset="-120"/>
              </a:rPr>
              <a:t>Team contact placeholder</a:t>
            </a:r>
            <a:endParaRPr lang="en-US" sz="1100" dirty="0"/>
          </a:p>
          <a:p>
            <a:pPr algn="ctr" indent="0" marL="0">
              <a:buNone/>
            </a:pPr>
            <a:r>
              <a:rPr lang="en-US" sz="1100" dirty="0">
                <a:solidFill>
                  <a:srgbClr val="5B5A72"/>
                </a:solidFill>
                <a:latin typeface="Calibri" pitchFamily="34" charset="0"/>
                <a:ea typeface="Calibri" pitchFamily="34" charset="-122"/>
                <a:cs typeface="Calibri" pitchFamily="34" charset="-120"/>
              </a:rPr>
              <a:t>team@example.com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SkillMirror: Your AI Interview Coach</dc:title>
  <dc:subject>PptxGenJS Presentation</dc:subject>
  <dc:creator>SkillMirror Team</dc:creator>
  <cp:lastModifiedBy>SkillMirror Team</cp:lastModifiedBy>
  <cp:revision>1</cp:revision>
  <dcterms:created xsi:type="dcterms:W3CDTF">2026-09-17T17:27:27Z</dcterms:created>
  <dcterms:modified xsi:type="dcterms:W3CDTF">2026-09-17T17:27:27Z</dcterms:modified>
</cp:coreProperties>
</file>